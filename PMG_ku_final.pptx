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8" r:id="rId3"/>
    <p:sldId id="267" r:id="rId4"/>
    <p:sldId id="268" r:id="rId5"/>
    <p:sldId id="266" r:id="rId6"/>
    <p:sldId id="262" r:id="rId7"/>
    <p:sldId id="259" r:id="rId8"/>
    <p:sldId id="260" r:id="rId9"/>
    <p:sldId id="264" r:id="rId10"/>
    <p:sldId id="26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9" autoAdjust="0"/>
    <p:restoredTop sz="96327" autoAdjust="0"/>
  </p:normalViewPr>
  <p:slideViewPr>
    <p:cSldViewPr snapToGrid="0" showGuides="1">
      <p:cViewPr varScale="1">
        <p:scale>
          <a:sx n="127" d="100"/>
          <a:sy n="127" d="100"/>
        </p:scale>
        <p:origin x="384" y="192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5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hyperlink" Target="https://designguide.ku.dk/skabeloner/powerpoint/praesentationer/" TargetMode="External"/><Relationship Id="rId4" Type="http://schemas.openxmlformats.org/officeDocument/2006/relationships/hyperlink" Target="https://image.ku.dk/shared/aZwD18034DnM3TYEw9XagEF6kxI6MLkV" TargetMode="External"/><Relationship Id="rId9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0" name="Titel 2">
            <a:extLst>
              <a:ext uri="{FF2B5EF4-FFF2-40B4-BE49-F238E27FC236}">
                <a16:creationId xmlns:a16="http://schemas.microsoft.com/office/drawing/2014/main" id="{916BA171-A8D6-BD97-B474-75F02EF18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  <a:br>
              <a:rPr lang="en-GB" dirty="0"/>
            </a:br>
            <a:endParaRPr lang="en-GB" dirty="0"/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64F7F37-C978-4070-A8C9-9984E7C2ABE6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11" name="Titel 2">
            <a:extLst>
              <a:ext uri="{FF2B5EF4-FFF2-40B4-BE49-F238E27FC236}">
                <a16:creationId xmlns:a16="http://schemas.microsoft.com/office/drawing/2014/main" id="{F3CC8A4E-DD42-3359-871D-7365133722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1282B6A-0E05-4999-B083-B58431580830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A35AA5B6-111C-4735-AFC4-EBC2CB1BF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ECB2203-00D5-4F87-8F9D-D0B17AC42B67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 </a:t>
            </a:r>
          </a:p>
        </p:txBody>
      </p:sp>
      <p:sp>
        <p:nvSpPr>
          <p:cNvPr id="17" name="Titel 2">
            <a:extLst>
              <a:ext uri="{FF2B5EF4-FFF2-40B4-BE49-F238E27FC236}">
                <a16:creationId xmlns:a16="http://schemas.microsoft.com/office/drawing/2014/main" id="{5841F5BD-07B0-188F-6A65-1A9CB9107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D700EDC7-A33F-4ACB-87EF-882B537199F0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3" name="Titel 2">
            <a:extLst>
              <a:ext uri="{FF2B5EF4-FFF2-40B4-BE49-F238E27FC236}">
                <a16:creationId xmlns:a16="http://schemas.microsoft.com/office/drawing/2014/main" id="{A98E7E85-8DE3-687D-4837-DB9872BFC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732F916-FBB8-40A8-BEA6-3A387B65F474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6" name="Titel 2">
            <a:extLst>
              <a:ext uri="{FF2B5EF4-FFF2-40B4-BE49-F238E27FC236}">
                <a16:creationId xmlns:a16="http://schemas.microsoft.com/office/drawing/2014/main" id="{92A049D1-BE16-6369-9C11-6D9136DAE0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C2548D2-4180-4C59-97F2-D3D2E14098F1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endParaRPr lang="en-GB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4B30B-D853-4AE6-9B99-718FF91CCB22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EA36-139A-4E3F-B6A0-7BD657AD45E8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7CCA8-EEC6-4184-AB5B-DDB10B05E1AF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2672-5B44-4DB0-8EDF-4BB4CF579FA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E3466E77-7984-4F3B-92EF-834A85591B11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ullet li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marL="363600" marR="0" lvl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E691-BE0D-4934-9C30-12FC42105A2C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25972C5-CAD7-9DDE-E435-19581171941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bullet 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ABE37-F289-4BB8-B1E0-101EB4AC95E3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Name, source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4BC4-6516-49EF-A62A-EB81A07AF391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15D5-9A7E-477A-A544-9723531FD0F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240AC-C468-4DBB-AF86-AC5724FDA50F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268BAA3-AF98-A946-16EB-29ED74D4E93C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text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47F2-18C7-4623-927B-09989FC5CA4D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en-GB" dirty="0"/>
              <a:t>...click to add text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4B0C9B8-9199-DB66-C3E1-5BCBE19EE6D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5BB6-14D6-4C5D-A392-87B2F024F171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102B45B-BE10-0955-7D2B-71607E79FE0D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EE70-9EF6-4011-9FEC-8E4C1B37B6E7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0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                      to insert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98F8-8127-4186-B6E0-5A9DB8590659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C55F-A06C-4D12-9FE7-11486C7072EC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065828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3FB4-74ED-479B-AC3F-D58B1D2996E2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C22F958-FB17-66E4-EB45-75E15E5E3F8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56FC0-1C68-46A1-95BA-D879D9D7980D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6BCCAFF-7E95-0536-8297-4959B0CA01D7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065828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EE2D-5BB7-4858-806B-E9B8121B6310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A49A202-D2D5-25B6-2F32-60A741CCF725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bg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869E-E124-4C9B-86F5-EB1AF46F875F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42F60A0-C020-A529-4A95-65C8AC9FA2C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         text...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FB06-9E5C-4DC0-BDE6-1E991C758329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AC6CF46-91DC-976D-9F2D-0F1B85D185F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and comm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11D8F-85B9-4001-AF63-8B6D3CD2CF9F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GB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622F690-D5D4-4852-B56B-61A8F1BA299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94A88-BF4A-BF39-B835-B0C753B4C19A}"/>
              </a:ext>
            </a:extLst>
          </p:cNvPr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sz="3000" dirty="0">
                <a:solidFill>
                  <a:schemeClr val="tx1"/>
                </a:solidFill>
              </a:rPr>
              <a:t>User guide </a:t>
            </a:r>
            <a:r>
              <a:rPr lang="en-GB" sz="1800" dirty="0">
                <a:solidFill>
                  <a:schemeClr val="tx1"/>
                </a:solidFill>
              </a:rPr>
              <a:t>– delete before use</a:t>
            </a:r>
          </a:p>
        </p:txBody>
      </p:sp>
      <p:sp>
        <p:nvSpPr>
          <p:cNvPr id="18" name="Text Box 48">
            <a:extLst>
              <a:ext uri="{FF2B5EF4-FFF2-40B4-BE49-F238E27FC236}">
                <a16:creationId xmlns:a16="http://schemas.microsoft.com/office/drawing/2014/main" id="{91151374-92CC-87E1-F9AB-1D43CA0CBE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76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PowerPoint templates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open PowerPoint on your UCPH computer, </a:t>
            </a:r>
            <a:r>
              <a:rPr lang="en-GB" sz="800" kern="1200" dirty="0">
                <a:solidFill>
                  <a:schemeClr val="tx1"/>
                </a:solidFill>
                <a:effectLst/>
                <a:latin typeface="Arial" charset="0"/>
                <a:ea typeface="Calibri" panose="020F0502020204030204" pitchFamily="34" charset="0"/>
                <a:cs typeface="Times New Roman" panose="02020603050405020304" pitchFamily="18" charset="0"/>
              </a:rPr>
              <a:t>PowerPoint opens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 template in 16:9 format with an English UCPH logo.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click on the UCPH tab in the toolbar, click "Select Template" to choose between templates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Danish and English 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16:9 format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"full" or “small" versions (in the full version there is an example of each slide type in the left-hand window)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 well as an example slide with text in English.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If you use a 'full' version, you must delete the slides you do not want to use.</a:t>
            </a: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 users and others can download PowerPoint templates at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www.designguide.ku.dk/skabeloner/powerpoint/praesentationer/</a:t>
            </a:r>
            <a:endParaRPr lang="en-GB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Box 48">
            <a:extLst>
              <a:ext uri="{FF2B5EF4-FFF2-40B4-BE49-F238E27FC236}">
                <a16:creationId xmlns:a16="http://schemas.microsoft.com/office/drawing/2014/main" id="{CC1000A9-67B6-3DBE-1556-907DFA8F39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966227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your unit name (e.g. your department), page numbers and the date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Click on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Insert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in the top menu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Header and Footer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Fill in the fields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 all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if it is only to be used on a single 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The information goes on the right-hand side of the page in the grey top bar.</a:t>
            </a: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57AF5228-50BD-AF36-C290-EB6F54DA4A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5" y="5688880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new slide (2010 + 2013 and 2016 version) 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</p:txBody>
      </p:sp>
      <p:pic>
        <p:nvPicPr>
          <p:cNvPr id="32" name="Billede 40">
            <a:extLst>
              <a:ext uri="{FF2B5EF4-FFF2-40B4-BE49-F238E27FC236}">
                <a16:creationId xmlns:a16="http://schemas.microsoft.com/office/drawing/2014/main" id="{47DEC83E-2557-C64A-8710-5E90C5500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896656"/>
            <a:ext cx="395416" cy="126627"/>
          </a:xfrm>
          <a:prstGeom prst="rect">
            <a:avLst/>
          </a:prstGeom>
        </p:spPr>
      </p:pic>
      <p:sp>
        <p:nvSpPr>
          <p:cNvPr id="34" name="Text Box 48">
            <a:extLst>
              <a:ext uri="{FF2B5EF4-FFF2-40B4-BE49-F238E27FC236}">
                <a16:creationId xmlns:a16="http://schemas.microsoft.com/office/drawing/2014/main" id="{296B2A40-51DD-3C24-64B4-9C261EFED2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2582327"/>
            <a:ext cx="1624241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Replace slide type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the layout of your current slide.</a:t>
            </a:r>
          </a:p>
        </p:txBody>
      </p:sp>
      <p:sp>
        <p:nvSpPr>
          <p:cNvPr id="36" name="Text Box 48">
            <a:extLst>
              <a:ext uri="{FF2B5EF4-FFF2-40B4-BE49-F238E27FC236}">
                <a16:creationId xmlns:a16="http://schemas.microsoft.com/office/drawing/2014/main" id="{26A5352B-2D88-0049-FF68-7A3677982A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315092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Font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uses the font Microsoft New Tai Lue in PowerPoint.</a:t>
            </a:r>
            <a:endParaRPr lang="en-GB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8" name="Text Box 48">
            <a:extLst>
              <a:ext uri="{FF2B5EF4-FFF2-40B4-BE49-F238E27FC236}">
                <a16:creationId xmlns:a16="http://schemas.microsoft.com/office/drawing/2014/main" id="{F1FD1FCB-14AB-C8C8-E3B6-3A9C235434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Gridliness and Guides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see gridlines and guides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Click on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View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and/or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establish additional gridlines and 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Hover the mouse over an existing gridline and click on the line (coordinates of the line are displayed)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down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 key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while you move the location of the line (adds a new line).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Press Alt + F9 for a rapid display of gridlines</a:t>
            </a:r>
          </a:p>
        </p:txBody>
      </p:sp>
      <p:sp>
        <p:nvSpPr>
          <p:cNvPr id="40" name="Text Box 48">
            <a:extLst>
              <a:ext uri="{FF2B5EF4-FFF2-40B4-BE49-F238E27FC236}">
                <a16:creationId xmlns:a16="http://schemas.microsoft.com/office/drawing/2014/main" id="{C4D76095-C685-6F22-B51D-0AFAF348C4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214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picture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On layouts with picture placeholders: Click the icon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text  ”Clik here to insert image” will not be visible in presentation mode.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find UCPH-images, which are adapted to and minimised to 16:9 format via this link: </a:t>
            </a:r>
            <a:b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https://image.ku.dk/shared/aZwD18034DnM3TYEw9XagEF6kxI6MLkV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slide show-view to activate the link.</a:t>
            </a:r>
          </a:p>
        </p:txBody>
      </p:sp>
      <p:sp>
        <p:nvSpPr>
          <p:cNvPr id="42" name="Text Box 48">
            <a:extLst>
              <a:ext uri="{FF2B5EF4-FFF2-40B4-BE49-F238E27FC236}">
                <a16:creationId xmlns:a16="http://schemas.microsoft.com/office/drawing/2014/main" id="{449B76C2-6958-26C2-DD52-28127622EE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Image sizes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optimal picture size is: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Save the images in 72 dpi and in "jpg medium quality"</a:t>
            </a: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B1B679C7-F81E-AF72-3832-BC2B20AF81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Trimming pictures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Click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Crop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change the image focus/size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want to scale the picture, hold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button down while dragging in the image corners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picture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delete the picture and inserts a new, the picture may be in front of text and graphics. If this happens, you must select the image, right-click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DBC859E9-AAD9-582D-9CAB-53B97A96B2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99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Template colors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choose between a range of colors for backgrounds and graphs.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surface of which you want to change the color and then click on the paint can icon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5BDA7DE1-7BD9-6953-4F2C-C23FAB665D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Further information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See</a:t>
            </a:r>
            <a: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b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skabeloner/powerpoint/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0" name="Billede 25">
            <a:extLst>
              <a:ext uri="{FF2B5EF4-FFF2-40B4-BE49-F238E27FC236}">
                <a16:creationId xmlns:a16="http://schemas.microsoft.com/office/drawing/2014/main" id="{2BC7410A-935F-DC4A-F8A5-7F39AC457C1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52" name="Billede 36">
            <a:extLst>
              <a:ext uri="{FF2B5EF4-FFF2-40B4-BE49-F238E27FC236}">
                <a16:creationId xmlns:a16="http://schemas.microsoft.com/office/drawing/2014/main" id="{56A21FCA-F356-F238-3DEE-A13BEFECD37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54" name="Billede 37">
            <a:extLst>
              <a:ext uri="{FF2B5EF4-FFF2-40B4-BE49-F238E27FC236}">
                <a16:creationId xmlns:a16="http://schemas.microsoft.com/office/drawing/2014/main" id="{8288A8D2-A953-FCF5-C54C-BED0258209D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56" name="Text Box 48">
            <a:extLst>
              <a:ext uri="{FF2B5EF4-FFF2-40B4-BE49-F238E27FC236}">
                <a16:creationId xmlns:a16="http://schemas.microsoft.com/office/drawing/2014/main" id="{1AAEA91B-6C9C-9157-EFF5-6EEB67507A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the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Click on the top part of the button to create a slide identical to the one selected. Click on the bottom part of the button to see a selection of possible layout choices</a:t>
            </a:r>
            <a:endParaRPr lang="en-GB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8" name="Picture 61">
            <a:extLst>
              <a:ext uri="{FF2B5EF4-FFF2-40B4-BE49-F238E27FC236}">
                <a16:creationId xmlns:a16="http://schemas.microsoft.com/office/drawing/2014/main" id="{874C9D93-430E-897F-0010-953653748BC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271879" y="1743737"/>
            <a:ext cx="243186" cy="4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FFE5DD6-2126-4C5A-ADA9-CF5BE748E714}" type="datetime1">
              <a:rPr lang="en-GB" smtClean="0"/>
              <a:t>18/05/2026</a:t>
            </a:fld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2B48C9BE-CCF6-3266-2B8E-D27C7F011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3" name="Picture 27">
            <a:extLst>
              <a:ext uri="{FF2B5EF4-FFF2-40B4-BE49-F238E27FC236}">
                <a16:creationId xmlns:a16="http://schemas.microsoft.com/office/drawing/2014/main" id="{863DD73D-5725-327E-8366-645E99E26ECD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8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Investigating Methods for Polymicrogyria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a-DK" sz="3000" dirty="0" err="1"/>
              <a:t>Investigating</a:t>
            </a:r>
            <a:r>
              <a:rPr lang="da-DK" sz="3000" dirty="0"/>
              <a:t> Methods for </a:t>
            </a:r>
            <a:r>
              <a:rPr lang="da-DK" sz="3000" dirty="0" err="1"/>
              <a:t>Polymicrogyria</a:t>
            </a:r>
            <a:endParaRPr lang="da-DK" sz="3000" dirty="0"/>
          </a:p>
          <a:p>
            <a:r>
              <a:rPr lang="da-DK" sz="3000" dirty="0" err="1"/>
              <a:t>Classification</a:t>
            </a:r>
            <a:endParaRPr sz="3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87376" y="2514916"/>
            <a:ext cx="4946648" cy="726435"/>
          </a:xfrm>
        </p:spPr>
        <p:txBody>
          <a:bodyPr/>
          <a:lstStyle/>
          <a:p>
            <a:r>
              <a:rPr sz="2000" dirty="0"/>
              <a:t>A </a:t>
            </a:r>
            <a:r>
              <a:rPr sz="2000" dirty="0" err="1"/>
              <a:t>replication</a:t>
            </a:r>
            <a:r>
              <a:rPr sz="2000" dirty="0"/>
              <a:t> of </a:t>
            </a:r>
            <a:r>
              <a:rPr sz="2000" dirty="0" err="1"/>
              <a:t>Guha</a:t>
            </a:r>
            <a:r>
              <a:rPr sz="2000" dirty="0"/>
              <a:t> et al. </a:t>
            </a:r>
          </a:p>
          <a:p>
            <a:r>
              <a:rPr sz="2000" dirty="0"/>
              <a:t>“Automated </a:t>
            </a:r>
            <a:r>
              <a:rPr sz="2000" dirty="0" err="1"/>
              <a:t>detection</a:t>
            </a:r>
            <a:r>
              <a:rPr sz="2000" dirty="0"/>
              <a:t> of </a:t>
            </a:r>
            <a:r>
              <a:rPr sz="2000" dirty="0" err="1"/>
              <a:t>polymicrogyria</a:t>
            </a:r>
            <a:r>
              <a:rPr sz="2000" dirty="0"/>
              <a:t> in </a:t>
            </a:r>
            <a:r>
              <a:rPr sz="2000" dirty="0" err="1"/>
              <a:t>pediatric</a:t>
            </a:r>
            <a:r>
              <a:rPr sz="2000" dirty="0"/>
              <a:t> patients </a:t>
            </a:r>
            <a:r>
              <a:rPr sz="2000" dirty="0" err="1"/>
              <a:t>using</a:t>
            </a:r>
            <a:r>
              <a:rPr sz="2000" dirty="0"/>
              <a:t> </a:t>
            </a:r>
            <a:r>
              <a:rPr sz="2000" dirty="0" err="1"/>
              <a:t>deep</a:t>
            </a:r>
            <a:r>
              <a:rPr sz="2000" dirty="0"/>
              <a:t> learning”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did Guha et al.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Dataset: PPMR — 23 PMG patients, </a:t>
            </a:r>
            <a:r>
              <a:rPr sz="1600" dirty="0" err="1"/>
              <a:t>each</a:t>
            </a:r>
            <a:r>
              <a:rPr sz="1600" dirty="0"/>
              <a:t> with 3 </a:t>
            </a:r>
            <a:r>
              <a:rPr sz="1600" dirty="0" err="1"/>
              <a:t>matched</a:t>
            </a:r>
            <a:r>
              <a:rPr sz="1600" dirty="0"/>
              <a:t> </a:t>
            </a:r>
            <a:r>
              <a:rPr sz="1600" dirty="0" err="1"/>
              <a:t>controls</a:t>
            </a:r>
            <a:r>
              <a:rPr sz="1600" dirty="0"/>
              <a:t> → 15,056 JPEG slices</a:t>
            </a:r>
          </a:p>
          <a:p>
            <a:pPr lvl="1"/>
            <a:r>
              <a:rPr sz="1600" dirty="0"/>
              <a:t>PMG slices </a:t>
            </a:r>
            <a:r>
              <a:rPr sz="1600" dirty="0" err="1"/>
              <a:t>carry</a:t>
            </a:r>
            <a:r>
              <a:rPr sz="1600" dirty="0"/>
              <a:t> radiologist labels: 1 = PMG-positive, 2 = PMG-negative, 3 = </a:t>
            </a:r>
            <a:r>
              <a:rPr sz="1600" dirty="0" err="1"/>
              <a:t>uncertain</a:t>
            </a:r>
            <a:endParaRPr sz="1600" dirty="0"/>
          </a:p>
          <a:p>
            <a:r>
              <a:rPr sz="1600" dirty="0" err="1"/>
              <a:t>Preprocessing</a:t>
            </a:r>
            <a:r>
              <a:rPr sz="1600" dirty="0"/>
              <a:t> pipeline</a:t>
            </a:r>
          </a:p>
          <a:p>
            <a:pPr lvl="1"/>
            <a:r>
              <a:rPr sz="1600" dirty="0"/>
              <a:t>RGB → </a:t>
            </a:r>
            <a:r>
              <a:rPr sz="1600" dirty="0" err="1"/>
              <a:t>grayscale</a:t>
            </a:r>
            <a:r>
              <a:rPr sz="1600" dirty="0"/>
              <a:t> → min-max </a:t>
            </a:r>
            <a:r>
              <a:rPr sz="1600" dirty="0" err="1"/>
              <a:t>normalisation</a:t>
            </a:r>
            <a:r>
              <a:rPr sz="1600" dirty="0"/>
              <a:t> → CLAHE → bilateral filter → </a:t>
            </a:r>
            <a:r>
              <a:rPr sz="1600" dirty="0" err="1"/>
              <a:t>Canny</a:t>
            </a:r>
            <a:r>
              <a:rPr sz="1600" dirty="0"/>
              <a:t> </a:t>
            </a:r>
            <a:r>
              <a:rPr sz="1600" dirty="0" err="1"/>
              <a:t>edge</a:t>
            </a:r>
            <a:r>
              <a:rPr sz="1600" dirty="0"/>
              <a:t> </a:t>
            </a:r>
            <a:r>
              <a:rPr sz="1600" dirty="0" err="1"/>
              <a:t>detection</a:t>
            </a:r>
            <a:endParaRPr sz="1600" dirty="0"/>
          </a:p>
          <a:p>
            <a:r>
              <a:rPr sz="1600" dirty="0"/>
              <a:t>Models </a:t>
            </a:r>
            <a:r>
              <a:rPr sz="1600" dirty="0" err="1"/>
              <a:t>evaluated</a:t>
            </a:r>
            <a:r>
              <a:rPr sz="1600" dirty="0"/>
              <a:t>: ResNet-50, ResNet-101, VGG-16, DenseNet-201, MobileNetV2</a:t>
            </a:r>
          </a:p>
          <a:p>
            <a:pPr lvl="1"/>
            <a:r>
              <a:rPr sz="1600" dirty="0" err="1"/>
              <a:t>ImageNet-pretrained</a:t>
            </a:r>
            <a:r>
              <a:rPr sz="1600" dirty="0"/>
              <a:t>; final </a:t>
            </a:r>
            <a:r>
              <a:rPr sz="1600" dirty="0" err="1"/>
              <a:t>layer</a:t>
            </a:r>
            <a:r>
              <a:rPr sz="1600" dirty="0"/>
              <a:t> </a:t>
            </a:r>
            <a:r>
              <a:rPr sz="1600" dirty="0" err="1"/>
              <a:t>replaced</a:t>
            </a:r>
            <a:r>
              <a:rPr sz="1600" dirty="0"/>
              <a:t> with </a:t>
            </a:r>
            <a:r>
              <a:rPr sz="1600" dirty="0" err="1"/>
              <a:t>binary</a:t>
            </a:r>
            <a:r>
              <a:rPr sz="1600" dirty="0"/>
              <a:t> PMG vs. HC </a:t>
            </a:r>
            <a:r>
              <a:rPr sz="1600" dirty="0" err="1"/>
              <a:t>classifier</a:t>
            </a:r>
            <a:endParaRPr sz="1600" dirty="0"/>
          </a:p>
          <a:p>
            <a:r>
              <a:rPr sz="1600" dirty="0"/>
              <a:t>5-fold cross-</a:t>
            </a:r>
            <a:r>
              <a:rPr sz="1600" dirty="0" err="1"/>
              <a:t>validation</a:t>
            </a:r>
            <a:r>
              <a:rPr sz="1600" dirty="0"/>
              <a:t>, 60 / 20 / 20 </a:t>
            </a:r>
            <a:r>
              <a:rPr sz="1600" dirty="0" err="1"/>
              <a:t>train</a:t>
            </a:r>
            <a:r>
              <a:rPr sz="1600" dirty="0"/>
              <a:t> / val / test split</a:t>
            </a:r>
          </a:p>
          <a:p>
            <a:pPr lvl="1"/>
            <a:r>
              <a:rPr sz="1600" dirty="0"/>
              <a:t>Best </a:t>
            </a:r>
            <a:r>
              <a:rPr sz="1600" dirty="0" err="1"/>
              <a:t>result</a:t>
            </a:r>
            <a:r>
              <a:rPr sz="1600" dirty="0"/>
              <a:t>: DenseNet-201, </a:t>
            </a:r>
            <a:r>
              <a:rPr sz="1600" dirty="0" err="1"/>
              <a:t>accuracy</a:t>
            </a:r>
            <a:r>
              <a:rPr sz="1600" dirty="0"/>
              <a:t> 0.980 ± 0.037; ResNet-101 F1 = 0.97</a:t>
            </a:r>
          </a:p>
        </p:txBody>
      </p:sp>
      <p:pic>
        <p:nvPicPr>
          <p:cNvPr id="4" name="Picture 3" descr="slide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9" y="4283916"/>
            <a:ext cx="9873915" cy="23867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0F842A-9C29-795D-501F-401A9EDE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6AE93B7-D5A7-033C-756A-08516E626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 — Label </a:t>
            </a:r>
            <a:r>
              <a:rPr lang="da-DK" dirty="0" err="1"/>
              <a:t>noise</a:t>
            </a:r>
            <a:endParaRPr lang="da-DK" dirty="0"/>
          </a:p>
          <a:p>
            <a:pPr lvl="1"/>
            <a:r>
              <a:rPr lang="da-DK" dirty="0"/>
              <a:t>~51 % of PMG-patient slices </a:t>
            </a:r>
            <a:r>
              <a:rPr lang="da-DK" dirty="0" err="1"/>
              <a:t>are</a:t>
            </a:r>
            <a:r>
              <a:rPr lang="da-DK" dirty="0"/>
              <a:t> label=2 (no </a:t>
            </a:r>
            <a:r>
              <a:rPr lang="da-DK" dirty="0" err="1"/>
              <a:t>pathology</a:t>
            </a:r>
            <a:r>
              <a:rPr lang="da-DK" dirty="0"/>
              <a:t>) or label=3 (</a:t>
            </a:r>
            <a:r>
              <a:rPr lang="da-DK" dirty="0" err="1"/>
              <a:t>uncertain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All </a:t>
            </a:r>
            <a:r>
              <a:rPr lang="da-DK" dirty="0" err="1"/>
              <a:t>were</a:t>
            </a:r>
            <a:r>
              <a:rPr lang="da-DK" dirty="0"/>
              <a:t> </a:t>
            </a:r>
            <a:r>
              <a:rPr lang="da-DK" dirty="0" err="1"/>
              <a:t>treated</a:t>
            </a:r>
            <a:r>
              <a:rPr lang="da-DK" dirty="0"/>
              <a:t> as positive </a:t>
            </a:r>
            <a:r>
              <a:rPr lang="da-DK" dirty="0" err="1"/>
              <a:t>examples</a:t>
            </a:r>
            <a:r>
              <a:rPr lang="da-DK" dirty="0"/>
              <a:t> → </a:t>
            </a:r>
            <a:r>
              <a:rPr lang="da-DK" dirty="0" err="1"/>
              <a:t>classifier</a:t>
            </a:r>
            <a:r>
              <a:rPr lang="da-DK" dirty="0"/>
              <a:t> </a:t>
            </a:r>
            <a:r>
              <a:rPr lang="da-DK" dirty="0" err="1"/>
              <a:t>trained</a:t>
            </a:r>
            <a:r>
              <a:rPr lang="da-DK" dirty="0"/>
              <a:t> on mislabelled data</a:t>
            </a:r>
          </a:p>
          <a:p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CCA9EEE-4657-A483-FD3D-3664445F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ABE37-F289-4BB8-B1E0-101EB4AC95E3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8F01596-6CBC-AE1B-D8DA-5BA73B1D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40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9D8FA52-4CFF-90F9-F4B1-47223577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2672-5B44-4DB0-8EDF-4BB4CF579FAA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1DDA962-8F04-5CF0-A3C1-B31DA803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4</a:t>
            </a:fld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7DFA22-EE9C-A417-0837-C046143D3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8709" y="323393"/>
            <a:ext cx="10080982" cy="64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63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12E35-5BF7-5AB5-72DE-1AB026FB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6AA861A-1D3F-78A2-44A9-5D1F21B12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 — Label </a:t>
            </a:r>
            <a:r>
              <a:rPr lang="da-DK" dirty="0" err="1"/>
              <a:t>noise</a:t>
            </a:r>
            <a:endParaRPr lang="da-DK" dirty="0"/>
          </a:p>
          <a:p>
            <a:pPr lvl="1"/>
            <a:r>
              <a:rPr lang="da-DK" dirty="0"/>
              <a:t>~51 % of PMG-patient slices </a:t>
            </a:r>
            <a:r>
              <a:rPr lang="da-DK" dirty="0" err="1"/>
              <a:t>are</a:t>
            </a:r>
            <a:r>
              <a:rPr lang="da-DK" dirty="0"/>
              <a:t> label=2 (no </a:t>
            </a:r>
            <a:r>
              <a:rPr lang="da-DK" dirty="0" err="1"/>
              <a:t>pathology</a:t>
            </a:r>
            <a:r>
              <a:rPr lang="da-DK" dirty="0"/>
              <a:t>) or label=3 (</a:t>
            </a:r>
            <a:r>
              <a:rPr lang="da-DK" dirty="0" err="1"/>
              <a:t>uncertain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All </a:t>
            </a:r>
            <a:r>
              <a:rPr lang="da-DK" dirty="0" err="1"/>
              <a:t>were</a:t>
            </a:r>
            <a:r>
              <a:rPr lang="da-DK" dirty="0"/>
              <a:t> </a:t>
            </a:r>
            <a:r>
              <a:rPr lang="da-DK" dirty="0" err="1"/>
              <a:t>treated</a:t>
            </a:r>
            <a:r>
              <a:rPr lang="da-DK" dirty="0"/>
              <a:t> as positive </a:t>
            </a:r>
            <a:r>
              <a:rPr lang="da-DK" dirty="0" err="1"/>
              <a:t>examples</a:t>
            </a:r>
            <a:r>
              <a:rPr lang="da-DK" dirty="0"/>
              <a:t> → </a:t>
            </a:r>
            <a:r>
              <a:rPr lang="da-DK" dirty="0" err="1"/>
              <a:t>classifier</a:t>
            </a:r>
            <a:r>
              <a:rPr lang="da-DK" dirty="0"/>
              <a:t> </a:t>
            </a:r>
            <a:r>
              <a:rPr lang="da-DK" dirty="0" err="1"/>
              <a:t>trained</a:t>
            </a:r>
            <a:r>
              <a:rPr lang="da-DK" dirty="0"/>
              <a:t> on mislabelled data</a:t>
            </a:r>
          </a:p>
          <a:p>
            <a:r>
              <a:rPr lang="da-DK" dirty="0"/>
              <a:t>2 — Resolution </a:t>
            </a:r>
            <a:r>
              <a:rPr lang="da-DK" dirty="0" err="1"/>
              <a:t>confound</a:t>
            </a:r>
            <a:endParaRPr lang="da-DK" dirty="0"/>
          </a:p>
          <a:p>
            <a:pPr lvl="1"/>
            <a:r>
              <a:rPr lang="da-DK" dirty="0"/>
              <a:t>PMG images </a:t>
            </a:r>
            <a:r>
              <a:rPr lang="da-DK" dirty="0" err="1"/>
              <a:t>exported</a:t>
            </a:r>
            <a:r>
              <a:rPr lang="da-DK" dirty="0"/>
              <a:t> from PACS at median 1508×1727 </a:t>
            </a:r>
            <a:r>
              <a:rPr lang="da-DK" dirty="0" err="1"/>
              <a:t>px</a:t>
            </a:r>
            <a:r>
              <a:rPr lang="da-DK" dirty="0"/>
              <a:t>; </a:t>
            </a:r>
            <a:r>
              <a:rPr lang="da-DK" dirty="0" err="1"/>
              <a:t>controls</a:t>
            </a:r>
            <a:r>
              <a:rPr lang="da-DK" dirty="0"/>
              <a:t> at 260–512 </a:t>
            </a:r>
            <a:r>
              <a:rPr lang="da-DK" dirty="0" err="1"/>
              <a:t>px</a:t>
            </a:r>
            <a:endParaRPr lang="da-DK" dirty="0"/>
          </a:p>
          <a:p>
            <a:pPr lvl="1"/>
            <a:r>
              <a:rPr lang="da-DK" dirty="0"/>
              <a:t>Class-</a:t>
            </a:r>
            <a:r>
              <a:rPr lang="da-DK" dirty="0" err="1"/>
              <a:t>correlated</a:t>
            </a:r>
            <a:r>
              <a:rPr lang="da-DK" dirty="0"/>
              <a:t> pixel </a:t>
            </a:r>
            <a:r>
              <a:rPr lang="da-DK" dirty="0" err="1"/>
              <a:t>density</a:t>
            </a:r>
            <a:r>
              <a:rPr lang="da-DK" dirty="0"/>
              <a:t> provides a trivial, </a:t>
            </a:r>
            <a:r>
              <a:rPr lang="da-DK" dirty="0" err="1"/>
              <a:t>texture-based</a:t>
            </a:r>
            <a:r>
              <a:rPr lang="da-DK" dirty="0"/>
              <a:t> </a:t>
            </a:r>
            <a:r>
              <a:rPr lang="da-DK" dirty="0" err="1"/>
              <a:t>shortcut</a:t>
            </a:r>
            <a:r>
              <a:rPr lang="da-DK" dirty="0"/>
              <a:t> signal</a:t>
            </a:r>
          </a:p>
          <a:p>
            <a:pPr lvl="1"/>
            <a:r>
              <a:rPr lang="da-DK" dirty="0" err="1"/>
              <a:t>Fixed-kernel</a:t>
            </a:r>
            <a:r>
              <a:rPr lang="da-DK" dirty="0"/>
              <a:t> CLAHE and bilateral filter </a:t>
            </a:r>
            <a:r>
              <a:rPr lang="da-DK" dirty="0" err="1"/>
              <a:t>act</a:t>
            </a:r>
            <a:r>
              <a:rPr lang="da-DK" dirty="0"/>
              <a:t> </a:t>
            </a:r>
            <a:r>
              <a:rPr lang="da-DK" dirty="0" err="1"/>
              <a:t>differently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resolutions, </a:t>
            </a:r>
            <a:r>
              <a:rPr lang="da-DK" dirty="0" err="1"/>
              <a:t>amplifying</a:t>
            </a:r>
            <a:r>
              <a:rPr lang="da-DK" dirty="0"/>
              <a:t> the </a:t>
            </a:r>
            <a:r>
              <a:rPr lang="da-DK" dirty="0" err="1"/>
              <a:t>gap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7D6FB5A-74DD-248D-C5FF-546F5E4D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ABE37-F289-4BB8-B1E0-101EB4AC95E3}" type="datetime1">
              <a:rPr lang="en-GB" smtClean="0"/>
              <a:t>18/05/2026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339E5E7-C64A-9A80-2616-6868C40E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48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99713274-C08D-EE02-8566-75F113FB37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999" y="550912"/>
            <a:ext cx="11421511" cy="57561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Methodological Errors in Guha et al.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 — Label </a:t>
            </a:r>
            <a:r>
              <a:rPr lang="da-DK" dirty="0" err="1"/>
              <a:t>noise</a:t>
            </a:r>
            <a:endParaRPr lang="da-DK" dirty="0"/>
          </a:p>
          <a:p>
            <a:pPr lvl="1"/>
            <a:r>
              <a:rPr lang="da-DK" dirty="0"/>
              <a:t>~51 % of PMG-patient slices </a:t>
            </a:r>
            <a:r>
              <a:rPr lang="da-DK" dirty="0" err="1"/>
              <a:t>are</a:t>
            </a:r>
            <a:r>
              <a:rPr lang="da-DK" dirty="0"/>
              <a:t> label=2 (no </a:t>
            </a:r>
            <a:r>
              <a:rPr lang="da-DK" dirty="0" err="1"/>
              <a:t>pathology</a:t>
            </a:r>
            <a:r>
              <a:rPr lang="da-DK" dirty="0"/>
              <a:t>) or label=3 (</a:t>
            </a:r>
            <a:r>
              <a:rPr lang="da-DK" dirty="0" err="1"/>
              <a:t>uncertain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All </a:t>
            </a:r>
            <a:r>
              <a:rPr lang="da-DK" dirty="0" err="1"/>
              <a:t>were</a:t>
            </a:r>
            <a:r>
              <a:rPr lang="da-DK" dirty="0"/>
              <a:t> </a:t>
            </a:r>
            <a:r>
              <a:rPr lang="da-DK" dirty="0" err="1"/>
              <a:t>treated</a:t>
            </a:r>
            <a:r>
              <a:rPr lang="da-DK" dirty="0"/>
              <a:t> as positive </a:t>
            </a:r>
            <a:r>
              <a:rPr lang="da-DK" dirty="0" err="1"/>
              <a:t>examples</a:t>
            </a:r>
            <a:r>
              <a:rPr lang="da-DK" dirty="0"/>
              <a:t> → </a:t>
            </a:r>
            <a:r>
              <a:rPr lang="da-DK" dirty="0" err="1"/>
              <a:t>classifier</a:t>
            </a:r>
            <a:r>
              <a:rPr lang="da-DK" dirty="0"/>
              <a:t> </a:t>
            </a:r>
            <a:r>
              <a:rPr lang="da-DK" dirty="0" err="1"/>
              <a:t>trained</a:t>
            </a:r>
            <a:r>
              <a:rPr lang="da-DK" dirty="0"/>
              <a:t> on mislabelled data</a:t>
            </a:r>
          </a:p>
          <a:p>
            <a:r>
              <a:rPr lang="da-DK" dirty="0"/>
              <a:t>2 — Resolution </a:t>
            </a:r>
            <a:r>
              <a:rPr lang="da-DK" dirty="0" err="1"/>
              <a:t>confound</a:t>
            </a:r>
            <a:endParaRPr lang="da-DK" dirty="0"/>
          </a:p>
          <a:p>
            <a:pPr lvl="1"/>
            <a:r>
              <a:rPr lang="da-DK" dirty="0"/>
              <a:t>PMG images </a:t>
            </a:r>
            <a:r>
              <a:rPr lang="da-DK" dirty="0" err="1"/>
              <a:t>exported</a:t>
            </a:r>
            <a:r>
              <a:rPr lang="da-DK" dirty="0"/>
              <a:t> from PACS at median 1508×1727 </a:t>
            </a:r>
            <a:r>
              <a:rPr lang="da-DK" dirty="0" err="1"/>
              <a:t>px</a:t>
            </a:r>
            <a:r>
              <a:rPr lang="da-DK" dirty="0"/>
              <a:t>; </a:t>
            </a:r>
            <a:r>
              <a:rPr lang="da-DK" dirty="0" err="1"/>
              <a:t>controls</a:t>
            </a:r>
            <a:r>
              <a:rPr lang="da-DK" dirty="0"/>
              <a:t> at 260–512 </a:t>
            </a:r>
            <a:r>
              <a:rPr lang="da-DK" dirty="0" err="1"/>
              <a:t>px</a:t>
            </a:r>
            <a:endParaRPr lang="da-DK" dirty="0"/>
          </a:p>
          <a:p>
            <a:pPr lvl="1"/>
            <a:r>
              <a:rPr lang="da-DK" dirty="0"/>
              <a:t>Class-</a:t>
            </a:r>
            <a:r>
              <a:rPr lang="da-DK" dirty="0" err="1"/>
              <a:t>correlated</a:t>
            </a:r>
            <a:r>
              <a:rPr lang="da-DK" dirty="0"/>
              <a:t> pixel </a:t>
            </a:r>
            <a:r>
              <a:rPr lang="da-DK" dirty="0" err="1"/>
              <a:t>density</a:t>
            </a:r>
            <a:r>
              <a:rPr lang="da-DK" dirty="0"/>
              <a:t> provides a trivial, </a:t>
            </a:r>
            <a:r>
              <a:rPr lang="da-DK" dirty="0" err="1"/>
              <a:t>texture-based</a:t>
            </a:r>
            <a:r>
              <a:rPr lang="da-DK" dirty="0"/>
              <a:t> </a:t>
            </a:r>
            <a:r>
              <a:rPr lang="da-DK" dirty="0" err="1"/>
              <a:t>shortcut</a:t>
            </a:r>
            <a:r>
              <a:rPr lang="da-DK" dirty="0"/>
              <a:t> signal</a:t>
            </a:r>
          </a:p>
          <a:p>
            <a:pPr lvl="1"/>
            <a:r>
              <a:rPr lang="da-DK" dirty="0" err="1"/>
              <a:t>Fixed-kernel</a:t>
            </a:r>
            <a:r>
              <a:rPr lang="da-DK" dirty="0"/>
              <a:t> CLAHE and bilateral filter </a:t>
            </a:r>
            <a:r>
              <a:rPr lang="da-DK" dirty="0" err="1"/>
              <a:t>act</a:t>
            </a:r>
            <a:r>
              <a:rPr lang="da-DK" dirty="0"/>
              <a:t> </a:t>
            </a:r>
            <a:r>
              <a:rPr lang="da-DK" dirty="0" err="1"/>
              <a:t>differently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resolutions, </a:t>
            </a:r>
            <a:r>
              <a:rPr lang="da-DK" dirty="0" err="1"/>
              <a:t>amplifying</a:t>
            </a:r>
            <a:r>
              <a:rPr lang="da-DK" dirty="0"/>
              <a:t> the </a:t>
            </a:r>
            <a:r>
              <a:rPr lang="da-DK" dirty="0" err="1"/>
              <a:t>gap</a:t>
            </a:r>
            <a:endParaRPr lang="da-DK" dirty="0"/>
          </a:p>
          <a:p>
            <a:r>
              <a:rPr dirty="0"/>
              <a:t>3 — Data leakage via </a:t>
            </a:r>
            <a:r>
              <a:rPr dirty="0" err="1"/>
              <a:t>pre</a:t>
            </a:r>
            <a:r>
              <a:rPr dirty="0"/>
              <a:t>-split downsampling</a:t>
            </a:r>
          </a:p>
          <a:p>
            <a:pPr lvl="1"/>
            <a:r>
              <a:rPr dirty="0"/>
              <a:t>10,539 </a:t>
            </a:r>
            <a:r>
              <a:rPr dirty="0" err="1"/>
              <a:t>control</a:t>
            </a:r>
            <a:r>
              <a:rPr dirty="0"/>
              <a:t> slices </a:t>
            </a:r>
            <a:r>
              <a:rPr dirty="0" err="1"/>
              <a:t>globally</a:t>
            </a:r>
            <a:r>
              <a:rPr dirty="0"/>
              <a:t> </a:t>
            </a:r>
            <a:r>
              <a:rPr dirty="0" err="1"/>
              <a:t>downsampled</a:t>
            </a:r>
            <a:r>
              <a:rPr dirty="0"/>
              <a:t> to 4,517 </a:t>
            </a:r>
            <a:r>
              <a:rPr dirty="0" err="1"/>
              <a:t>before</a:t>
            </a:r>
            <a:r>
              <a:rPr dirty="0"/>
              <a:t> the </a:t>
            </a:r>
            <a:r>
              <a:rPr dirty="0" err="1"/>
              <a:t>train</a:t>
            </a:r>
            <a:r>
              <a:rPr dirty="0"/>
              <a:t>/val/test split</a:t>
            </a:r>
          </a:p>
          <a:p>
            <a:pPr lvl="1"/>
            <a:r>
              <a:rPr dirty="0" err="1"/>
              <a:t>Discarded</a:t>
            </a:r>
            <a:r>
              <a:rPr dirty="0"/>
              <a:t> slices </a:t>
            </a:r>
            <a:r>
              <a:rPr dirty="0" err="1"/>
              <a:t>effectively</a:t>
            </a:r>
            <a:r>
              <a:rPr dirty="0"/>
              <a:t> </a:t>
            </a:r>
            <a:r>
              <a:rPr dirty="0" err="1"/>
              <a:t>seen</a:t>
            </a:r>
            <a:r>
              <a:rPr dirty="0"/>
              <a:t> </a:t>
            </a:r>
            <a:r>
              <a:rPr dirty="0" err="1"/>
              <a:t>across</a:t>
            </a:r>
            <a:r>
              <a:rPr dirty="0"/>
              <a:t> splits → information leakage </a:t>
            </a:r>
            <a:r>
              <a:rPr dirty="0" err="1"/>
              <a:t>into</a:t>
            </a:r>
            <a:r>
              <a:rPr dirty="0"/>
              <a:t> </a:t>
            </a:r>
            <a:r>
              <a:rPr dirty="0" err="1"/>
              <a:t>evaluation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— What We Did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Re-</a:t>
            </a:r>
            <a:r>
              <a:rPr sz="1600" dirty="0" err="1"/>
              <a:t>implemented</a:t>
            </a:r>
            <a:r>
              <a:rPr sz="1600" dirty="0"/>
              <a:t> the </a:t>
            </a:r>
            <a:r>
              <a:rPr sz="1600" dirty="0" err="1"/>
              <a:t>full</a:t>
            </a:r>
            <a:r>
              <a:rPr sz="1600" dirty="0"/>
              <a:t> </a:t>
            </a:r>
            <a:r>
              <a:rPr sz="1600" dirty="0" err="1"/>
              <a:t>Guha</a:t>
            </a:r>
            <a:r>
              <a:rPr sz="1600" dirty="0"/>
              <a:t> et al. pipeline</a:t>
            </a:r>
          </a:p>
          <a:p>
            <a:r>
              <a:rPr sz="1600" dirty="0" err="1"/>
              <a:t>Two</a:t>
            </a:r>
            <a:r>
              <a:rPr sz="1600" dirty="0"/>
              <a:t> </a:t>
            </a:r>
            <a:r>
              <a:rPr sz="1600" dirty="0" err="1"/>
              <a:t>experimental</a:t>
            </a:r>
            <a:r>
              <a:rPr sz="1600" dirty="0"/>
              <a:t> </a:t>
            </a:r>
            <a:r>
              <a:rPr sz="1600" dirty="0" err="1"/>
              <a:t>conditions</a:t>
            </a:r>
            <a:r>
              <a:rPr sz="1600" dirty="0"/>
              <a:t> </a:t>
            </a:r>
            <a:r>
              <a:rPr sz="1600" dirty="0" err="1"/>
              <a:t>compared</a:t>
            </a:r>
            <a:r>
              <a:rPr sz="1600" dirty="0"/>
              <a:t> side by side:</a:t>
            </a:r>
          </a:p>
          <a:p>
            <a:pPr lvl="1"/>
            <a:r>
              <a:rPr sz="1600" dirty="0"/>
              <a:t>Paper </a:t>
            </a:r>
            <a:r>
              <a:rPr sz="1600" dirty="0" err="1"/>
              <a:t>setup</a:t>
            </a:r>
            <a:r>
              <a:rPr sz="1600" dirty="0"/>
              <a:t>: all PMG-patient slices as positives; global </a:t>
            </a:r>
            <a:r>
              <a:rPr sz="1600" dirty="0" err="1"/>
              <a:t>pre</a:t>
            </a:r>
            <a:r>
              <a:rPr sz="1600" dirty="0"/>
              <a:t>-split downsampling; slice-</a:t>
            </a:r>
            <a:r>
              <a:rPr sz="1600" dirty="0" err="1"/>
              <a:t>level</a:t>
            </a:r>
            <a:r>
              <a:rPr sz="1600" dirty="0"/>
              <a:t> splits</a:t>
            </a:r>
          </a:p>
          <a:p>
            <a:pPr lvl="1"/>
            <a:r>
              <a:rPr sz="1600" dirty="0" err="1"/>
              <a:t>Corrected</a:t>
            </a:r>
            <a:r>
              <a:rPr sz="1600" dirty="0"/>
              <a:t> </a:t>
            </a:r>
            <a:r>
              <a:rPr sz="1600" dirty="0" err="1"/>
              <a:t>setup</a:t>
            </a:r>
            <a:r>
              <a:rPr sz="1600" dirty="0"/>
              <a:t>: label=1 </a:t>
            </a:r>
            <a:r>
              <a:rPr sz="1600" dirty="0" err="1"/>
              <a:t>only</a:t>
            </a:r>
            <a:r>
              <a:rPr sz="1600" dirty="0"/>
              <a:t> (n = 2,255 slices); patient-</a:t>
            </a:r>
            <a:r>
              <a:rPr sz="1600" dirty="0" err="1"/>
              <a:t>level</a:t>
            </a:r>
            <a:r>
              <a:rPr sz="1600" dirty="0"/>
              <a:t> 5-fold CV; </a:t>
            </a:r>
            <a:r>
              <a:rPr sz="1600" dirty="0" err="1"/>
              <a:t>weighted</a:t>
            </a:r>
            <a:r>
              <a:rPr sz="1600" dirty="0"/>
              <a:t> cross-</a:t>
            </a:r>
            <a:r>
              <a:rPr sz="1600" dirty="0" err="1"/>
              <a:t>entropy</a:t>
            </a:r>
            <a:endParaRPr sz="1600" dirty="0"/>
          </a:p>
          <a:p>
            <a:r>
              <a:rPr sz="1600" dirty="0"/>
              <a:t>5-fold cross-</a:t>
            </a:r>
            <a:r>
              <a:rPr sz="1600" dirty="0" err="1"/>
              <a:t>validation</a:t>
            </a:r>
            <a:r>
              <a:rPr sz="1600" dirty="0"/>
              <a:t> at patient </a:t>
            </a:r>
            <a:r>
              <a:rPr sz="1600" dirty="0" err="1"/>
              <a:t>level</a:t>
            </a:r>
            <a:r>
              <a:rPr sz="1600" dirty="0"/>
              <a:t> — 23 PMG + 69 </a:t>
            </a:r>
            <a:r>
              <a:rPr sz="1600" dirty="0" err="1"/>
              <a:t>controls</a:t>
            </a:r>
            <a:r>
              <a:rPr sz="1600" dirty="0"/>
              <a:t>, </a:t>
            </a:r>
            <a:r>
              <a:rPr sz="1600" dirty="0" err="1"/>
              <a:t>fixed</a:t>
            </a:r>
            <a:r>
              <a:rPr sz="1600" dirty="0"/>
              <a:t> seed</a:t>
            </a:r>
          </a:p>
          <a:p>
            <a:r>
              <a:rPr sz="1600" dirty="0"/>
              <a:t>Models: ResNet-101 and DenseNet-201 </a:t>
            </a:r>
          </a:p>
          <a:p>
            <a:pPr lvl="1"/>
            <a:r>
              <a:rPr sz="1600" dirty="0"/>
              <a:t>20 </a:t>
            </a:r>
            <a:r>
              <a:rPr sz="1600" dirty="0" err="1"/>
              <a:t>epochs</a:t>
            </a:r>
            <a:endParaRPr sz="1600" dirty="0"/>
          </a:p>
          <a:p>
            <a:pPr lvl="1"/>
            <a:r>
              <a:rPr sz="1600" dirty="0" err="1"/>
              <a:t>Fixed</a:t>
            </a:r>
            <a:r>
              <a:rPr sz="1600" dirty="0"/>
              <a:t> backbone</a:t>
            </a:r>
          </a:p>
          <a:p>
            <a:pPr lvl="1"/>
            <a:r>
              <a:rPr sz="1600" dirty="0" err="1"/>
              <a:t>Trained</a:t>
            </a:r>
            <a:r>
              <a:rPr sz="1600" dirty="0"/>
              <a:t> head </a:t>
            </a:r>
            <a:r>
              <a:rPr sz="1600" dirty="0" err="1"/>
              <a:t>only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_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1354"/>
            <a:ext cx="12192000" cy="65766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lide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" y="3810004"/>
            <a:ext cx="12073467" cy="2895273"/>
          </a:xfrm>
          <a:prstGeom prst="rect">
            <a:avLst/>
          </a:prstGeom>
        </p:spPr>
      </p:pic>
      <p:pic>
        <p:nvPicPr>
          <p:cNvPr id="6" name="Picture 5" descr="slide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" y="660727"/>
            <a:ext cx="12073467" cy="31492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øbenhavns Universitet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x9_ENG_full.potx" id="{D0D36B92-5B0A-4532-81C4-17DEF59CC1CE}" vid="{DAA9B640-9269-43B6-8C37-C6A215F85199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Brugerdefineret design</Template>
  <TotalTime>1741</TotalTime>
  <Words>461</Words>
  <Application>Microsoft Macintosh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5" baseType="lpstr">
      <vt:lpstr>Arial</vt:lpstr>
      <vt:lpstr>Microsoft New Tai Lue</vt:lpstr>
      <vt:lpstr>Wingdings</vt:lpstr>
      <vt:lpstr>Brugerdefineret design</vt:lpstr>
      <vt:lpstr>Investigating Methods for Polymicrogyria Classification</vt:lpstr>
      <vt:lpstr>What did Guha et al. do?</vt:lpstr>
      <vt:lpstr>PowerPoint-præsentation</vt:lpstr>
      <vt:lpstr>PowerPoint-præsentation</vt:lpstr>
      <vt:lpstr>PowerPoint-præsentation</vt:lpstr>
      <vt:lpstr>PowerPoint-præsentation</vt:lpstr>
      <vt:lpstr>Three Methodological Errors in Guha et al.</vt:lpstr>
      <vt:lpstr>Replication — What We Did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Holger Max Fløe Lyng</dc:creator>
  <cp:lastModifiedBy>Holger Max Fløe Lyng</cp:lastModifiedBy>
  <cp:revision>3</cp:revision>
  <dcterms:created xsi:type="dcterms:W3CDTF">2026-05-16T10:26:54Z</dcterms:created>
  <dcterms:modified xsi:type="dcterms:W3CDTF">2026-05-19T07:59:24Z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</Properties>
</file>
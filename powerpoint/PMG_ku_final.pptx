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8" r:id="rId1"/>
  </p:sldMasterIdLst>
  <p:notesMasterIdLst>
    <p:notesMasterId r:id="rId25"/>
  </p:notesMasterIdLst>
  <p:handoutMasterIdLst>
    <p:handoutMasterId r:id="rId26"/>
  </p:handoutMasterIdLst>
  <p:sldIdLst>
    <p:sldId id="257" r:id="rId2"/>
    <p:sldId id="281" r:id="rId3"/>
    <p:sldId id="258" r:id="rId4"/>
    <p:sldId id="259" r:id="rId5"/>
    <p:sldId id="260" r:id="rId6"/>
    <p:sldId id="261" r:id="rId7"/>
    <p:sldId id="285" r:id="rId8"/>
    <p:sldId id="284" r:id="rId9"/>
    <p:sldId id="287" r:id="rId10"/>
    <p:sldId id="265" r:id="rId11"/>
    <p:sldId id="269" r:id="rId12"/>
    <p:sldId id="270" r:id="rId13"/>
    <p:sldId id="271" r:id="rId14"/>
    <p:sldId id="272" r:id="rId15"/>
    <p:sldId id="273" r:id="rId16"/>
    <p:sldId id="274" r:id="rId17"/>
    <p:sldId id="283" r:id="rId18"/>
    <p:sldId id="275" r:id="rId19"/>
    <p:sldId id="276" r:id="rId20"/>
    <p:sldId id="277" r:id="rId21"/>
    <p:sldId id="278" r:id="rId22"/>
    <p:sldId id="279" r:id="rId23"/>
    <p:sldId id="28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36">
          <p15:clr>
            <a:srgbClr val="A4A3A4"/>
          </p15:clr>
        </p15:guide>
        <p15:guide id="2" orient="horz" pos="391">
          <p15:clr>
            <a:srgbClr val="A4A3A4"/>
          </p15:clr>
        </p15:guide>
        <p15:guide id="3"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E1CDCC"/>
    <a:srgbClr val="E2CECC"/>
    <a:srgbClr val="901A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71" autoAdjust="0"/>
    <p:restoredTop sz="59589" autoAdjust="0"/>
  </p:normalViewPr>
  <p:slideViewPr>
    <p:cSldViewPr snapToGrid="0" showGuides="1">
      <p:cViewPr varScale="1">
        <p:scale>
          <a:sx n="73" d="100"/>
          <a:sy n="73" d="100"/>
        </p:scale>
        <p:origin x="1816" y="176"/>
      </p:cViewPr>
      <p:guideLst>
        <p:guide orient="horz" pos="936"/>
        <p:guide orient="horz" pos="391"/>
        <p:guide pos="3840"/>
      </p:guideLst>
    </p:cSldViewPr>
  </p:slideViewPr>
  <p:outlineViewPr>
    <p:cViewPr>
      <p:scale>
        <a:sx n="33" d="100"/>
        <a:sy n="33" d="100"/>
      </p:scale>
      <p:origin x="0" y="0"/>
    </p:cViewPr>
  </p:outlineViewPr>
  <p:notesTextViewPr>
    <p:cViewPr>
      <p:scale>
        <a:sx n="125" d="100"/>
        <a:sy n="125" d="100"/>
      </p:scale>
      <p:origin x="0" y="0"/>
    </p:cViewPr>
  </p:notesTextViewPr>
  <p:notesViewPr>
    <p:cSldViewPr snapToGrid="0" showGuides="1">
      <p:cViewPr varScale="1">
        <p:scale>
          <a:sx n="78" d="100"/>
          <a:sy n="78" d="100"/>
        </p:scale>
        <p:origin x="395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Pladsholder til dato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68F9E11-F642-4BF2-B4DC-AF7D35EA7551}" type="datetimeFigureOut">
              <a:rPr lang="en-GB" smtClean="0"/>
              <a:t>09/06/2026</a:t>
            </a:fld>
            <a:endParaRPr lang="en-GB"/>
          </a:p>
        </p:txBody>
      </p:sp>
      <p:sp>
        <p:nvSpPr>
          <p:cNvPr id="4" name="Pladsholder til sidefod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Pladsholder til slide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A371A3-64EC-4735-8565-D99D78279674}" type="slidenum">
              <a:rPr lang="en-GB" smtClean="0"/>
              <a:t>‹nr.›</a:t>
            </a:fld>
            <a:endParaRPr lang="en-GB"/>
          </a:p>
        </p:txBody>
      </p:sp>
    </p:spTree>
    <p:extLst>
      <p:ext uri="{BB962C8B-B14F-4D97-AF65-F5344CB8AC3E}">
        <p14:creationId xmlns:p14="http://schemas.microsoft.com/office/powerpoint/2010/main" val="34692714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72A38B-F9FA-4036-A084-652409E98F08}" type="datetimeFigureOut">
              <a:rPr lang="en-GB" smtClean="0"/>
              <a:t>09/06/2026</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436F85-577F-4A92-A47F-D540A2BCC821}" type="slidenum">
              <a:rPr lang="en-GB" smtClean="0"/>
              <a:t>‹nr.›</a:t>
            </a:fld>
            <a:endParaRPr lang="en-GB"/>
          </a:p>
        </p:txBody>
      </p:sp>
    </p:spTree>
    <p:extLst>
      <p:ext uri="{BB962C8B-B14F-4D97-AF65-F5344CB8AC3E}">
        <p14:creationId xmlns:p14="http://schemas.microsoft.com/office/powerpoint/2010/main" val="337809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a-DK" sz="1200" dirty="0" err="1"/>
              <a:t>Charecterised</a:t>
            </a:r>
            <a:r>
              <a:rPr lang="da-DK" sz="1200" dirty="0"/>
              <a:t> by </a:t>
            </a:r>
            <a:r>
              <a:rPr lang="da-DK" sz="1200" dirty="0" err="1"/>
              <a:t>abnormal</a:t>
            </a:r>
            <a:r>
              <a:rPr lang="da-DK" sz="1200" dirty="0"/>
              <a:t> </a:t>
            </a:r>
            <a:r>
              <a:rPr lang="da-DK" sz="1200" dirty="0" err="1"/>
              <a:t>lamination</a:t>
            </a:r>
            <a:r>
              <a:rPr lang="da-DK" sz="1200" dirty="0"/>
              <a:t> and an excessive </a:t>
            </a:r>
            <a:r>
              <a:rPr lang="da-DK" sz="1200" dirty="0" err="1"/>
              <a:t>cortical</a:t>
            </a:r>
            <a:r>
              <a:rPr lang="da-DK" sz="1200" dirty="0"/>
              <a:t> </a:t>
            </a:r>
            <a:r>
              <a:rPr lang="da-DK" sz="1200" dirty="0" err="1"/>
              <a:t>folding</a:t>
            </a:r>
            <a:r>
              <a:rPr lang="da-DK" sz="1200" dirty="0"/>
              <a:t>, and small </a:t>
            </a:r>
            <a:r>
              <a:rPr lang="da-DK" sz="1200" err="1"/>
              <a:t>gyri</a:t>
            </a:r>
            <a:r>
              <a:rPr lang="da-DK" sz="1200"/>
              <a:t>, </a:t>
            </a:r>
            <a:r>
              <a:rPr lang="da-DK" sz="1200" dirty="0"/>
              <a:t>-&gt; resulting in </a:t>
            </a:r>
            <a:r>
              <a:rPr lang="en-GB" sz="1200" noProof="1"/>
              <a:t>irregular folding, bumpy cortical surface, stippled gray-white junction, and cortical thickening — some cases appear deceptively smooth. Can small part of the brain or whole brain. </a:t>
            </a:r>
          </a:p>
          <a:p>
            <a:endParaRPr lang="da-DK" dirty="0"/>
          </a:p>
          <a:p>
            <a:r>
              <a:rPr dirty="0"/>
              <a:t>PMG accounts for approximately 20% of all MCDs, making it one of the most common brain malformations.</a:t>
            </a:r>
          </a:p>
          <a:p>
            <a:endParaRPr dirty="0"/>
          </a:p>
          <a:p>
            <a:r>
              <a:rPr dirty="0"/>
              <a:t>PMG is frequently encountered in patients with drug-resistant epilepsy and is commonly associated with neurodevelopmental delay, motor impairments, and cognitive deficits. Unilateral PMG affects one hemisphere only; bilateral PMG involves both hemispheres, with severity ranging from mildly focal to extensive bilateral involvement.</a:t>
            </a:r>
          </a:p>
          <a:p>
            <a:endParaRPr dirty="0"/>
          </a:p>
          <a:p>
            <a:r>
              <a:rPr lang="en-GB" dirty="0"/>
              <a:t>MRI appearance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mn-lt"/>
                <a:ea typeface="+mn-ea"/>
                <a:cs typeface="+mn-cs"/>
              </a:rPr>
              <a:t>The radiological appearance is heterogeneous, features include an irregular or bumpy cortical surface, a stippled </a:t>
            </a:r>
            <a:r>
              <a:rPr kumimoji="0" lang="en-GB" sz="1200" b="0" i="0" u="none" strike="noStrike" kern="1200" cap="none" spc="0" normalizeH="0" baseline="0" noProof="0" dirty="0" err="1">
                <a:ln>
                  <a:noFill/>
                </a:ln>
                <a:solidFill>
                  <a:srgbClr val="000000"/>
                </a:solidFill>
                <a:effectLst/>
                <a:uLnTx/>
                <a:uFillTx/>
                <a:latin typeface="+mn-lt"/>
                <a:ea typeface="+mn-ea"/>
                <a:cs typeface="+mn-cs"/>
              </a:rPr>
              <a:t>gray</a:t>
            </a:r>
            <a:r>
              <a:rPr kumimoji="0" lang="en-GB" sz="1200" b="0" i="0" u="none" strike="noStrike" kern="1200" cap="none" spc="0" normalizeH="0" baseline="0" noProof="0" dirty="0">
                <a:ln>
                  <a:noFill/>
                </a:ln>
                <a:solidFill>
                  <a:srgbClr val="000000"/>
                </a:solidFill>
                <a:effectLst/>
                <a:uLnTx/>
                <a:uFillTx/>
                <a:latin typeface="+mn-lt"/>
                <a:ea typeface="+mn-ea"/>
                <a:cs typeface="+mn-cs"/>
              </a:rPr>
              <a:t>-white matter junction, and apparent cortical thickening. </a:t>
            </a:r>
            <a:r>
              <a:rPr lang="en-GB" dirty="0"/>
              <a:t>. In some cases, adjacent </a:t>
            </a:r>
            <a:r>
              <a:rPr lang="en-GB" dirty="0" err="1"/>
              <a:t>microgyri</a:t>
            </a:r>
            <a:r>
              <a:rPr lang="en-GB" dirty="0"/>
              <a:t> fuse their overlying molecular layers, producing a deceptively smooth outer surface.</a:t>
            </a:r>
          </a:p>
          <a:p>
            <a:pPr marL="0" marR="0" lvl="0" indent="0" algn="l" defTabSz="914400" rtl="0" eaLnBrk="1" fontAlgn="auto" latinLnBrk="0" hangingPunct="1">
              <a:lnSpc>
                <a:spcPct val="100000"/>
              </a:lnSpc>
              <a:spcBef>
                <a:spcPts val="0"/>
              </a:spcBef>
              <a:spcAft>
                <a:spcPts val="0"/>
              </a:spcAft>
              <a:buClrTx/>
              <a:buSzTx/>
              <a:buFontTx/>
              <a:buNone/>
              <a:tabLst/>
              <a:defRPr/>
            </a:pPr>
            <a:endParaRPr dirty="0"/>
          </a:p>
          <a:p>
            <a:r>
              <a:rPr dirty="0"/>
              <a:t>MRI is the only imaging modality that provides sufficient soft-tissue contrast and spatial resolution to identify the fine cortical folds characteristic of PMG; CT is inadequate for this task. MRI appearance also changes with myelination, making diagnosis difficult in infants during the first year of life. T1-weighted sequences offer excellent differentiation between gray and white matter, enabling delineation of cortical thickness, sulcal morphology, and the gray-white matter junction architecture central to identifying MCDs such as PMG.</a:t>
            </a:r>
          </a:p>
          <a:p>
            <a:endParaRPr dirty="0"/>
          </a:p>
          <a:p>
            <a:r>
              <a:rPr dirty="0"/>
              <a:t>diagnosis is difficult</a:t>
            </a:r>
          </a:p>
          <a:p>
            <a:r>
              <a:rPr dirty="0"/>
              <a:t>variability among specialist neuroradiologist, underscoring both the difficulty of the diagnostic task and the potential value of automated detection methods. The heterogeneous radiological appearance and the limited availability of curated neuroimaging datasets further complicate reliable diagnosis.</a:t>
            </a:r>
          </a:p>
          <a:p>
            <a:endParaRPr dirty="0"/>
          </a:p>
          <a:p>
            <a:r>
              <a:rPr dirty="0"/>
              <a:t>Why ML/DL </a:t>
            </a:r>
            <a:endParaRPr lang="da-DK" dirty="0"/>
          </a:p>
          <a:p>
            <a:r>
              <a:rPr dirty="0"/>
              <a:t>Automated detection of PMG from MRI could inform clinical decision-making by reducing the diagnostic burden on specialist neuroradiologists and enabling earlier identification of the condition. Deep learning has transformed medical image analysis, achieving performance comparable to clinical experts across tasks including diabetic retinopathy grading and skin lesion classification. In neuroimaging, CNNs have been applied to the automated detection of structural brain abnormalities from MRI, with the promise of supporting radiologists in high-volume screening and reducing diagnostic delays.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n-GB" noProof="1"/>
              <a:t>Precision:</a:t>
            </a:r>
          </a:p>
          <a:p>
            <a:r>
              <a:rPr lang="en-GB" noProof="1"/>
              <a:t>$$\text{Precision} = \frac{TP}{TP + FP}$$</a:t>
            </a:r>
          </a:p>
          <a:p>
            <a:endParaRPr lang="en-GB" noProof="1"/>
          </a:p>
          <a:p>
            <a:r>
              <a:rPr lang="en-GB" noProof="1"/>
              <a:t>Recall:</a:t>
            </a:r>
          </a:p>
          <a:p>
            <a:r>
              <a:rPr lang="en-GB" noProof="1"/>
              <a:t>$$\text{Recall} = \frac{TP}{TP + FN}$$</a:t>
            </a:r>
          </a:p>
          <a:p>
            <a:r>
              <a:rPr lang="en-GB" noProof="1"/>
              <a:t>Precision — "of everything I predicted positive, how many were actually positive?" Penalises false positives.</a:t>
            </a:r>
          </a:p>
          <a:p>
            <a:endParaRPr lang="en-GB" noProof="1"/>
          </a:p>
          <a:p>
            <a:r>
              <a:rPr lang="en-GB" noProof="1"/>
              <a:t>▎ High precision = few false alarms.</a:t>
            </a:r>
          </a:p>
          <a:p>
            <a:endParaRPr lang="en-GB" noProof="1"/>
          </a:p>
          <a:p>
            <a:r>
              <a:rPr lang="en-GB" noProof="1"/>
              <a:t>Recall — "of everything that was actually positive, how many did I catch?" Penalises false negatives.</a:t>
            </a:r>
          </a:p>
          <a:p>
            <a:endParaRPr lang="en-GB" noProof="1"/>
          </a:p>
          <a:p>
            <a:r>
              <a:rPr lang="en-GB" noProof="1"/>
              <a:t>▎ High recall = few missed cases.</a:t>
            </a:r>
          </a:p>
          <a:p>
            <a:endParaRPr lang="en-GB" noProof="1"/>
          </a:p>
          <a:p>
            <a:r>
              <a:rPr lang="en-GB" noProof="1"/>
              <a:t>Guha et al. (2025) experimental setup:</a:t>
            </a:r>
          </a:p>
          <a:p>
            <a:r>
              <a:rPr lang="en-GB" noProof="1"/>
              <a:t>- Preprocessing: min-max normalisation -&gt; CLAHE (clip=2.0, tile 8x8) -&gt; bilateral filter (d=9, sigma=75) -&gt; Canny (low=50, high=200, aperture=3), blended at alpha=0.20</a:t>
            </a:r>
          </a:p>
          <a:p>
            <a:r>
              <a:rPr lang="en-GB" noProof="1"/>
              <a:t>- After preprocessing model input is -&gt; Input: 224x224x3 (RGB), images rescaled to [0,1]</a:t>
            </a:r>
          </a:p>
          <a:p>
            <a:endParaRPr lang="en-GB" noProof="1"/>
          </a:p>
          <a:p>
            <a:pPr marL="171450" indent="-171450">
              <a:buFontTx/>
              <a:buChar char="-"/>
            </a:pPr>
            <a:r>
              <a:rPr lang="en-GB" noProof="1"/>
              <a:t>Architectures tested: ResNet-50, ResNet-101, VGG-16, MobileNetV2, DenseNet-201</a:t>
            </a:r>
          </a:p>
          <a:p>
            <a:pPr marL="171450" indent="-171450">
              <a:buFontTx/>
              <a:buChar char="-"/>
            </a:pPr>
            <a:r>
              <a:rPr lang="en-GB" noProof="1"/>
              <a:t>Models pretrained on ImageNet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noProof="1"/>
              <a:t>5 fold cross validation 60/20/20</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noProof="1"/>
          </a:p>
          <a:p>
            <a:pPr marL="171450" indent="-171450">
              <a:buFontTx/>
              <a:buChar char="-"/>
            </a:pPr>
            <a:r>
              <a:rPr lang="en-GB" noProof="1"/>
              <a:t>All backbones pre-trained on ImageNet; backbone frozen during training</a:t>
            </a:r>
          </a:p>
          <a:p>
            <a:r>
              <a:rPr lang="en-GB" noProof="1"/>
              <a:t>- Classification head: global average pooling -&gt; dense layer (256 units, ReLU, L2=0.001) -&gt; dropout (rate=0.5) -&gt; raw logits</a:t>
            </a:r>
          </a:p>
          <a:p>
            <a:r>
              <a:rPr lang="en-GB" noProof="1"/>
              <a:t>- Optimizer: Adam, learning rate = 0.0005, weight decay = 0.001</a:t>
            </a:r>
          </a:p>
          <a:p>
            <a:r>
              <a:rPr lang="en-GB" noProof="1"/>
              <a:t>- Batch size: 32, up to 10 epochs, early stopping used</a:t>
            </a:r>
          </a:p>
          <a:p>
            <a:pPr marL="171450" indent="-171450">
              <a:buFontTx/>
              <a:buChar char="-"/>
            </a:pPr>
            <a:r>
              <a:rPr lang="en-GB" noProof="1"/>
              <a:t>Loss: binary cross-entropy</a:t>
            </a:r>
          </a:p>
          <a:p>
            <a:endParaRPr lang="en-GB" noProof="1"/>
          </a:p>
          <a:p>
            <a:r>
              <a:rPr lang="en-GB" noProof="1"/>
              <a:t>Guha et al. best model results (DenseNet-201 on pre-processed images, test set):</a:t>
            </a:r>
          </a:p>
          <a:p>
            <a:r>
              <a:rPr lang="en-GB" noProof="1"/>
              <a:t>- Accuracy: 0.9967</a:t>
            </a:r>
          </a:p>
          <a:p>
            <a:r>
              <a:rPr lang="en-GB" noProof="1"/>
              <a:t>- Precision: 0.9933</a:t>
            </a:r>
          </a:p>
          <a:p>
            <a:r>
              <a:rPr lang="en-GB" noProof="1"/>
              <a:t>- Recall: 1.000</a:t>
            </a:r>
          </a:p>
          <a:p>
            <a:r>
              <a:rPr lang="en-GB" noProof="1"/>
              <a:t>- F1 score: 0.993</a:t>
            </a:r>
          </a:p>
          <a:p>
            <a:r>
              <a:rPr lang="en-GB" noProof="1"/>
              <a:t>- Cohen's kappa: 0.993</a:t>
            </a:r>
          </a:p>
          <a:p>
            <a:endParaRPr lang="en-GB" noProof="1"/>
          </a:p>
          <a:p>
            <a:r>
              <a:rPr lang="en-GB" noProof="1"/>
              <a:t>Other architectures on pre-processed images (test set):</a:t>
            </a:r>
          </a:p>
          <a:p>
            <a:r>
              <a:rPr lang="en-GB" noProof="1"/>
              <a:t>- ResNet-50: Acc=0.8489, Prec=0.8689, Recall=0.8173, F1=0.839, kappa=0.673</a:t>
            </a:r>
          </a:p>
          <a:p>
            <a:r>
              <a:rPr lang="en-GB" noProof="1"/>
              <a:t>- VGG-16: Acc=0.9513, Prec=0.9447, Recall=0.9574, F1=0.949, kappa=0.897</a:t>
            </a:r>
          </a:p>
          <a:p>
            <a:r>
              <a:rPr lang="en-GB" noProof="1"/>
              <a:t>- MobileNetV2: Acc=0.9889, Prec=0.9921, Recall=0.9857, F1=0.991, kappa=0.983</a:t>
            </a:r>
          </a:p>
          <a:p>
            <a:endParaRPr lang="en-GB" noProof="1"/>
          </a:p>
          <a:p>
            <a:r>
              <a:rPr lang="en-GB" noProof="1"/>
              <a:t>On original (non-preprocessed) images, DenseNet-201 achieved Acc=0.9960, Prec=0.993, Recall=0.998 (test set). The preprocessing pipeline yielded modest or negligible improvement for DenseNet-201 but larger gains for ResNet architectures (ResNet-101: +10.3% accuracy).</a:t>
            </a:r>
          </a:p>
          <a:p>
            <a:endParaRPr lang="en-GB" noProof="1"/>
          </a:p>
          <a:p>
            <a:r>
              <a:rPr lang="en-GB" noProof="1"/>
              <a:t>Context from the original paper</a:t>
            </a:r>
          </a:p>
          <a:p>
            <a:r>
              <a:rPr lang="en-GB" noProof="1"/>
              <a:t>The paper claims near-perfect results demonstrate the value of the preprocessing pipeline. However, the large gap between DenseNet-201 (~99.6%) and ResNet-50 (~75%) on raw images is itself suspicious — consistent with the shortcut learning hypothesis where DenseNet's dense connectivity may better exploit global texture statistics. The near-perfect performance persisting even on raw (non-preprocessed) images for DenseNet-201 supports the view that the classifier is learning the resolution artefact, not cortical morphology.</a:t>
            </a:r>
          </a:p>
          <a:p>
            <a:br>
              <a:rPr lang="en-GB" noProof="1"/>
            </a:br>
            <a:br>
              <a:rPr lang="en-GB" noProof="1"/>
            </a:br>
            <a:r>
              <a:rPr lang="en-GB" noProof="1"/>
              <a:t>add clahe name. add increse of dense from raw to preprocessed and the same for resnet. </a:t>
            </a:r>
          </a:p>
          <a:p>
            <a:r>
              <a:rPr lang="da-DK" dirty="0"/>
              <a:t> </a:t>
            </a:r>
          </a:p>
        </p:txBody>
      </p:sp>
      <p:sp>
        <p:nvSpPr>
          <p:cNvPr id="4" name="Pladsholder til slidenummer 3"/>
          <p:cNvSpPr>
            <a:spLocks noGrp="1"/>
          </p:cNvSpPr>
          <p:nvPr>
            <p:ph type="sldNum" sz="quarter" idx="5"/>
          </p:nvPr>
        </p:nvSpPr>
        <p:spPr/>
        <p:txBody>
          <a:bodyPr/>
          <a:lstStyle/>
          <a:p>
            <a:fld id="{49436F85-577F-4A92-A47F-D540A2BCC821}" type="slidenum">
              <a:rPr lang="en-GB" smtClean="0"/>
              <a:t>3</a:t>
            </a:fld>
            <a:endParaRPr lang="en-GB"/>
          </a:p>
        </p:txBody>
      </p:sp>
    </p:spTree>
    <p:extLst>
      <p:ext uri="{BB962C8B-B14F-4D97-AF65-F5344CB8AC3E}">
        <p14:creationId xmlns:p14="http://schemas.microsoft.com/office/powerpoint/2010/main" val="2895042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a-DK" dirty="0"/>
              <a:t>1.  Resolution </a:t>
            </a:r>
            <a:r>
              <a:rPr lang="da-DK" dirty="0" err="1"/>
              <a:t>confound</a:t>
            </a:r>
            <a:r>
              <a:rPr lang="da-DK" dirty="0"/>
              <a:t> - PMG cases </a:t>
            </a:r>
            <a:r>
              <a:rPr lang="da-DK" dirty="0" err="1"/>
              <a:t>are</a:t>
            </a:r>
            <a:r>
              <a:rPr lang="da-DK" dirty="0"/>
              <a:t> </a:t>
            </a:r>
            <a:r>
              <a:rPr lang="da-DK" dirty="0" err="1"/>
              <a:t>exported</a:t>
            </a:r>
            <a:r>
              <a:rPr lang="da-DK" dirty="0"/>
              <a:t> from PACS system at  median 1508 x 1727 pixel –&gt; </a:t>
            </a:r>
            <a:r>
              <a:rPr lang="da-DK" dirty="0" err="1"/>
              <a:t>when</a:t>
            </a:r>
            <a:r>
              <a:rPr lang="da-DK" dirty="0"/>
              <a:t> </a:t>
            </a:r>
            <a:r>
              <a:rPr lang="da-DK" dirty="0" err="1"/>
              <a:t>downscaled</a:t>
            </a:r>
            <a:r>
              <a:rPr lang="da-DK" dirty="0"/>
              <a:t> to 224x224 pixel </a:t>
            </a:r>
            <a:r>
              <a:rPr lang="da-DK" dirty="0" err="1"/>
              <a:t>compressed</a:t>
            </a:r>
            <a:r>
              <a:rPr lang="da-DK" dirty="0"/>
              <a:t> by 6-7x</a:t>
            </a:r>
          </a:p>
          <a:p>
            <a:r>
              <a:rPr lang="da-DK" dirty="0"/>
              <a:t>	-&gt; </a:t>
            </a:r>
            <a:r>
              <a:rPr lang="da-DK" dirty="0" err="1"/>
              <a:t>lead</a:t>
            </a:r>
            <a:r>
              <a:rPr lang="da-DK" dirty="0"/>
              <a:t> to </a:t>
            </a:r>
            <a:r>
              <a:rPr lang="da-DK" dirty="0" err="1"/>
              <a:t>smooth</a:t>
            </a:r>
            <a:r>
              <a:rPr lang="da-DK" dirty="0"/>
              <a:t> </a:t>
            </a:r>
            <a:r>
              <a:rPr lang="da-DK" dirty="0" err="1"/>
              <a:t>texture</a:t>
            </a:r>
            <a:r>
              <a:rPr lang="da-DK" dirty="0"/>
              <a:t> + low-</a:t>
            </a:r>
            <a:r>
              <a:rPr lang="da-DK" dirty="0" err="1"/>
              <a:t>variance</a:t>
            </a:r>
            <a:r>
              <a:rPr lang="da-DK" dirty="0"/>
              <a:t> </a:t>
            </a:r>
            <a:r>
              <a:rPr lang="da-DK" dirty="0" err="1"/>
              <a:t>globally</a:t>
            </a:r>
            <a:endParaRPr lang="da-DK" dirty="0"/>
          </a:p>
          <a:p>
            <a:r>
              <a:rPr lang="da-DK" dirty="0"/>
              <a:t>     Control cases </a:t>
            </a:r>
            <a:r>
              <a:rPr lang="da-DK" dirty="0" err="1"/>
              <a:t>exported</a:t>
            </a:r>
            <a:r>
              <a:rPr lang="da-DK" dirty="0"/>
              <a:t> at median 512 x 512 pixel – </a:t>
            </a:r>
            <a:r>
              <a:rPr lang="da-DK" dirty="0" err="1"/>
              <a:t>only</a:t>
            </a:r>
            <a:r>
              <a:rPr lang="da-DK" dirty="0"/>
              <a:t> </a:t>
            </a:r>
            <a:r>
              <a:rPr lang="da-DK" dirty="0" err="1"/>
              <a:t>compressed</a:t>
            </a:r>
            <a:r>
              <a:rPr lang="da-DK" dirty="0"/>
              <a:t> by 1.1-2.3x -&gt; </a:t>
            </a:r>
            <a:r>
              <a:rPr lang="da-DK" dirty="0" err="1"/>
              <a:t>lead</a:t>
            </a:r>
            <a:r>
              <a:rPr lang="da-DK" dirty="0"/>
              <a:t> to more </a:t>
            </a:r>
            <a:r>
              <a:rPr lang="da-DK" dirty="0" err="1"/>
              <a:t>coarse</a:t>
            </a:r>
            <a:r>
              <a:rPr lang="da-DK" dirty="0"/>
              <a:t>/</a:t>
            </a:r>
            <a:r>
              <a:rPr lang="da-DK" dirty="0" err="1"/>
              <a:t>less</a:t>
            </a:r>
            <a:r>
              <a:rPr lang="da-DK" dirty="0"/>
              <a:t> </a:t>
            </a:r>
            <a:r>
              <a:rPr lang="da-DK" dirty="0" err="1"/>
              <a:t>smooth</a:t>
            </a:r>
            <a:r>
              <a:rPr lang="da-DK" dirty="0"/>
              <a:t> </a:t>
            </a:r>
            <a:r>
              <a:rPr lang="da-DK" dirty="0" err="1"/>
              <a:t>texture</a:t>
            </a:r>
            <a:r>
              <a:rPr lang="da-DK" dirty="0"/>
              <a:t> + high-</a:t>
            </a:r>
            <a:r>
              <a:rPr lang="da-DK" dirty="0" err="1"/>
              <a:t>variance</a:t>
            </a:r>
            <a:r>
              <a:rPr lang="da-DK" dirty="0"/>
              <a:t> </a:t>
            </a:r>
            <a:r>
              <a:rPr lang="da-DK" dirty="0" err="1"/>
              <a:t>globally</a:t>
            </a:r>
            <a:r>
              <a:rPr lang="da-DK" dirty="0"/>
              <a:t>.</a:t>
            </a:r>
          </a:p>
          <a:p>
            <a:r>
              <a:rPr lang="da-DK" dirty="0"/>
              <a:t>     </a:t>
            </a:r>
            <a:r>
              <a:rPr lang="da-DK" dirty="0" err="1"/>
              <a:t>Preprocessing</a:t>
            </a:r>
            <a:r>
              <a:rPr lang="da-DK" dirty="0"/>
              <a:t> pipeline </a:t>
            </a:r>
            <a:r>
              <a:rPr lang="da-DK" dirty="0" err="1"/>
              <a:t>make</a:t>
            </a:r>
            <a:r>
              <a:rPr lang="da-DK" dirty="0"/>
              <a:t> </a:t>
            </a:r>
            <a:r>
              <a:rPr lang="da-DK" dirty="0" err="1"/>
              <a:t>this</a:t>
            </a:r>
            <a:r>
              <a:rPr lang="da-DK" dirty="0"/>
              <a:t> </a:t>
            </a:r>
            <a:r>
              <a:rPr lang="da-DK" dirty="0" err="1"/>
              <a:t>worse</a:t>
            </a:r>
            <a:r>
              <a:rPr lang="da-DK" dirty="0"/>
              <a:t> </a:t>
            </a:r>
            <a:r>
              <a:rPr lang="da-DK" dirty="0" err="1"/>
              <a:t>because</a:t>
            </a:r>
            <a:r>
              <a:rPr lang="da-DK" dirty="0"/>
              <a:t> of </a:t>
            </a:r>
            <a:r>
              <a:rPr lang="da-DK" dirty="0" err="1"/>
              <a:t>clahe’s</a:t>
            </a:r>
            <a:r>
              <a:rPr lang="da-DK" dirty="0"/>
              <a:t> </a:t>
            </a:r>
            <a:r>
              <a:rPr lang="da-DK" dirty="0" err="1"/>
              <a:t>fixed</a:t>
            </a:r>
            <a:r>
              <a:rPr lang="da-DK" dirty="0"/>
              <a:t> </a:t>
            </a:r>
            <a:r>
              <a:rPr lang="da-DK" dirty="0" err="1"/>
              <a:t>kernel</a:t>
            </a:r>
            <a:r>
              <a:rPr lang="da-DK" dirty="0"/>
              <a:t> 8x8 and bilateral filter with pixel </a:t>
            </a:r>
            <a:r>
              <a:rPr lang="da-DK" dirty="0" err="1"/>
              <a:t>diamenter</a:t>
            </a:r>
            <a:r>
              <a:rPr lang="da-DK" dirty="0"/>
              <a:t> of 9. Applied to </a:t>
            </a:r>
            <a:r>
              <a:rPr lang="da-DK" dirty="0" err="1"/>
              <a:t>two</a:t>
            </a:r>
            <a:r>
              <a:rPr lang="da-DK" dirty="0"/>
              <a:t> </a:t>
            </a:r>
            <a:r>
              <a:rPr lang="da-DK" dirty="0" err="1"/>
              <a:t>widely</a:t>
            </a:r>
            <a:r>
              <a:rPr lang="da-DK" dirty="0"/>
              <a:t> difference spatial         </a:t>
            </a:r>
            <a:r>
              <a:rPr lang="da-DK" dirty="0" err="1"/>
              <a:t>scales</a:t>
            </a:r>
            <a:r>
              <a:rPr lang="da-DK" dirty="0"/>
              <a:t>. -&gt; </a:t>
            </a:r>
            <a:r>
              <a:rPr lang="da-DK" dirty="0" err="1"/>
              <a:t>lead</a:t>
            </a:r>
            <a:r>
              <a:rPr lang="da-DK" dirty="0"/>
              <a:t> to task </a:t>
            </a:r>
            <a:r>
              <a:rPr lang="da-DK" dirty="0" err="1"/>
              <a:t>become</a:t>
            </a:r>
            <a:r>
              <a:rPr lang="da-DK" dirty="0"/>
              <a:t> as </a:t>
            </a:r>
            <a:r>
              <a:rPr lang="da-DK" dirty="0" err="1"/>
              <a:t>smoothness</a:t>
            </a:r>
            <a:r>
              <a:rPr lang="da-DK" dirty="0"/>
              <a:t> and </a:t>
            </a:r>
            <a:r>
              <a:rPr lang="da-DK" dirty="0" err="1"/>
              <a:t>variance</a:t>
            </a:r>
            <a:r>
              <a:rPr lang="da-DK" dirty="0"/>
              <a:t> meter.</a:t>
            </a:r>
          </a:p>
          <a:p>
            <a:r>
              <a:rPr lang="da-DK" dirty="0"/>
              <a:t>If </a:t>
            </a:r>
            <a:r>
              <a:rPr lang="da-DK" dirty="0" err="1"/>
              <a:t>smooth</a:t>
            </a:r>
            <a:r>
              <a:rPr lang="da-DK" dirty="0"/>
              <a:t> + low-</a:t>
            </a:r>
            <a:r>
              <a:rPr lang="da-DK" dirty="0" err="1"/>
              <a:t>variance</a:t>
            </a:r>
            <a:r>
              <a:rPr lang="da-DK" dirty="0"/>
              <a:t> = PMG</a:t>
            </a:r>
          </a:p>
          <a:p>
            <a:r>
              <a:rPr lang="da-DK" dirty="0"/>
              <a:t>If </a:t>
            </a:r>
            <a:r>
              <a:rPr lang="da-DK" dirty="0" err="1"/>
              <a:t>coarse</a:t>
            </a:r>
            <a:r>
              <a:rPr lang="da-DK" dirty="0"/>
              <a:t>/</a:t>
            </a:r>
            <a:r>
              <a:rPr lang="da-DK" dirty="0" err="1"/>
              <a:t>less</a:t>
            </a:r>
            <a:r>
              <a:rPr lang="da-DK" dirty="0"/>
              <a:t> </a:t>
            </a:r>
            <a:r>
              <a:rPr lang="da-DK" dirty="0" err="1"/>
              <a:t>smooth</a:t>
            </a:r>
            <a:r>
              <a:rPr lang="da-DK" dirty="0"/>
              <a:t> + </a:t>
            </a:r>
            <a:r>
              <a:rPr lang="da-DK" dirty="0" err="1"/>
              <a:t>higher-variance</a:t>
            </a:r>
            <a:r>
              <a:rPr lang="da-DK" dirty="0"/>
              <a:t> = </a:t>
            </a:r>
            <a:r>
              <a:rPr lang="da-DK" dirty="0" err="1"/>
              <a:t>control</a:t>
            </a:r>
            <a:endParaRPr lang="da-DK" dirty="0"/>
          </a:p>
          <a:p>
            <a:endParaRPr lang="da-DK" dirty="0"/>
          </a:p>
          <a:p>
            <a:r>
              <a:rPr lang="da-DK" dirty="0"/>
              <a:t>2. ~51 % of PMG-patient slices </a:t>
            </a:r>
            <a:r>
              <a:rPr lang="da-DK" dirty="0" err="1"/>
              <a:t>are</a:t>
            </a:r>
            <a:r>
              <a:rPr lang="da-DK" dirty="0"/>
              <a:t> label=2 (no </a:t>
            </a:r>
            <a:r>
              <a:rPr lang="da-DK" dirty="0" err="1"/>
              <a:t>pathology</a:t>
            </a:r>
            <a:r>
              <a:rPr lang="da-DK" dirty="0"/>
              <a:t>) or label=3 (</a:t>
            </a:r>
            <a:r>
              <a:rPr lang="da-DK" dirty="0" err="1"/>
              <a:t>uncertain</a:t>
            </a:r>
            <a:r>
              <a:rPr lang="da-DK" dirty="0"/>
              <a:t>)</a:t>
            </a:r>
          </a:p>
          <a:p>
            <a:pPr lvl="1"/>
            <a:r>
              <a:rPr lang="da-DK" dirty="0"/>
              <a:t>All </a:t>
            </a:r>
            <a:r>
              <a:rPr lang="da-DK" dirty="0" err="1"/>
              <a:t>were</a:t>
            </a:r>
            <a:r>
              <a:rPr lang="da-DK" dirty="0"/>
              <a:t> </a:t>
            </a:r>
            <a:r>
              <a:rPr lang="da-DK" dirty="0" err="1"/>
              <a:t>treated</a:t>
            </a:r>
            <a:r>
              <a:rPr lang="da-DK" dirty="0"/>
              <a:t> as positive </a:t>
            </a:r>
            <a:r>
              <a:rPr lang="da-DK" dirty="0" err="1"/>
              <a:t>examples</a:t>
            </a:r>
            <a:r>
              <a:rPr lang="da-DK" dirty="0"/>
              <a:t> → </a:t>
            </a:r>
            <a:r>
              <a:rPr lang="da-DK" dirty="0" err="1"/>
              <a:t>classifier</a:t>
            </a:r>
            <a:r>
              <a:rPr lang="da-DK" dirty="0"/>
              <a:t> </a:t>
            </a:r>
            <a:r>
              <a:rPr lang="da-DK" dirty="0" err="1"/>
              <a:t>trained</a:t>
            </a:r>
            <a:r>
              <a:rPr lang="da-DK" dirty="0"/>
              <a:t> on mislabelled data</a:t>
            </a:r>
          </a:p>
          <a:p>
            <a:pPr lvl="1"/>
            <a:r>
              <a:rPr lang="da-DK" dirty="0"/>
              <a:t>Makes resolution </a:t>
            </a:r>
            <a:r>
              <a:rPr lang="da-DK" dirty="0" err="1"/>
              <a:t>confound</a:t>
            </a:r>
            <a:r>
              <a:rPr lang="da-DK" dirty="0"/>
              <a:t> </a:t>
            </a:r>
            <a:r>
              <a:rPr lang="da-DK" dirty="0" err="1"/>
              <a:t>worse</a:t>
            </a:r>
            <a:r>
              <a:rPr lang="da-DK" dirty="0"/>
              <a:t>, all </a:t>
            </a:r>
            <a:r>
              <a:rPr lang="da-DK" dirty="0" err="1"/>
              <a:t>pmg</a:t>
            </a:r>
            <a:r>
              <a:rPr lang="da-DK" dirty="0"/>
              <a:t> samples </a:t>
            </a:r>
            <a:r>
              <a:rPr lang="da-DK" dirty="0" err="1"/>
              <a:t>are</a:t>
            </a:r>
            <a:r>
              <a:rPr lang="da-DK" dirty="0"/>
              <a:t> high res + </a:t>
            </a:r>
            <a:r>
              <a:rPr lang="da-DK" dirty="0" err="1"/>
              <a:t>some</a:t>
            </a:r>
            <a:r>
              <a:rPr lang="da-DK" dirty="0"/>
              <a:t> have no </a:t>
            </a:r>
            <a:r>
              <a:rPr lang="da-DK" dirty="0" err="1"/>
              <a:t>pathology</a:t>
            </a:r>
            <a:r>
              <a:rPr lang="da-DK" dirty="0"/>
              <a:t> -&gt; </a:t>
            </a:r>
            <a:r>
              <a:rPr lang="da-DK" dirty="0" err="1"/>
              <a:t>relying</a:t>
            </a:r>
            <a:r>
              <a:rPr lang="da-DK" dirty="0"/>
              <a:t> low-</a:t>
            </a:r>
            <a:r>
              <a:rPr lang="da-DK" dirty="0" err="1"/>
              <a:t>level</a:t>
            </a:r>
            <a:r>
              <a:rPr lang="da-DK" dirty="0"/>
              <a:t> </a:t>
            </a:r>
            <a:r>
              <a:rPr lang="da-DK" dirty="0" err="1"/>
              <a:t>statistical</a:t>
            </a:r>
            <a:r>
              <a:rPr lang="da-DK" dirty="0"/>
              <a:t> differences = spatial resolution and </a:t>
            </a:r>
            <a:r>
              <a:rPr lang="da-DK" dirty="0" err="1"/>
              <a:t>texture</a:t>
            </a:r>
            <a:r>
              <a:rPr lang="da-DK" dirty="0"/>
              <a:t> (</a:t>
            </a:r>
            <a:r>
              <a:rPr lang="da-DK" dirty="0" err="1"/>
              <a:t>smoothing</a:t>
            </a:r>
            <a:r>
              <a:rPr lang="da-DK" dirty="0"/>
              <a:t> and high or low-</a:t>
            </a:r>
            <a:r>
              <a:rPr lang="da-DK" dirty="0" err="1"/>
              <a:t>variance</a:t>
            </a:r>
            <a:r>
              <a:rPr lang="da-DK" dirty="0"/>
              <a:t>)</a:t>
            </a:r>
          </a:p>
          <a:p>
            <a:endParaRPr lang="da-DK" dirty="0"/>
          </a:p>
          <a:p>
            <a:r>
              <a:rPr lang="da-DK" dirty="0"/>
              <a:t>3. Downsampling </a:t>
            </a:r>
            <a:r>
              <a:rPr lang="da-DK" dirty="0" err="1"/>
              <a:t>pre</a:t>
            </a:r>
            <a:r>
              <a:rPr lang="da-DK" dirty="0"/>
              <a:t>-split, as final measure to </a:t>
            </a:r>
            <a:r>
              <a:rPr lang="da-DK" dirty="0" err="1"/>
              <a:t>get</a:t>
            </a:r>
            <a:r>
              <a:rPr lang="da-DK" dirty="0"/>
              <a:t> </a:t>
            </a:r>
            <a:r>
              <a:rPr lang="da-DK" dirty="0" err="1"/>
              <a:t>accuracy</a:t>
            </a:r>
            <a:r>
              <a:rPr lang="da-DK" dirty="0"/>
              <a:t> and the </a:t>
            </a:r>
            <a:r>
              <a:rPr lang="da-DK" dirty="0" err="1"/>
              <a:t>metrics</a:t>
            </a:r>
            <a:r>
              <a:rPr lang="da-DK" dirty="0"/>
              <a:t> </a:t>
            </a:r>
            <a:r>
              <a:rPr lang="da-DK" dirty="0" err="1"/>
              <a:t>higher</a:t>
            </a:r>
            <a:r>
              <a:rPr lang="da-DK" dirty="0"/>
              <a:t> </a:t>
            </a:r>
            <a:r>
              <a:rPr lang="da-DK" dirty="0" err="1"/>
              <a:t>Guha</a:t>
            </a:r>
            <a:r>
              <a:rPr lang="da-DK" dirty="0"/>
              <a:t> et al. </a:t>
            </a:r>
            <a:r>
              <a:rPr lang="da-DK" dirty="0" err="1"/>
              <a:t>Downsampled</a:t>
            </a:r>
            <a:r>
              <a:rPr lang="da-DK" dirty="0"/>
              <a:t> the </a:t>
            </a:r>
            <a:r>
              <a:rPr lang="da-DK" dirty="0" err="1"/>
              <a:t>control</a:t>
            </a:r>
            <a:r>
              <a:rPr lang="da-DK" dirty="0"/>
              <a:t> </a:t>
            </a:r>
            <a:r>
              <a:rPr lang="da-DK" dirty="0" err="1"/>
              <a:t>cohort</a:t>
            </a:r>
            <a:r>
              <a:rPr lang="da-DK" dirty="0"/>
              <a:t> to match the PMG </a:t>
            </a:r>
            <a:r>
              <a:rPr lang="da-DK" dirty="0" err="1"/>
              <a:t>cohort</a:t>
            </a:r>
            <a:r>
              <a:rPr lang="da-DK" dirty="0"/>
              <a:t>.</a:t>
            </a:r>
          </a:p>
          <a:p>
            <a:r>
              <a:rPr lang="da-DK" dirty="0" err="1"/>
              <a:t>Leading</a:t>
            </a:r>
            <a:r>
              <a:rPr lang="da-DK" dirty="0"/>
              <a:t> to a </a:t>
            </a:r>
            <a:r>
              <a:rPr lang="da-DK" dirty="0" err="1"/>
              <a:t>balanced</a:t>
            </a:r>
            <a:r>
              <a:rPr lang="da-DK" dirty="0"/>
              <a:t> dataset -&gt; </a:t>
            </a:r>
            <a:r>
              <a:rPr lang="da-DK" dirty="0" err="1"/>
              <a:t>now</a:t>
            </a:r>
            <a:r>
              <a:rPr lang="da-DK" dirty="0"/>
              <a:t> </a:t>
            </a:r>
            <a:r>
              <a:rPr lang="da-DK" dirty="0" err="1"/>
              <a:t>train</a:t>
            </a:r>
            <a:r>
              <a:rPr lang="da-DK" dirty="0"/>
              <a:t>/val/test split </a:t>
            </a:r>
            <a:r>
              <a:rPr lang="da-DK" dirty="0" err="1"/>
              <a:t>are</a:t>
            </a:r>
            <a:r>
              <a:rPr lang="da-DK" dirty="0"/>
              <a:t> class </a:t>
            </a:r>
            <a:r>
              <a:rPr lang="da-DK" dirty="0" err="1"/>
              <a:t>balanced</a:t>
            </a:r>
            <a:r>
              <a:rPr lang="da-DK" dirty="0"/>
              <a:t> -&gt; </a:t>
            </a:r>
            <a:r>
              <a:rPr lang="da-DK" dirty="0" err="1"/>
              <a:t>randomly</a:t>
            </a:r>
            <a:r>
              <a:rPr lang="da-DK" dirty="0"/>
              <a:t> removed data, </a:t>
            </a:r>
            <a:r>
              <a:rPr lang="da-DK" dirty="0" err="1"/>
              <a:t>could</a:t>
            </a:r>
            <a:r>
              <a:rPr lang="da-DK" dirty="0"/>
              <a:t> </a:t>
            </a:r>
            <a:r>
              <a:rPr lang="da-DK" dirty="0" err="1"/>
              <a:t>remove</a:t>
            </a:r>
            <a:r>
              <a:rPr lang="da-DK" dirty="0"/>
              <a:t> patients and sampling of non-</a:t>
            </a:r>
            <a:r>
              <a:rPr lang="da-DK" dirty="0" err="1"/>
              <a:t>essential</a:t>
            </a:r>
            <a:r>
              <a:rPr lang="da-DK" dirty="0"/>
              <a:t> slices, </a:t>
            </a:r>
            <a:r>
              <a:rPr lang="da-DK" dirty="0" err="1"/>
              <a:t>background</a:t>
            </a:r>
            <a:r>
              <a:rPr lang="da-DK" dirty="0"/>
              <a:t>, </a:t>
            </a:r>
            <a:r>
              <a:rPr lang="da-DK" dirty="0" err="1"/>
              <a:t>skull</a:t>
            </a:r>
            <a:r>
              <a:rPr lang="da-DK" dirty="0"/>
              <a:t> and </a:t>
            </a:r>
            <a:r>
              <a:rPr lang="da-DK" dirty="0" err="1"/>
              <a:t>cerebullum</a:t>
            </a:r>
            <a:r>
              <a:rPr lang="da-DK" dirty="0"/>
              <a:t> -&gt; </a:t>
            </a:r>
            <a:r>
              <a:rPr lang="da-DK" dirty="0" err="1"/>
              <a:t>leading</a:t>
            </a:r>
            <a:r>
              <a:rPr lang="da-DK" dirty="0"/>
              <a:t> to patient under </a:t>
            </a:r>
            <a:r>
              <a:rPr lang="da-DK" dirty="0" err="1"/>
              <a:t>representation</a:t>
            </a:r>
            <a:r>
              <a:rPr lang="da-DK" dirty="0"/>
              <a:t> and under </a:t>
            </a:r>
            <a:r>
              <a:rPr lang="da-DK" dirty="0" err="1"/>
              <a:t>representation</a:t>
            </a:r>
            <a:r>
              <a:rPr lang="da-DK" dirty="0"/>
              <a:t> of </a:t>
            </a:r>
            <a:r>
              <a:rPr lang="da-DK" dirty="0" err="1"/>
              <a:t>essential</a:t>
            </a:r>
            <a:r>
              <a:rPr lang="da-DK" dirty="0"/>
              <a:t> slices.</a:t>
            </a:r>
          </a:p>
          <a:p>
            <a:endParaRPr lang="da-DK"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replication's corrected conditions (patient-level 5-fold CV, label=1 only, no pre-split </a:t>
            </a:r>
            <a:r>
              <a:rPr dirty="0" err="1"/>
              <a:t>downsampling</a:t>
            </a:r>
            <a:r>
              <a:rPr dirty="0"/>
              <a:t>) test whether near-perfect performance persists when the three methodological errors are corrected.</a:t>
            </a:r>
            <a:endParaRPr lang="da-DK"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da-DK" noProof="1"/>
          </a:p>
          <a:p>
            <a:pPr marL="0" marR="0" lvl="0" indent="0" algn="l" defTabSz="914400" rtl="0" eaLnBrk="1" fontAlgn="auto" latinLnBrk="0" hangingPunct="1">
              <a:lnSpc>
                <a:spcPct val="100000"/>
              </a:lnSpc>
              <a:spcBef>
                <a:spcPts val="0"/>
              </a:spcBef>
              <a:spcAft>
                <a:spcPts val="0"/>
              </a:spcAft>
              <a:buClrTx/>
              <a:buSzTx/>
              <a:buFontTx/>
              <a:buNone/>
              <a:tabLst/>
              <a:defRPr/>
            </a:pPr>
            <a:r>
              <a:rPr lang="en-GB" noProof="1"/>
              <a:t>Classification head: global average pooling -&gt; dense layer (256 units, ReLU, L2=0.001) -&gt; dropout (rate=0.5) -&gt; single sigmoid output</a:t>
            </a:r>
            <a:endParaRPr lang="da-DK" dirty="0"/>
          </a:p>
          <a:p>
            <a:endParaRPr lang="da-DK" dirty="0"/>
          </a:p>
          <a:p>
            <a:r>
              <a:rPr lang="da-DK" dirty="0"/>
              <a:t>For label definition:</a:t>
            </a:r>
            <a:br>
              <a:rPr lang="da-DK" dirty="0"/>
            </a:br>
            <a:r>
              <a:rPr lang="da-DK" dirty="0"/>
              <a:t>1. The </a:t>
            </a:r>
            <a:r>
              <a:rPr lang="da-DK" dirty="0" err="1"/>
              <a:t>corrected</a:t>
            </a:r>
            <a:r>
              <a:rPr lang="da-DK" dirty="0"/>
              <a:t> approach: </a:t>
            </a:r>
            <a:r>
              <a:rPr lang="da-DK" dirty="0" err="1"/>
              <a:t>restrict</a:t>
            </a:r>
            <a:r>
              <a:rPr lang="da-DK" dirty="0"/>
              <a:t> the positive class to label=1 slices </a:t>
            </a:r>
            <a:r>
              <a:rPr lang="da-DK" dirty="0" err="1"/>
              <a:t>only</a:t>
            </a:r>
            <a:r>
              <a:rPr lang="da-DK" dirty="0"/>
              <a:t> (n=2,255). Label=2 slices </a:t>
            </a:r>
            <a:r>
              <a:rPr lang="da-DK" dirty="0" err="1"/>
              <a:t>should</a:t>
            </a:r>
            <a:r>
              <a:rPr lang="da-DK" dirty="0"/>
              <a:t> </a:t>
            </a:r>
            <a:r>
              <a:rPr lang="da-DK" dirty="0" err="1"/>
              <a:t>be</a:t>
            </a:r>
            <a:r>
              <a:rPr lang="da-DK" dirty="0"/>
              <a:t> </a:t>
            </a:r>
            <a:r>
              <a:rPr lang="da-DK" dirty="0" err="1"/>
              <a:t>reclassified</a:t>
            </a:r>
            <a:r>
              <a:rPr lang="da-DK" dirty="0"/>
              <a:t> as negatives and </a:t>
            </a:r>
            <a:r>
              <a:rPr lang="da-DK" dirty="0" err="1"/>
              <a:t>pooled</a:t>
            </a:r>
            <a:r>
              <a:rPr lang="da-DK" dirty="0"/>
              <a:t> with </a:t>
            </a:r>
            <a:r>
              <a:rPr lang="da-DK" dirty="0" err="1"/>
              <a:t>healthy</a:t>
            </a:r>
            <a:r>
              <a:rPr lang="da-DK" dirty="0"/>
              <a:t> </a:t>
            </a:r>
            <a:r>
              <a:rPr lang="da-DK" dirty="0" err="1"/>
              <a:t>controls</a:t>
            </a:r>
            <a:r>
              <a:rPr lang="da-DK" dirty="0"/>
              <a:t> (10,539 + 1,386 = 11,925 negatives total). Label=3 (</a:t>
            </a:r>
            <a:r>
              <a:rPr lang="da-DK" dirty="0" err="1"/>
              <a:t>uncertain</a:t>
            </a:r>
            <a:r>
              <a:rPr lang="da-DK" dirty="0"/>
              <a:t>) slices </a:t>
            </a:r>
            <a:r>
              <a:rPr lang="da-DK" dirty="0" err="1"/>
              <a:t>are</a:t>
            </a:r>
            <a:r>
              <a:rPr lang="da-DK" dirty="0"/>
              <a:t> </a:t>
            </a:r>
            <a:r>
              <a:rPr lang="da-DK" dirty="0" err="1"/>
              <a:t>excluded</a:t>
            </a:r>
            <a:r>
              <a:rPr lang="da-DK" dirty="0"/>
              <a:t> </a:t>
            </a:r>
            <a:r>
              <a:rPr lang="da-DK" dirty="0" err="1"/>
              <a:t>entirely</a:t>
            </a:r>
            <a:r>
              <a:rPr lang="da-DK" dirty="0"/>
              <a:t>.</a:t>
            </a:r>
          </a:p>
          <a:p>
            <a:endParaRPr lang="da-DK" dirty="0"/>
          </a:p>
          <a:p>
            <a:r>
              <a:rPr lang="da-DK" dirty="0"/>
              <a:t>2. Dont </a:t>
            </a:r>
            <a:r>
              <a:rPr lang="da-DK" dirty="0" err="1"/>
              <a:t>preprocess</a:t>
            </a:r>
            <a:r>
              <a:rPr lang="da-DK" dirty="0"/>
              <a:t> and </a:t>
            </a:r>
            <a:r>
              <a:rPr lang="da-DK" dirty="0" err="1"/>
              <a:t>move</a:t>
            </a:r>
            <a:r>
              <a:rPr lang="da-DK" dirty="0"/>
              <a:t> the PMG-negatives to HC, so resolution </a:t>
            </a:r>
            <a:r>
              <a:rPr lang="da-DK" dirty="0" err="1"/>
              <a:t>play</a:t>
            </a:r>
            <a:r>
              <a:rPr lang="da-DK" dirty="0"/>
              <a:t> a smaller factor. </a:t>
            </a:r>
          </a:p>
          <a:p>
            <a:endParaRPr lang="da-DK" dirty="0"/>
          </a:p>
          <a:p>
            <a:pPr marL="0" marR="0" lvl="0" indent="0" algn="l" defTabSz="914400" rtl="0" eaLnBrk="1" fontAlgn="auto" latinLnBrk="0" hangingPunct="1">
              <a:lnSpc>
                <a:spcPct val="100000"/>
              </a:lnSpc>
              <a:spcBef>
                <a:spcPts val="0"/>
              </a:spcBef>
              <a:spcAft>
                <a:spcPts val="0"/>
              </a:spcAft>
              <a:buClrTx/>
              <a:buSzTx/>
              <a:buFontTx/>
              <a:buNone/>
              <a:tabLst/>
              <a:defRPr/>
            </a:pPr>
            <a:r>
              <a:rPr lang="da-DK" dirty="0"/>
              <a:t>3. </a:t>
            </a:r>
            <a:r>
              <a:rPr lang="da-DK" dirty="0" err="1"/>
              <a:t>Correct</a:t>
            </a:r>
            <a:r>
              <a:rPr lang="da-DK" dirty="0"/>
              <a:t> approach: Perform all </a:t>
            </a:r>
            <a:r>
              <a:rPr lang="da-DK" dirty="0" err="1"/>
              <a:t>train</a:t>
            </a:r>
            <a:r>
              <a:rPr lang="da-DK" dirty="0"/>
              <a:t>/val/test splitting </a:t>
            </a:r>
            <a:r>
              <a:rPr lang="da-DK" dirty="0" err="1"/>
              <a:t>first</a:t>
            </a:r>
            <a:r>
              <a:rPr lang="da-DK" dirty="0"/>
              <a:t> (at the patient </a:t>
            </a:r>
            <a:r>
              <a:rPr lang="da-DK" dirty="0" err="1"/>
              <a:t>level</a:t>
            </a:r>
            <a:r>
              <a:rPr lang="da-DK" dirty="0"/>
              <a:t>), </a:t>
            </a:r>
            <a:r>
              <a:rPr lang="da-DK" dirty="0" err="1"/>
              <a:t>then</a:t>
            </a:r>
            <a:r>
              <a:rPr lang="da-DK" dirty="0"/>
              <a:t> </a:t>
            </a:r>
            <a:r>
              <a:rPr lang="da-DK" dirty="0" err="1"/>
              <a:t>apply</a:t>
            </a:r>
            <a:r>
              <a:rPr lang="da-DK" dirty="0"/>
              <a:t> class </a:t>
            </a:r>
            <a:r>
              <a:rPr lang="da-DK" dirty="0" err="1"/>
              <a:t>balancing</a:t>
            </a:r>
            <a:r>
              <a:rPr lang="da-DK" dirty="0"/>
              <a:t> </a:t>
            </a:r>
            <a:r>
              <a:rPr lang="da-DK" dirty="0" err="1"/>
              <a:t>only</a:t>
            </a:r>
            <a:r>
              <a:rPr lang="da-DK" dirty="0"/>
              <a:t> to the </a:t>
            </a:r>
            <a:r>
              <a:rPr lang="da-DK" dirty="0" err="1"/>
              <a:t>training</a:t>
            </a:r>
            <a:r>
              <a:rPr lang="da-DK" dirty="0"/>
              <a:t> fold. </a:t>
            </a:r>
            <a:r>
              <a:rPr lang="da-DK" dirty="0" err="1"/>
              <a:t>Validation</a:t>
            </a:r>
            <a:r>
              <a:rPr lang="da-DK" dirty="0"/>
              <a:t> and test sets </a:t>
            </a:r>
            <a:r>
              <a:rPr lang="da-DK" dirty="0" err="1"/>
              <a:t>retain</a:t>
            </a:r>
            <a:r>
              <a:rPr lang="da-DK" dirty="0"/>
              <a:t> the </a:t>
            </a:r>
            <a:r>
              <a:rPr lang="da-DK" dirty="0" err="1"/>
              <a:t>natural</a:t>
            </a:r>
            <a:r>
              <a:rPr lang="da-DK" dirty="0"/>
              <a:t> distribution. This </a:t>
            </a:r>
            <a:r>
              <a:rPr lang="da-DK" dirty="0" err="1"/>
              <a:t>replication</a:t>
            </a:r>
            <a:r>
              <a:rPr lang="da-DK" dirty="0"/>
              <a:t> </a:t>
            </a:r>
            <a:r>
              <a:rPr lang="da-DK" dirty="0" err="1"/>
              <a:t>uses</a:t>
            </a:r>
            <a:r>
              <a:rPr lang="da-DK" dirty="0"/>
              <a:t> patient-</a:t>
            </a:r>
            <a:r>
              <a:rPr lang="da-DK" dirty="0" err="1"/>
              <a:t>level</a:t>
            </a:r>
            <a:r>
              <a:rPr lang="da-DK" dirty="0"/>
              <a:t> 5-fold cross-</a:t>
            </a:r>
            <a:r>
              <a:rPr lang="da-DK" dirty="0" err="1"/>
              <a:t>validation</a:t>
            </a:r>
            <a:r>
              <a:rPr lang="da-DK" dirty="0"/>
              <a:t> with all slices </a:t>
            </a:r>
            <a:r>
              <a:rPr lang="da-DK" dirty="0" err="1"/>
              <a:t>retained</a:t>
            </a:r>
            <a:r>
              <a:rPr lang="da-DK" dirty="0"/>
              <a:t>, and </a:t>
            </a:r>
            <a:r>
              <a:rPr lang="da-DK" dirty="0" err="1"/>
              <a:t>applies</a:t>
            </a:r>
            <a:r>
              <a:rPr lang="da-DK" dirty="0"/>
              <a:t> </a:t>
            </a:r>
            <a:r>
              <a:rPr lang="da-DK" dirty="0" err="1"/>
              <a:t>weighted</a:t>
            </a:r>
            <a:r>
              <a:rPr lang="da-DK" dirty="0"/>
              <a:t> cross-</a:t>
            </a:r>
            <a:r>
              <a:rPr lang="da-DK" dirty="0" err="1"/>
              <a:t>entropy</a:t>
            </a:r>
            <a:r>
              <a:rPr lang="da-DK" dirty="0"/>
              <a:t> </a:t>
            </a:r>
            <a:r>
              <a:rPr lang="da-DK" dirty="0" err="1"/>
              <a:t>loss</a:t>
            </a:r>
            <a:r>
              <a:rPr lang="da-DK" dirty="0"/>
              <a:t> </a:t>
            </a:r>
            <a:r>
              <a:rPr lang="da-DK" dirty="0" err="1"/>
              <a:t>during</a:t>
            </a:r>
            <a:r>
              <a:rPr lang="da-DK" dirty="0"/>
              <a:t> </a:t>
            </a:r>
            <a:r>
              <a:rPr lang="da-DK" dirty="0" err="1"/>
              <a:t>training</a:t>
            </a:r>
            <a:r>
              <a:rPr lang="da-DK" dirty="0"/>
              <a:t> </a:t>
            </a:r>
            <a:r>
              <a:rPr lang="da-DK" dirty="0" err="1"/>
              <a:t>rather</a:t>
            </a:r>
            <a:r>
              <a:rPr lang="da-DK" dirty="0"/>
              <a:t> </a:t>
            </a:r>
            <a:r>
              <a:rPr lang="da-DK" dirty="0" err="1"/>
              <a:t>than</a:t>
            </a:r>
            <a:r>
              <a:rPr lang="da-DK" dirty="0"/>
              <a:t> undersampling </a:t>
            </a:r>
            <a:r>
              <a:rPr lang="da-DK" dirty="0" err="1"/>
              <a:t>controls</a:t>
            </a:r>
            <a:r>
              <a:rPr lang="da-DK" dirty="0"/>
              <a:t>.</a:t>
            </a:r>
          </a:p>
          <a:p>
            <a:endParaRPr lang="da-DK" dirty="0"/>
          </a:p>
          <a:p>
            <a:endParaRPr lang="da-DK" dirty="0"/>
          </a:p>
          <a:p>
            <a:r>
              <a:rPr lang="da-DK" sz="1600" dirty="0"/>
              <a:t>Re-</a:t>
            </a:r>
            <a:r>
              <a:rPr lang="da-DK" sz="1600" dirty="0" err="1"/>
              <a:t>implemented</a:t>
            </a:r>
            <a:r>
              <a:rPr lang="da-DK" sz="1600" dirty="0"/>
              <a:t> the </a:t>
            </a:r>
            <a:r>
              <a:rPr lang="da-DK" sz="1600" dirty="0" err="1"/>
              <a:t>full</a:t>
            </a:r>
            <a:r>
              <a:rPr lang="da-DK" sz="1600" dirty="0"/>
              <a:t> </a:t>
            </a:r>
            <a:r>
              <a:rPr lang="da-DK" sz="1600" dirty="0" err="1"/>
              <a:t>Guha</a:t>
            </a:r>
            <a:r>
              <a:rPr lang="da-DK" sz="1600" dirty="0"/>
              <a:t> et al. Pipeline, with 7 </a:t>
            </a:r>
            <a:r>
              <a:rPr lang="da-DK" sz="1600" dirty="0" err="1"/>
              <a:t>experimental</a:t>
            </a:r>
            <a:r>
              <a:rPr lang="da-DK" sz="1600" dirty="0"/>
              <a:t> </a:t>
            </a:r>
            <a:r>
              <a:rPr lang="da-DK" sz="1600" dirty="0" err="1"/>
              <a:t>conditions</a:t>
            </a:r>
            <a:endParaRPr lang="da-DK" sz="1600" dirty="0"/>
          </a:p>
          <a:p>
            <a:r>
              <a:rPr lang="da-DK" sz="1600" dirty="0"/>
              <a:t>Paper </a:t>
            </a:r>
            <a:r>
              <a:rPr lang="da-DK" sz="1600" dirty="0" err="1"/>
              <a:t>setup</a:t>
            </a:r>
            <a:r>
              <a:rPr lang="da-DK" sz="1600" dirty="0"/>
              <a:t>: all 4,517 PMG-patient slices as PMG positive class; 10,539 </a:t>
            </a:r>
            <a:r>
              <a:rPr lang="da-DK" sz="1600" dirty="0" err="1"/>
              <a:t>controls</a:t>
            </a:r>
            <a:endParaRPr lang="da-DK" sz="400" dirty="0"/>
          </a:p>
          <a:p>
            <a:r>
              <a:rPr lang="da-DK" sz="1600" dirty="0" err="1"/>
              <a:t>Corrected</a:t>
            </a:r>
            <a:r>
              <a:rPr lang="da-DK" sz="1600" dirty="0"/>
              <a:t> </a:t>
            </a:r>
            <a:r>
              <a:rPr lang="da-DK" sz="1600" dirty="0" err="1"/>
              <a:t>setup</a:t>
            </a:r>
            <a:r>
              <a:rPr lang="da-DK" sz="1600" dirty="0"/>
              <a:t>:  2,256 label=1 as PMG positive class; 1,386 </a:t>
            </a:r>
            <a:r>
              <a:rPr lang="da-DK" sz="1600" dirty="0" err="1"/>
              <a:t>reclassified</a:t>
            </a:r>
            <a:r>
              <a:rPr lang="da-DK" sz="1600" dirty="0"/>
              <a:t> as negative -&gt; 11,925 </a:t>
            </a:r>
            <a:r>
              <a:rPr lang="da-DK" sz="1600" dirty="0" err="1"/>
              <a:t>controls</a:t>
            </a:r>
            <a:endParaRPr lang="da-DK" sz="1600" dirty="0"/>
          </a:p>
          <a:p>
            <a:pPr lvl="1"/>
            <a:r>
              <a:rPr lang="da-DK" sz="1600" dirty="0"/>
              <a:t>Option to </a:t>
            </a:r>
            <a:r>
              <a:rPr lang="da-DK" sz="1600" dirty="0" err="1"/>
              <a:t>downsampled</a:t>
            </a:r>
            <a:r>
              <a:rPr lang="da-DK" sz="1600" dirty="0"/>
              <a:t> </a:t>
            </a:r>
            <a:r>
              <a:rPr lang="da-DK" sz="1600" dirty="0" err="1"/>
              <a:t>pre</a:t>
            </a:r>
            <a:r>
              <a:rPr lang="da-DK" sz="1600" dirty="0"/>
              <a:t>-splits or post-splits, and to run </a:t>
            </a:r>
            <a:r>
              <a:rPr lang="da-DK" sz="1600" dirty="0" err="1"/>
              <a:t>training</a:t>
            </a:r>
            <a:r>
              <a:rPr lang="da-DK" sz="1600" dirty="0"/>
              <a:t> on </a:t>
            </a:r>
            <a:r>
              <a:rPr lang="da-DK" sz="1600" dirty="0" err="1"/>
              <a:t>raw</a:t>
            </a:r>
            <a:r>
              <a:rPr lang="da-DK" sz="1600" dirty="0"/>
              <a:t> data</a:t>
            </a:r>
          </a:p>
          <a:p>
            <a:r>
              <a:rPr lang="da-DK" sz="1600" dirty="0"/>
              <a:t>5-fold cross-</a:t>
            </a:r>
            <a:r>
              <a:rPr lang="da-DK" sz="1600" dirty="0" err="1"/>
              <a:t>validation</a:t>
            </a:r>
            <a:r>
              <a:rPr lang="da-DK" sz="1600" dirty="0"/>
              <a:t> at patient </a:t>
            </a:r>
            <a:r>
              <a:rPr lang="da-DK" sz="1600" dirty="0" err="1"/>
              <a:t>level</a:t>
            </a:r>
            <a:endParaRPr lang="da-DK" sz="1600" dirty="0"/>
          </a:p>
          <a:p>
            <a:r>
              <a:rPr lang="da-DK" sz="1600" dirty="0"/>
              <a:t>Models: ResNet-101 and DenseNet-201 </a:t>
            </a:r>
          </a:p>
          <a:p>
            <a:pPr lvl="1"/>
            <a:r>
              <a:rPr lang="da-DK" sz="1600" dirty="0"/>
              <a:t>20 </a:t>
            </a:r>
            <a:r>
              <a:rPr lang="da-DK" sz="1600" dirty="0" err="1"/>
              <a:t>epochs</a:t>
            </a:r>
            <a:endParaRPr lang="da-DK" sz="1600" dirty="0"/>
          </a:p>
          <a:p>
            <a:pPr lvl="1"/>
            <a:r>
              <a:rPr lang="da-DK" sz="1600" dirty="0" err="1"/>
              <a:t>Fixed</a:t>
            </a:r>
            <a:r>
              <a:rPr lang="da-DK" sz="1600" dirty="0"/>
              <a:t> backbone</a:t>
            </a:r>
          </a:p>
          <a:p>
            <a:pPr lvl="1"/>
            <a:r>
              <a:rPr lang="da-DK" sz="1600" dirty="0" err="1"/>
              <a:t>Trained</a:t>
            </a:r>
            <a:r>
              <a:rPr lang="da-DK" sz="1600" dirty="0"/>
              <a:t> head </a:t>
            </a:r>
            <a:r>
              <a:rPr lang="da-DK" sz="1600" dirty="0" err="1"/>
              <a:t>only</a:t>
            </a:r>
            <a:endParaRPr lang="da-DK" sz="1600" dirty="0"/>
          </a:p>
          <a:p>
            <a:endParaRPr lang="da-DK" dirty="0"/>
          </a:p>
          <a:p>
            <a:endParaRPr lang="da-DK"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49436F85-577F-4A92-A47F-D540A2BCC821}" type="slidenum">
              <a:rPr lang="en-GB" smtClean="0"/>
              <a:t>6</a:t>
            </a:fld>
            <a:endParaRPr lang="en-GB"/>
          </a:p>
        </p:txBody>
      </p:sp>
    </p:spTree>
    <p:extLst>
      <p:ext uri="{BB962C8B-B14F-4D97-AF65-F5344CB8AC3E}">
        <p14:creationId xmlns:p14="http://schemas.microsoft.com/office/powerpoint/2010/main" val="3894885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49436F85-577F-4A92-A47F-D540A2BCC821}" type="slidenum">
              <a:rPr lang="en-GB" smtClean="0"/>
              <a:t>7</a:t>
            </a:fld>
            <a:endParaRPr lang="en-GB"/>
          </a:p>
        </p:txBody>
      </p:sp>
    </p:spTree>
    <p:extLst>
      <p:ext uri="{BB962C8B-B14F-4D97-AF65-F5344CB8AC3E}">
        <p14:creationId xmlns:p14="http://schemas.microsoft.com/office/powerpoint/2010/main" val="1452386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B4034-A5D8-B90C-75B1-C16B6058C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81DE78-5565-B47B-AAE5-9F47BA9749D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2A4D6C1-F045-CAFF-8046-EAB17703FEE5}"/>
              </a:ext>
            </a:extLst>
          </p:cNvPr>
          <p:cNvSpPr>
            <a:spLocks noGrp="1"/>
          </p:cNvSpPr>
          <p:nvPr>
            <p:ph type="body" sz="quarter" idx="3"/>
          </p:nvPr>
        </p:nvSpPr>
        <p:spPr/>
        <p:txBody>
          <a:bodyPr/>
          <a:lstStyle/>
          <a:p>
            <a:r>
              <a:rPr lang="da-DK" dirty="0"/>
              <a:t>The ablation </a:t>
            </a:r>
            <a:r>
              <a:rPr lang="da-DK" dirty="0" err="1"/>
              <a:t>study</a:t>
            </a:r>
            <a:r>
              <a:rPr lang="da-DK" dirty="0"/>
              <a:t> probes </a:t>
            </a:r>
            <a:r>
              <a:rPr lang="da-DK" dirty="0" err="1"/>
              <a:t>whether</a:t>
            </a:r>
            <a:r>
              <a:rPr lang="da-DK" dirty="0"/>
              <a:t> </a:t>
            </a:r>
            <a:r>
              <a:rPr lang="da-DK" dirty="0" err="1"/>
              <a:t>trained</a:t>
            </a:r>
            <a:r>
              <a:rPr lang="da-DK" dirty="0"/>
              <a:t> models </a:t>
            </a:r>
            <a:r>
              <a:rPr lang="da-DK" dirty="0" err="1"/>
              <a:t>rely</a:t>
            </a:r>
            <a:r>
              <a:rPr lang="da-DK" dirty="0"/>
              <a:t> on </a:t>
            </a:r>
            <a:r>
              <a:rPr lang="da-DK" dirty="0" err="1"/>
              <a:t>spatially</a:t>
            </a:r>
            <a:r>
              <a:rPr lang="da-DK" dirty="0"/>
              <a:t> </a:t>
            </a:r>
            <a:r>
              <a:rPr lang="da-DK" dirty="0" err="1"/>
              <a:t>localised</a:t>
            </a:r>
            <a:r>
              <a:rPr lang="da-DK" dirty="0"/>
              <a:t> image features (i.e., </a:t>
            </a:r>
            <a:r>
              <a:rPr lang="da-DK" dirty="0" err="1"/>
              <a:t>actual</a:t>
            </a:r>
            <a:r>
              <a:rPr lang="da-DK" dirty="0"/>
              <a:t> </a:t>
            </a:r>
            <a:r>
              <a:rPr lang="da-DK" dirty="0" err="1"/>
              <a:t>cortical</a:t>
            </a:r>
            <a:r>
              <a:rPr lang="da-DK" dirty="0"/>
              <a:t> </a:t>
            </a:r>
            <a:r>
              <a:rPr lang="da-DK" dirty="0" err="1"/>
              <a:t>morphology</a:t>
            </a:r>
            <a:r>
              <a:rPr lang="da-DK" dirty="0"/>
              <a:t> visible in a </a:t>
            </a:r>
            <a:r>
              <a:rPr lang="da-DK" dirty="0" err="1"/>
              <a:t>specific</a:t>
            </a:r>
            <a:r>
              <a:rPr lang="da-DK" dirty="0"/>
              <a:t> </a:t>
            </a:r>
            <a:r>
              <a:rPr lang="da-DK" dirty="0" err="1"/>
              <a:t>cortical</a:t>
            </a:r>
            <a:r>
              <a:rPr lang="da-DK" dirty="0"/>
              <a:t> region) or on global low-</a:t>
            </a:r>
            <a:r>
              <a:rPr lang="da-DK" dirty="0" err="1"/>
              <a:t>level</a:t>
            </a:r>
            <a:r>
              <a:rPr lang="da-DK" dirty="0"/>
              <a:t> </a:t>
            </a:r>
            <a:r>
              <a:rPr lang="da-DK" dirty="0" err="1"/>
              <a:t>statistics</a:t>
            </a:r>
            <a:r>
              <a:rPr lang="da-DK" dirty="0"/>
              <a:t> </a:t>
            </a:r>
            <a:r>
              <a:rPr lang="da-DK" dirty="0" err="1"/>
              <a:t>distributed</a:t>
            </a:r>
            <a:r>
              <a:rPr lang="da-DK" dirty="0"/>
              <a:t> </a:t>
            </a:r>
            <a:r>
              <a:rPr lang="da-DK" dirty="0" err="1"/>
              <a:t>uniformly</a:t>
            </a:r>
            <a:r>
              <a:rPr lang="da-DK" dirty="0"/>
              <a:t> </a:t>
            </a:r>
            <a:r>
              <a:rPr lang="da-DK" dirty="0" err="1"/>
              <a:t>across</a:t>
            </a:r>
            <a:r>
              <a:rPr lang="da-DK" dirty="0"/>
              <a:t> the image (i.e., the resolution/</a:t>
            </a:r>
            <a:r>
              <a:rPr lang="da-DK" dirty="0" err="1"/>
              <a:t>texture</a:t>
            </a:r>
            <a:r>
              <a:rPr lang="da-DK" dirty="0"/>
              <a:t> </a:t>
            </a:r>
            <a:r>
              <a:rPr lang="da-DK" dirty="0" err="1"/>
              <a:t>artefact</a:t>
            </a:r>
            <a:r>
              <a:rPr lang="da-DK" dirty="0"/>
              <a:t>). This </a:t>
            </a:r>
            <a:r>
              <a:rPr lang="da-DK" dirty="0" err="1"/>
              <a:t>distinction</a:t>
            </a:r>
            <a:r>
              <a:rPr lang="da-DK" dirty="0"/>
              <a:t> is </a:t>
            </a:r>
            <a:r>
              <a:rPr lang="da-DK" dirty="0" err="1"/>
              <a:t>critical</a:t>
            </a:r>
            <a:r>
              <a:rPr lang="da-DK" dirty="0"/>
              <a:t>: a model </a:t>
            </a:r>
            <a:r>
              <a:rPr lang="da-DK" dirty="0" err="1"/>
              <a:t>exploiting</a:t>
            </a:r>
            <a:r>
              <a:rPr lang="da-DK" dirty="0"/>
              <a:t> the resolution </a:t>
            </a:r>
            <a:r>
              <a:rPr lang="da-DK" dirty="0" err="1"/>
              <a:t>artefact</a:t>
            </a:r>
            <a:r>
              <a:rPr lang="da-DK" dirty="0"/>
              <a:t> </a:t>
            </a:r>
            <a:r>
              <a:rPr lang="da-DK" dirty="0" err="1"/>
              <a:t>would</a:t>
            </a:r>
            <a:r>
              <a:rPr lang="da-DK" dirty="0"/>
              <a:t> show high performance on </a:t>
            </a:r>
            <a:r>
              <a:rPr lang="da-DK" dirty="0" err="1"/>
              <a:t>any</a:t>
            </a:r>
            <a:r>
              <a:rPr lang="da-DK" dirty="0"/>
              <a:t> patch of the image, </a:t>
            </a:r>
            <a:r>
              <a:rPr lang="da-DK" dirty="0" err="1"/>
              <a:t>including</a:t>
            </a:r>
            <a:r>
              <a:rPr lang="da-DK" dirty="0"/>
              <a:t> patches over </a:t>
            </a:r>
            <a:r>
              <a:rPr lang="da-DK" dirty="0" err="1"/>
              <a:t>skull</a:t>
            </a:r>
            <a:r>
              <a:rPr lang="da-DK" dirty="0"/>
              <a:t>, </a:t>
            </a:r>
            <a:r>
              <a:rPr lang="da-DK" dirty="0" err="1"/>
              <a:t>ventricles</a:t>
            </a:r>
            <a:r>
              <a:rPr lang="da-DK" dirty="0"/>
              <a:t>, or </a:t>
            </a:r>
            <a:r>
              <a:rPr lang="da-DK" dirty="0" err="1"/>
              <a:t>background</a:t>
            </a:r>
            <a:r>
              <a:rPr lang="da-DK" dirty="0"/>
              <a:t> regions with no </a:t>
            </a:r>
            <a:r>
              <a:rPr lang="da-DK" dirty="0" err="1"/>
              <a:t>cortical</a:t>
            </a:r>
            <a:r>
              <a:rPr lang="da-DK" dirty="0"/>
              <a:t> </a:t>
            </a:r>
            <a:r>
              <a:rPr lang="da-DK" dirty="0" err="1"/>
              <a:t>pathology</a:t>
            </a:r>
            <a:r>
              <a:rPr lang="da-DK" dirty="0"/>
              <a:t>.</a:t>
            </a:r>
          </a:p>
          <a:p>
            <a:endParaRPr lang="da-DK" dirty="0"/>
          </a:p>
          <a:p>
            <a:r>
              <a:rPr lang="da-DK" dirty="0"/>
              <a:t>For </a:t>
            </a:r>
            <a:r>
              <a:rPr lang="da-DK" dirty="0" err="1"/>
              <a:t>each</a:t>
            </a:r>
            <a:r>
              <a:rPr lang="da-DK" dirty="0"/>
              <a:t> test image, a </a:t>
            </a:r>
            <a:r>
              <a:rPr lang="da-DK" dirty="0" err="1"/>
              <a:t>random</a:t>
            </a:r>
            <a:r>
              <a:rPr lang="da-DK" dirty="0"/>
              <a:t> </a:t>
            </a:r>
            <a:r>
              <a:rPr lang="da-DK" dirty="0" err="1"/>
              <a:t>square</a:t>
            </a:r>
            <a:r>
              <a:rPr lang="da-DK" dirty="0"/>
              <a:t> patch with a side </a:t>
            </a:r>
            <a:r>
              <a:rPr lang="da-DK" dirty="0" err="1"/>
              <a:t>length</a:t>
            </a:r>
            <a:r>
              <a:rPr lang="da-DK" dirty="0"/>
              <a:t> </a:t>
            </a:r>
            <a:r>
              <a:rPr lang="da-DK" dirty="0" err="1"/>
              <a:t>equal</a:t>
            </a:r>
            <a:r>
              <a:rPr lang="da-DK" dirty="0"/>
              <a:t> to 20% of the </a:t>
            </a:r>
            <a:r>
              <a:rPr lang="da-DK" dirty="0" err="1"/>
              <a:t>shorter</a:t>
            </a:r>
            <a:r>
              <a:rPr lang="da-DK" dirty="0"/>
              <a:t> image dimension is </a:t>
            </a:r>
            <a:r>
              <a:rPr lang="da-DK" dirty="0" err="1"/>
              <a:t>zeroed</a:t>
            </a:r>
            <a:r>
              <a:rPr lang="da-DK" dirty="0"/>
              <a:t> out prior to </a:t>
            </a:r>
            <a:r>
              <a:rPr lang="da-DK" dirty="0" err="1"/>
              <a:t>inference</a:t>
            </a:r>
            <a:r>
              <a:rPr lang="da-DK" dirty="0"/>
              <a:t>. The </a:t>
            </a:r>
            <a:r>
              <a:rPr lang="da-DK" dirty="0" err="1"/>
              <a:t>occluded</a:t>
            </a:r>
            <a:r>
              <a:rPr lang="da-DK" dirty="0"/>
              <a:t> test set is </a:t>
            </a:r>
            <a:r>
              <a:rPr lang="da-DK" dirty="0" err="1"/>
              <a:t>constructed</a:t>
            </a:r>
            <a:r>
              <a:rPr lang="da-DK" dirty="0"/>
              <a:t> </a:t>
            </a:r>
            <a:r>
              <a:rPr lang="da-DK" dirty="0" err="1"/>
              <a:t>once</a:t>
            </a:r>
            <a:r>
              <a:rPr lang="da-DK" dirty="0"/>
              <a:t> per split and </a:t>
            </a:r>
            <a:r>
              <a:rPr lang="da-DK" dirty="0" err="1"/>
              <a:t>then</a:t>
            </a:r>
            <a:r>
              <a:rPr lang="da-DK" dirty="0"/>
              <a:t> </a:t>
            </a:r>
            <a:r>
              <a:rPr lang="da-DK" dirty="0" err="1"/>
              <a:t>passed</a:t>
            </a:r>
            <a:r>
              <a:rPr lang="da-DK" dirty="0"/>
              <a:t> </a:t>
            </a:r>
            <a:r>
              <a:rPr lang="da-DK" dirty="0" err="1"/>
              <a:t>through</a:t>
            </a:r>
            <a:r>
              <a:rPr lang="da-DK" dirty="0"/>
              <a:t> </a:t>
            </a:r>
            <a:r>
              <a:rPr lang="da-DK" dirty="0" err="1"/>
              <a:t>every</a:t>
            </a:r>
            <a:r>
              <a:rPr lang="da-DK" dirty="0"/>
              <a:t> </a:t>
            </a:r>
            <a:r>
              <a:rPr lang="da-DK" dirty="0" err="1"/>
              <a:t>available</a:t>
            </a:r>
            <a:r>
              <a:rPr lang="da-DK" dirty="0"/>
              <a:t> model checkpoint. </a:t>
            </a:r>
            <a:r>
              <a:rPr lang="da-DK" dirty="0" err="1"/>
              <a:t>Classification</a:t>
            </a:r>
            <a:r>
              <a:rPr lang="da-DK" dirty="0"/>
              <a:t> </a:t>
            </a:r>
            <a:r>
              <a:rPr lang="da-DK" dirty="0" err="1"/>
              <a:t>metrics</a:t>
            </a:r>
            <a:r>
              <a:rPr lang="da-DK" dirty="0"/>
              <a:t> (</a:t>
            </a:r>
            <a:r>
              <a:rPr lang="da-DK" dirty="0" err="1"/>
              <a:t>accuracy</a:t>
            </a:r>
            <a:r>
              <a:rPr lang="da-DK" dirty="0"/>
              <a:t>, </a:t>
            </a:r>
            <a:r>
              <a:rPr lang="da-DK" dirty="0" err="1"/>
              <a:t>precision</a:t>
            </a:r>
            <a:r>
              <a:rPr lang="da-DK" dirty="0"/>
              <a:t>, </a:t>
            </a:r>
            <a:r>
              <a:rPr lang="da-DK" dirty="0" err="1"/>
              <a:t>recall</a:t>
            </a:r>
            <a:r>
              <a:rPr lang="da-DK" dirty="0"/>
              <a:t>, F1, </a:t>
            </a:r>
            <a:r>
              <a:rPr lang="da-DK" dirty="0" err="1"/>
              <a:t>Cohen's</a:t>
            </a:r>
            <a:r>
              <a:rPr lang="da-DK" dirty="0"/>
              <a:t> kappa) </a:t>
            </a:r>
            <a:r>
              <a:rPr lang="da-DK" dirty="0" err="1"/>
              <a:t>are</a:t>
            </a:r>
            <a:r>
              <a:rPr lang="da-DK" dirty="0"/>
              <a:t> </a:t>
            </a:r>
            <a:r>
              <a:rPr lang="da-DK" dirty="0" err="1"/>
              <a:t>computed</a:t>
            </a:r>
            <a:r>
              <a:rPr lang="da-DK" dirty="0"/>
              <a:t> on the </a:t>
            </a:r>
            <a:r>
              <a:rPr lang="da-DK" dirty="0" err="1"/>
              <a:t>occluded</a:t>
            </a:r>
            <a:r>
              <a:rPr lang="da-DK" dirty="0"/>
              <a:t> images and </a:t>
            </a:r>
            <a:r>
              <a:rPr lang="da-DK" dirty="0" err="1"/>
              <a:t>compared</a:t>
            </a:r>
            <a:r>
              <a:rPr lang="da-DK" dirty="0"/>
              <a:t> to the </a:t>
            </a:r>
            <a:r>
              <a:rPr lang="da-DK" dirty="0" err="1"/>
              <a:t>corresponding</a:t>
            </a:r>
            <a:r>
              <a:rPr lang="da-DK" dirty="0"/>
              <a:t> </a:t>
            </a:r>
            <a:r>
              <a:rPr lang="da-DK" dirty="0" err="1"/>
              <a:t>unoccluded</a:t>
            </a:r>
            <a:r>
              <a:rPr lang="da-DK" dirty="0"/>
              <a:t> test performance.</a:t>
            </a:r>
          </a:p>
          <a:p>
            <a:endParaRPr lang="da-DK" dirty="0"/>
          </a:p>
          <a:p>
            <a:r>
              <a:rPr lang="da-DK" dirty="0"/>
              <a:t>- A </a:t>
            </a:r>
            <a:r>
              <a:rPr lang="da-DK" dirty="0" err="1"/>
              <a:t>substantial</a:t>
            </a:r>
            <a:r>
              <a:rPr lang="da-DK" dirty="0"/>
              <a:t> drop in performance under </a:t>
            </a:r>
            <a:r>
              <a:rPr lang="da-DK" dirty="0" err="1"/>
              <a:t>occlusion</a:t>
            </a:r>
            <a:r>
              <a:rPr lang="da-DK" dirty="0"/>
              <a:t> is </a:t>
            </a:r>
            <a:r>
              <a:rPr lang="da-DK" dirty="0" err="1"/>
              <a:t>consistent</a:t>
            </a:r>
            <a:r>
              <a:rPr lang="da-DK" dirty="0"/>
              <a:t> with the model </a:t>
            </a:r>
            <a:r>
              <a:rPr lang="da-DK" dirty="0" err="1"/>
              <a:t>attending</a:t>
            </a:r>
            <a:r>
              <a:rPr lang="da-DK" dirty="0"/>
              <a:t> to </a:t>
            </a:r>
            <a:r>
              <a:rPr lang="da-DK" dirty="0" err="1"/>
              <a:t>specific</a:t>
            </a:r>
            <a:r>
              <a:rPr lang="da-DK" dirty="0"/>
              <a:t> spatial regions, </a:t>
            </a:r>
            <a:r>
              <a:rPr lang="da-DK" dirty="0" err="1"/>
              <a:t>suggesting</a:t>
            </a:r>
            <a:r>
              <a:rPr lang="da-DK" dirty="0"/>
              <a:t> it has </a:t>
            </a:r>
            <a:r>
              <a:rPr lang="da-DK" dirty="0" err="1"/>
              <a:t>learned</a:t>
            </a:r>
            <a:r>
              <a:rPr lang="da-DK" dirty="0"/>
              <a:t> </a:t>
            </a:r>
            <a:r>
              <a:rPr lang="da-DK" dirty="0" err="1"/>
              <a:t>spatially</a:t>
            </a:r>
            <a:r>
              <a:rPr lang="da-DK" dirty="0"/>
              <a:t> </a:t>
            </a:r>
            <a:r>
              <a:rPr lang="da-DK" dirty="0" err="1"/>
              <a:t>localised</a:t>
            </a:r>
            <a:r>
              <a:rPr lang="da-DK" dirty="0"/>
              <a:t> features (</a:t>
            </a:r>
            <a:r>
              <a:rPr lang="da-DK" dirty="0" err="1"/>
              <a:t>potentially</a:t>
            </a:r>
            <a:r>
              <a:rPr lang="da-DK" dirty="0"/>
              <a:t> </a:t>
            </a:r>
            <a:r>
              <a:rPr lang="da-DK" dirty="0" err="1"/>
              <a:t>cortical</a:t>
            </a:r>
            <a:r>
              <a:rPr lang="da-DK" dirty="0"/>
              <a:t> </a:t>
            </a:r>
            <a:r>
              <a:rPr lang="da-DK" dirty="0" err="1"/>
              <a:t>morphology</a:t>
            </a:r>
            <a:r>
              <a:rPr lang="da-DK" dirty="0"/>
              <a:t>).</a:t>
            </a:r>
          </a:p>
          <a:p>
            <a:r>
              <a:rPr lang="da-DK" dirty="0"/>
              <a:t>- A negligible drop in performance suggests </a:t>
            </a:r>
            <a:r>
              <a:rPr lang="da-DK" dirty="0" err="1"/>
              <a:t>reliance</a:t>
            </a:r>
            <a:r>
              <a:rPr lang="da-DK" dirty="0"/>
              <a:t> on global </a:t>
            </a:r>
            <a:r>
              <a:rPr lang="da-DK" dirty="0" err="1"/>
              <a:t>texture</a:t>
            </a:r>
            <a:r>
              <a:rPr lang="da-DK" dirty="0"/>
              <a:t> or low-</a:t>
            </a:r>
            <a:r>
              <a:rPr lang="da-DK" dirty="0" err="1"/>
              <a:t>level</a:t>
            </a:r>
            <a:r>
              <a:rPr lang="da-DK" dirty="0"/>
              <a:t> </a:t>
            </a:r>
            <a:r>
              <a:rPr lang="da-DK" dirty="0" err="1"/>
              <a:t>statistics</a:t>
            </a:r>
            <a:r>
              <a:rPr lang="da-DK" dirty="0"/>
              <a:t> </a:t>
            </a:r>
            <a:r>
              <a:rPr lang="da-DK" dirty="0" err="1"/>
              <a:t>distributed</a:t>
            </a:r>
            <a:r>
              <a:rPr lang="da-DK" dirty="0"/>
              <a:t> </a:t>
            </a:r>
            <a:r>
              <a:rPr lang="da-DK" dirty="0" err="1"/>
              <a:t>across</a:t>
            </a:r>
            <a:r>
              <a:rPr lang="da-DK" dirty="0"/>
              <a:t> the image, </a:t>
            </a:r>
            <a:r>
              <a:rPr lang="da-DK" dirty="0" err="1"/>
              <a:t>further</a:t>
            </a:r>
            <a:r>
              <a:rPr lang="da-DK" dirty="0"/>
              <a:t> </a:t>
            </a:r>
            <a:r>
              <a:rPr lang="da-DK" dirty="0" err="1"/>
              <a:t>supporting</a:t>
            </a:r>
            <a:r>
              <a:rPr lang="da-DK" dirty="0"/>
              <a:t> the </a:t>
            </a:r>
            <a:r>
              <a:rPr lang="da-DK" dirty="0" err="1"/>
              <a:t>shortcut</a:t>
            </a:r>
            <a:r>
              <a:rPr lang="da-DK" dirty="0"/>
              <a:t> learning </a:t>
            </a:r>
            <a:r>
              <a:rPr lang="da-DK" dirty="0" err="1"/>
              <a:t>hypothesis</a:t>
            </a:r>
            <a:r>
              <a:rPr lang="da-DK" dirty="0"/>
              <a:t>. If the resolution-driven </a:t>
            </a:r>
            <a:r>
              <a:rPr lang="da-DK" dirty="0" err="1"/>
              <a:t>texture</a:t>
            </a:r>
            <a:r>
              <a:rPr lang="da-DK" dirty="0"/>
              <a:t> signal is present </a:t>
            </a:r>
            <a:r>
              <a:rPr lang="da-DK" dirty="0" err="1"/>
              <a:t>everywhere</a:t>
            </a:r>
            <a:r>
              <a:rPr lang="da-DK" dirty="0"/>
              <a:t> in the image, </a:t>
            </a:r>
            <a:r>
              <a:rPr lang="da-DK" dirty="0" err="1"/>
              <a:t>occluding</a:t>
            </a:r>
            <a:r>
              <a:rPr lang="da-DK" dirty="0"/>
              <a:t> 20% of the </a:t>
            </a:r>
            <a:r>
              <a:rPr lang="da-DK" dirty="0" err="1"/>
              <a:t>area</a:t>
            </a:r>
            <a:r>
              <a:rPr lang="da-DK" dirty="0"/>
              <a:t> </a:t>
            </a:r>
            <a:r>
              <a:rPr lang="da-DK" dirty="0" err="1"/>
              <a:t>leaves</a:t>
            </a:r>
            <a:r>
              <a:rPr lang="da-DK" dirty="0"/>
              <a:t> 80% of the </a:t>
            </a:r>
            <a:r>
              <a:rPr lang="da-DK" dirty="0" err="1"/>
              <a:t>shortcut</a:t>
            </a:r>
            <a:r>
              <a:rPr lang="da-DK" dirty="0"/>
              <a:t> signal </a:t>
            </a:r>
            <a:r>
              <a:rPr lang="da-DK" dirty="0" err="1"/>
              <a:t>intact</a:t>
            </a:r>
            <a:r>
              <a:rPr lang="da-DK" dirty="0"/>
              <a:t>, so performance </a:t>
            </a:r>
            <a:r>
              <a:rPr lang="da-DK" dirty="0" err="1"/>
              <a:t>should</a:t>
            </a:r>
            <a:r>
              <a:rPr lang="da-DK" dirty="0"/>
              <a:t> </a:t>
            </a:r>
            <a:r>
              <a:rPr lang="da-DK" dirty="0" err="1"/>
              <a:t>barely</a:t>
            </a:r>
            <a:r>
              <a:rPr lang="da-DK" dirty="0"/>
              <a:t> </a:t>
            </a:r>
            <a:r>
              <a:rPr lang="da-DK" dirty="0" err="1"/>
              <a:t>change</a:t>
            </a:r>
            <a:r>
              <a:rPr lang="da-DK" dirty="0"/>
              <a:t>.</a:t>
            </a:r>
          </a:p>
          <a:p>
            <a:endParaRPr lang="da-DK" dirty="0"/>
          </a:p>
          <a:p>
            <a:r>
              <a:rPr lang="da-DK" dirty="0"/>
              <a:t>The </a:t>
            </a:r>
            <a:r>
              <a:rPr lang="da-DK" dirty="0" err="1"/>
              <a:t>systematic</a:t>
            </a:r>
            <a:r>
              <a:rPr lang="da-DK" dirty="0"/>
              <a:t> resolution difference (PMG at ~1,508x1,727 </a:t>
            </a:r>
            <a:r>
              <a:rPr lang="da-DK" dirty="0" err="1"/>
              <a:t>px</a:t>
            </a:r>
            <a:r>
              <a:rPr lang="da-DK" dirty="0"/>
              <a:t> </a:t>
            </a:r>
            <a:r>
              <a:rPr lang="da-DK" dirty="0" err="1"/>
              <a:t>compressed</a:t>
            </a:r>
            <a:r>
              <a:rPr lang="da-DK" dirty="0"/>
              <a:t> 6x </a:t>
            </a:r>
            <a:r>
              <a:rPr lang="da-DK" dirty="0" err="1"/>
              <a:t>vs</a:t>
            </a:r>
            <a:r>
              <a:rPr lang="da-DK" dirty="0"/>
              <a:t> HC at ~512x512 </a:t>
            </a:r>
            <a:r>
              <a:rPr lang="da-DK" dirty="0" err="1"/>
              <a:t>px</a:t>
            </a:r>
            <a:r>
              <a:rPr lang="da-DK" dirty="0"/>
              <a:t> </a:t>
            </a:r>
            <a:r>
              <a:rPr lang="da-DK" dirty="0" err="1"/>
              <a:t>compressed</a:t>
            </a:r>
            <a:r>
              <a:rPr lang="da-DK" dirty="0"/>
              <a:t> 1.1-2.3x) </a:t>
            </a:r>
            <a:r>
              <a:rPr lang="da-DK" dirty="0" err="1"/>
              <a:t>creates</a:t>
            </a:r>
            <a:r>
              <a:rPr lang="da-DK" dirty="0"/>
              <a:t> a </a:t>
            </a:r>
            <a:r>
              <a:rPr lang="da-DK" dirty="0" err="1"/>
              <a:t>smooth</a:t>
            </a:r>
            <a:r>
              <a:rPr lang="da-DK" dirty="0"/>
              <a:t> </a:t>
            </a:r>
            <a:r>
              <a:rPr lang="da-DK" dirty="0" err="1"/>
              <a:t>vs</a:t>
            </a:r>
            <a:r>
              <a:rPr lang="da-DK" dirty="0"/>
              <a:t> </a:t>
            </a:r>
            <a:r>
              <a:rPr lang="da-DK" dirty="0" err="1"/>
              <a:t>coarse</a:t>
            </a:r>
            <a:r>
              <a:rPr lang="da-DK" dirty="0"/>
              <a:t> </a:t>
            </a:r>
            <a:r>
              <a:rPr lang="da-DK" dirty="0" err="1"/>
              <a:t>texture</a:t>
            </a:r>
            <a:r>
              <a:rPr lang="da-DK" dirty="0"/>
              <a:t> signal </a:t>
            </a:r>
            <a:r>
              <a:rPr lang="da-DK" dirty="0" err="1"/>
              <a:t>that</a:t>
            </a:r>
            <a:r>
              <a:rPr lang="da-DK" dirty="0"/>
              <a:t> is present in </a:t>
            </a:r>
            <a:r>
              <a:rPr lang="da-DK" dirty="0" err="1"/>
              <a:t>every</a:t>
            </a:r>
            <a:r>
              <a:rPr lang="da-DK" dirty="0"/>
              <a:t> patch of </a:t>
            </a:r>
            <a:r>
              <a:rPr lang="da-DK" dirty="0" err="1"/>
              <a:t>every</a:t>
            </a:r>
            <a:r>
              <a:rPr lang="da-DK" dirty="0"/>
              <a:t> image. If the </a:t>
            </a:r>
            <a:r>
              <a:rPr lang="da-DK" dirty="0" err="1"/>
              <a:t>occlusion</a:t>
            </a:r>
            <a:r>
              <a:rPr lang="da-DK" dirty="0"/>
              <a:t> ablation shows negligible performance drop, </a:t>
            </a:r>
            <a:r>
              <a:rPr lang="da-DK" dirty="0" err="1"/>
              <a:t>this</a:t>
            </a:r>
            <a:r>
              <a:rPr lang="da-DK" dirty="0"/>
              <a:t> </a:t>
            </a:r>
            <a:r>
              <a:rPr lang="da-DK" dirty="0" err="1"/>
              <a:t>would</a:t>
            </a:r>
            <a:r>
              <a:rPr lang="da-DK" dirty="0"/>
              <a:t> </a:t>
            </a:r>
            <a:r>
              <a:rPr lang="da-DK" dirty="0" err="1"/>
              <a:t>empirically</a:t>
            </a:r>
            <a:r>
              <a:rPr lang="da-DK" dirty="0"/>
              <a:t> </a:t>
            </a:r>
            <a:r>
              <a:rPr lang="da-DK" dirty="0" err="1"/>
              <a:t>confirm</a:t>
            </a:r>
            <a:r>
              <a:rPr lang="da-DK" dirty="0"/>
              <a:t> </a:t>
            </a:r>
            <a:r>
              <a:rPr lang="da-DK" dirty="0" err="1"/>
              <a:t>that</a:t>
            </a:r>
            <a:r>
              <a:rPr lang="da-DK" dirty="0"/>
              <a:t> the </a:t>
            </a:r>
            <a:r>
              <a:rPr lang="da-DK" dirty="0" err="1"/>
              <a:t>classifier</a:t>
            </a:r>
            <a:r>
              <a:rPr lang="da-DK" dirty="0"/>
              <a:t> is </a:t>
            </a:r>
            <a:r>
              <a:rPr lang="da-DK" dirty="0" err="1"/>
              <a:t>exploiting</a:t>
            </a:r>
            <a:r>
              <a:rPr lang="da-DK" dirty="0"/>
              <a:t> </a:t>
            </a:r>
            <a:r>
              <a:rPr lang="da-DK" dirty="0" err="1"/>
              <a:t>this</a:t>
            </a:r>
            <a:r>
              <a:rPr lang="da-DK" dirty="0"/>
              <a:t> global </a:t>
            </a:r>
            <a:r>
              <a:rPr lang="da-DK" dirty="0" err="1"/>
              <a:t>texture</a:t>
            </a:r>
            <a:r>
              <a:rPr lang="da-DK" dirty="0"/>
              <a:t> </a:t>
            </a:r>
            <a:r>
              <a:rPr lang="da-DK" dirty="0" err="1"/>
              <a:t>rather</a:t>
            </a:r>
            <a:r>
              <a:rPr lang="da-DK" dirty="0"/>
              <a:t> </a:t>
            </a:r>
            <a:r>
              <a:rPr lang="da-DK" dirty="0" err="1"/>
              <a:t>than</a:t>
            </a:r>
            <a:r>
              <a:rPr lang="da-DK" dirty="0"/>
              <a:t> </a:t>
            </a:r>
            <a:r>
              <a:rPr lang="da-DK" dirty="0" err="1"/>
              <a:t>localised</a:t>
            </a:r>
            <a:r>
              <a:rPr lang="da-DK" dirty="0"/>
              <a:t> </a:t>
            </a:r>
            <a:r>
              <a:rPr lang="da-DK" dirty="0" err="1"/>
              <a:t>cortical</a:t>
            </a:r>
            <a:r>
              <a:rPr lang="da-DK" dirty="0"/>
              <a:t> features — </a:t>
            </a:r>
            <a:r>
              <a:rPr lang="da-DK" dirty="0" err="1"/>
              <a:t>providing</a:t>
            </a:r>
            <a:r>
              <a:rPr lang="da-DK" dirty="0"/>
              <a:t> </a:t>
            </a:r>
            <a:r>
              <a:rPr lang="da-DK" dirty="0" err="1"/>
              <a:t>direct</a:t>
            </a:r>
            <a:r>
              <a:rPr lang="da-DK" dirty="0"/>
              <a:t> </a:t>
            </a:r>
            <a:r>
              <a:rPr lang="da-DK" dirty="0" err="1"/>
              <a:t>evidence</a:t>
            </a:r>
            <a:r>
              <a:rPr lang="da-DK" dirty="0"/>
              <a:t> of </a:t>
            </a:r>
            <a:r>
              <a:rPr lang="da-DK" dirty="0" err="1"/>
              <a:t>shortcut</a:t>
            </a:r>
            <a:r>
              <a:rPr lang="da-DK" dirty="0"/>
              <a:t> learning </a:t>
            </a:r>
            <a:r>
              <a:rPr lang="da-DK" dirty="0" err="1"/>
              <a:t>rather</a:t>
            </a:r>
            <a:r>
              <a:rPr lang="da-DK" dirty="0"/>
              <a:t> </a:t>
            </a:r>
            <a:r>
              <a:rPr lang="da-DK" dirty="0" err="1"/>
              <a:t>than</a:t>
            </a:r>
            <a:r>
              <a:rPr lang="da-DK" dirty="0"/>
              <a:t> genuine PMG </a:t>
            </a:r>
            <a:r>
              <a:rPr lang="da-DK" dirty="0" err="1"/>
              <a:t>detection</a:t>
            </a:r>
            <a:r>
              <a:rPr lang="da-DK" dirty="0"/>
              <a:t>.</a:t>
            </a:r>
          </a:p>
        </p:txBody>
      </p:sp>
      <p:sp>
        <p:nvSpPr>
          <p:cNvPr id="4" name="Slide Number Placeholder 3">
            <a:extLst>
              <a:ext uri="{FF2B5EF4-FFF2-40B4-BE49-F238E27FC236}">
                <a16:creationId xmlns:a16="http://schemas.microsoft.com/office/drawing/2014/main" id="{F17B92F2-BC0C-48C6-8E22-90B796527410}"/>
              </a:ext>
            </a:extLst>
          </p:cNvPr>
          <p:cNvSpPr>
            <a:spLocks noGrp="1"/>
          </p:cNvSpPr>
          <p:nvPr>
            <p:ph type="sldNum" sz="quarter" idx="5"/>
          </p:nvPr>
        </p:nvSpPr>
        <p:spPr/>
      </p:sp>
    </p:spTree>
    <p:extLst>
      <p:ext uri="{BB962C8B-B14F-4D97-AF65-F5344CB8AC3E}">
        <p14:creationId xmlns:p14="http://schemas.microsoft.com/office/powerpoint/2010/main" val="3218412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sz="2500" dirty="0"/>
              <a:t>performance, but the </a:t>
            </a:r>
            <a:r>
              <a:rPr lang="da-DK" sz="2500" dirty="0" err="1"/>
              <a:t>mechanism</a:t>
            </a:r>
            <a:r>
              <a:rPr lang="da-DK" sz="2500" dirty="0"/>
              <a:t> is </a:t>
            </a:r>
            <a:r>
              <a:rPr lang="da-DK" sz="2500" dirty="0" err="1"/>
              <a:t>artifactual</a:t>
            </a:r>
            <a:endParaRPr lang="da-DK" sz="2500" dirty="0"/>
          </a:p>
          <a:p>
            <a:pPr lvl="1"/>
            <a:r>
              <a:rPr lang="da-DK" sz="2500" dirty="0" err="1"/>
              <a:t>Fixed</a:t>
            </a:r>
            <a:r>
              <a:rPr lang="da-DK" sz="2500" dirty="0"/>
              <a:t> </a:t>
            </a:r>
            <a:r>
              <a:rPr lang="da-DK" sz="2500" dirty="0" err="1"/>
              <a:t>kernel</a:t>
            </a:r>
            <a:r>
              <a:rPr lang="da-DK" sz="2500" dirty="0"/>
              <a:t> </a:t>
            </a:r>
            <a:r>
              <a:rPr lang="da-DK" sz="2500" dirty="0" err="1"/>
              <a:t>size</a:t>
            </a:r>
            <a:r>
              <a:rPr lang="da-DK" sz="2500" dirty="0"/>
              <a:t> </a:t>
            </a:r>
            <a:r>
              <a:rPr lang="da-DK" sz="2500" dirty="0" err="1"/>
              <a:t>applied</a:t>
            </a:r>
            <a:r>
              <a:rPr lang="da-DK" sz="2500" dirty="0"/>
              <a:t> to </a:t>
            </a:r>
            <a:r>
              <a:rPr lang="da-DK" sz="2500" dirty="0" err="1"/>
              <a:t>systematically</a:t>
            </a:r>
            <a:r>
              <a:rPr lang="da-DK" sz="2500" dirty="0"/>
              <a:t> </a:t>
            </a:r>
            <a:r>
              <a:rPr lang="da-DK" sz="2500" dirty="0" err="1"/>
              <a:t>different</a:t>
            </a:r>
            <a:r>
              <a:rPr lang="da-DK" sz="2500" dirty="0"/>
              <a:t> spatial </a:t>
            </a:r>
            <a:r>
              <a:rPr lang="da-DK" sz="2500" dirty="0" err="1"/>
              <a:t>scale</a:t>
            </a:r>
            <a:r>
              <a:rPr lang="da-DK" sz="2500" dirty="0"/>
              <a:t> </a:t>
            </a:r>
            <a:r>
              <a:rPr lang="da-DK" sz="2500" dirty="0" err="1"/>
              <a:t>amplified</a:t>
            </a:r>
            <a:r>
              <a:rPr lang="da-DK" sz="2500" dirty="0"/>
              <a:t> the resolution </a:t>
            </a:r>
            <a:r>
              <a:rPr lang="da-DK" sz="2500" dirty="0" err="1"/>
              <a:t>differnence</a:t>
            </a:r>
            <a:r>
              <a:rPr lang="da-DK" sz="2500" dirty="0"/>
              <a:t> </a:t>
            </a:r>
            <a:r>
              <a:rPr lang="da-DK" sz="2500" dirty="0" err="1"/>
              <a:t>between</a:t>
            </a:r>
            <a:r>
              <a:rPr lang="da-DK" sz="2500" dirty="0"/>
              <a:t> PMG and </a:t>
            </a:r>
            <a:r>
              <a:rPr lang="da-DK" sz="2500" dirty="0" err="1"/>
              <a:t>control</a:t>
            </a:r>
            <a:r>
              <a:rPr lang="da-DK" sz="2500" dirty="0"/>
              <a:t> </a:t>
            </a:r>
            <a:r>
              <a:rPr lang="da-DK" sz="2500" dirty="0" err="1"/>
              <a:t>cohorts</a:t>
            </a:r>
            <a:r>
              <a:rPr lang="da-DK" sz="2500" dirty="0"/>
              <a:t>. </a:t>
            </a:r>
            <a:r>
              <a:rPr lang="da-DK" sz="2500" dirty="0" err="1"/>
              <a:t>Making</a:t>
            </a:r>
            <a:r>
              <a:rPr lang="da-DK" sz="2500" dirty="0"/>
              <a:t> the </a:t>
            </a:r>
            <a:r>
              <a:rPr lang="da-DK" sz="2500" dirty="0" err="1"/>
              <a:t>texture</a:t>
            </a:r>
            <a:r>
              <a:rPr lang="da-DK" sz="2500" dirty="0"/>
              <a:t>, </a:t>
            </a:r>
            <a:r>
              <a:rPr lang="da-DK" sz="2500" dirty="0" err="1"/>
              <a:t>rather</a:t>
            </a:r>
            <a:r>
              <a:rPr lang="da-DK" sz="2500" dirty="0"/>
              <a:t> </a:t>
            </a:r>
            <a:r>
              <a:rPr lang="da-DK" sz="2500" dirty="0" err="1"/>
              <a:t>than</a:t>
            </a:r>
            <a:r>
              <a:rPr lang="da-DK" sz="2500" dirty="0"/>
              <a:t> </a:t>
            </a:r>
            <a:r>
              <a:rPr lang="da-DK" sz="2500" dirty="0" err="1"/>
              <a:t>cortical</a:t>
            </a:r>
            <a:r>
              <a:rPr lang="da-DK" sz="2500" dirty="0"/>
              <a:t> </a:t>
            </a:r>
            <a:r>
              <a:rPr lang="da-DK" sz="2500" dirty="0" err="1"/>
              <a:t>morphology</a:t>
            </a:r>
            <a:r>
              <a:rPr lang="da-DK" sz="2500" dirty="0"/>
              <a:t>, the </a:t>
            </a:r>
            <a:r>
              <a:rPr lang="da-DK" sz="2500" dirty="0" err="1"/>
              <a:t>primary</a:t>
            </a:r>
            <a:r>
              <a:rPr lang="da-DK" sz="2500" dirty="0"/>
              <a:t> </a:t>
            </a:r>
            <a:r>
              <a:rPr lang="da-DK" sz="2500" dirty="0" err="1"/>
              <a:t>discriminative</a:t>
            </a:r>
            <a:r>
              <a:rPr lang="da-DK" sz="2500" dirty="0"/>
              <a:t> signal.</a:t>
            </a:r>
          </a:p>
          <a:p>
            <a:pPr lvl="1"/>
            <a:r>
              <a:rPr lang="da-DK" sz="2500" dirty="0" err="1"/>
              <a:t>When</a:t>
            </a:r>
            <a:r>
              <a:rPr lang="da-DK" sz="2500" dirty="0"/>
              <a:t> </a:t>
            </a:r>
            <a:r>
              <a:rPr lang="da-DK" sz="2500" dirty="0" err="1"/>
              <a:t>methodological</a:t>
            </a:r>
            <a:r>
              <a:rPr lang="da-DK" sz="2500" dirty="0"/>
              <a:t> </a:t>
            </a:r>
            <a:r>
              <a:rPr lang="da-DK" sz="2500" dirty="0" err="1"/>
              <a:t>errors</a:t>
            </a:r>
            <a:r>
              <a:rPr lang="da-DK" sz="2500" dirty="0"/>
              <a:t> </a:t>
            </a:r>
            <a:r>
              <a:rPr lang="da-DK" sz="2500" dirty="0" err="1"/>
              <a:t>are</a:t>
            </a:r>
            <a:r>
              <a:rPr lang="da-DK" sz="2500" dirty="0"/>
              <a:t> </a:t>
            </a:r>
            <a:r>
              <a:rPr lang="da-DK" sz="2500" dirty="0" err="1"/>
              <a:t>corrected</a:t>
            </a:r>
            <a:r>
              <a:rPr lang="da-DK" sz="2500" dirty="0"/>
              <a:t>, performance drops </a:t>
            </a:r>
            <a:r>
              <a:rPr lang="da-DK" sz="2500" dirty="0" err="1"/>
              <a:t>substantially</a:t>
            </a:r>
            <a:r>
              <a:rPr lang="da-DK" sz="2500" dirty="0"/>
              <a:t>, </a:t>
            </a:r>
            <a:r>
              <a:rPr lang="da-DK" sz="2500" dirty="0" err="1"/>
              <a:t>consistant</a:t>
            </a:r>
            <a:r>
              <a:rPr lang="da-DK" sz="2500" dirty="0"/>
              <a:t> with a model </a:t>
            </a:r>
            <a:r>
              <a:rPr lang="da-DK" sz="2500" dirty="0" err="1"/>
              <a:t>relied</a:t>
            </a:r>
            <a:r>
              <a:rPr lang="da-DK" sz="2500" dirty="0"/>
              <a:t> on </a:t>
            </a:r>
            <a:r>
              <a:rPr lang="da-DK" sz="2500" dirty="0" err="1"/>
              <a:t>shortcut</a:t>
            </a:r>
            <a:r>
              <a:rPr lang="da-DK" sz="2500" dirty="0"/>
              <a:t> </a:t>
            </a:r>
            <a:r>
              <a:rPr lang="da-DK" sz="2500" dirty="0" err="1"/>
              <a:t>rather</a:t>
            </a:r>
            <a:r>
              <a:rPr lang="da-DK" sz="2500" dirty="0"/>
              <a:t> </a:t>
            </a:r>
            <a:r>
              <a:rPr lang="da-DK" sz="2500" dirty="0" err="1"/>
              <a:t>than</a:t>
            </a:r>
            <a:r>
              <a:rPr lang="da-DK" sz="2500" dirty="0"/>
              <a:t> </a:t>
            </a:r>
            <a:r>
              <a:rPr lang="da-DK" sz="2500" dirty="0" err="1"/>
              <a:t>genuinely</a:t>
            </a:r>
            <a:r>
              <a:rPr lang="da-DK" sz="2500" dirty="0"/>
              <a:t> </a:t>
            </a:r>
            <a:r>
              <a:rPr lang="da-DK" sz="2500" dirty="0" err="1"/>
              <a:t>learned</a:t>
            </a:r>
            <a:r>
              <a:rPr lang="da-DK" sz="2500" dirty="0"/>
              <a:t> features of the </a:t>
            </a:r>
            <a:r>
              <a:rPr lang="da-DK" sz="2500" dirty="0" err="1"/>
              <a:t>pathology</a:t>
            </a:r>
            <a:r>
              <a:rPr lang="da-DK" sz="2500" dirty="0"/>
              <a:t>.</a:t>
            </a:r>
          </a:p>
          <a:p>
            <a:pPr lvl="1"/>
            <a:r>
              <a:rPr lang="da-DK" sz="2500" dirty="0"/>
              <a:t>The ablation </a:t>
            </a:r>
            <a:r>
              <a:rPr lang="da-DK" sz="2500" dirty="0" err="1"/>
              <a:t>study</a:t>
            </a:r>
            <a:r>
              <a:rPr lang="da-DK" sz="2500" dirty="0"/>
              <a:t> supports </a:t>
            </a:r>
            <a:r>
              <a:rPr lang="da-DK" sz="2500" dirty="0" err="1"/>
              <a:t>this</a:t>
            </a:r>
            <a:r>
              <a:rPr lang="da-DK" sz="2500" dirty="0"/>
              <a:t>. </a:t>
            </a:r>
          </a:p>
          <a:p>
            <a:endParaRPr lang="da-DK" dirty="0"/>
          </a:p>
        </p:txBody>
      </p:sp>
      <p:sp>
        <p:nvSpPr>
          <p:cNvPr id="4" name="Pladsholder til slidenummer 3"/>
          <p:cNvSpPr>
            <a:spLocks noGrp="1"/>
          </p:cNvSpPr>
          <p:nvPr>
            <p:ph type="sldNum" sz="quarter" idx="5"/>
          </p:nvPr>
        </p:nvSpPr>
        <p:spPr/>
        <p:txBody>
          <a:bodyPr/>
          <a:lstStyle/>
          <a:p>
            <a:fld id="{49436F85-577F-4A92-A47F-D540A2BCC821}" type="slidenum">
              <a:rPr lang="en-GB" smtClean="0"/>
              <a:t>9</a:t>
            </a:fld>
            <a:endParaRPr lang="en-GB"/>
          </a:p>
        </p:txBody>
      </p:sp>
    </p:spTree>
    <p:extLst>
      <p:ext uri="{BB962C8B-B14F-4D97-AF65-F5344CB8AC3E}">
        <p14:creationId xmlns:p14="http://schemas.microsoft.com/office/powerpoint/2010/main" val="9745897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hyperlink" Target="http://www.designguide.ku.dk/skabeloner/powerpoint/praesentationer/" TargetMode="External"/><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hyperlink" Target="https://designguide.ku.dk/skabeloner/powerpoint/praesentationer/" TargetMode="External"/><Relationship Id="rId4" Type="http://schemas.openxmlformats.org/officeDocument/2006/relationships/hyperlink" Target="https://image.ku.dk/shared/aZwD18034DnM3TYEw9XagEF6kxI6MLkV" TargetMode="External"/><Relationship Id="rId9"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eal small">
    <p:spTree>
      <p:nvGrpSpPr>
        <p:cNvPr id="1" name=""/>
        <p:cNvGrpSpPr/>
        <p:nvPr/>
      </p:nvGrpSpPr>
      <p:grpSpPr>
        <a:xfrm>
          <a:off x="0" y="0"/>
          <a:ext cx="0" cy="0"/>
          <a:chOff x="0" y="0"/>
          <a:chExt cx="0" cy="0"/>
        </a:xfrm>
      </p:grpSpPr>
      <p:sp>
        <p:nvSpPr>
          <p:cNvPr id="11" name="Rectangle 7"/>
          <p:cNvSpPr/>
          <p:nvPr userDrawn="1"/>
        </p:nvSpPr>
        <p:spPr>
          <a:xfrm>
            <a:off x="0" y="0"/>
            <a:ext cx="12198350" cy="6858000"/>
          </a:xfrm>
          <a:prstGeom prst="rect">
            <a:avLst/>
          </a:prstGeom>
          <a:gradFill flip="none" rotWithShape="1">
            <a:gsLst>
              <a:gs pos="0">
                <a:srgbClr val="DDDDDD"/>
              </a:gs>
              <a:gs pos="100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661"/>
          <a:stretch/>
        </p:blipFill>
        <p:spPr>
          <a:xfrm>
            <a:off x="1733575" y="-6016"/>
            <a:ext cx="10465859" cy="6858000"/>
          </a:xfrm>
          <a:prstGeom prst="rect">
            <a:avLst/>
          </a:prstGeom>
        </p:spPr>
      </p:pic>
      <p:sp>
        <p:nvSpPr>
          <p:cNvPr id="20" name="Titel 2">
            <a:extLst>
              <a:ext uri="{FF2B5EF4-FFF2-40B4-BE49-F238E27FC236}">
                <a16:creationId xmlns:a16="http://schemas.microsoft.com/office/drawing/2014/main" id="{916BA171-A8D6-BD97-B474-75F02EF18BA1}"/>
              </a:ext>
            </a:extLst>
          </p:cNvPr>
          <p:cNvSpPr>
            <a:spLocks noGrp="1"/>
          </p:cNvSpPr>
          <p:nvPr>
            <p:ph type="ctrTitle"/>
          </p:nvPr>
        </p:nvSpPr>
        <p:spPr>
          <a:xfrm>
            <a:off x="0" y="2271092"/>
            <a:ext cx="5959476" cy="3895200"/>
          </a:xfrm>
          <a:blipFill>
            <a:blip r:embed="rId3"/>
            <a:stretch>
              <a:fillRect/>
            </a:stretch>
          </a:blipFill>
        </p:spPr>
        <p:txBody>
          <a:bodyPr lIns="540000" tIns="468000" rIns="360000" bIns="2340000" anchor="b" anchorCtr="0">
            <a:noAutofit/>
          </a:bodyPr>
          <a:lstStyle>
            <a:lvl1pPr algn="l">
              <a:lnSpc>
                <a:spcPts val="4000"/>
              </a:lnSpc>
              <a:defRPr sz="3600">
                <a:solidFill>
                  <a:schemeClr val="bg1"/>
                </a:solidFill>
              </a:defRPr>
            </a:lvl1pPr>
          </a:lstStyle>
          <a:p>
            <a:r>
              <a:rPr lang="da-DK"/>
              <a:t>Klik for at redigere titeltypografien i masteren</a:t>
            </a:r>
            <a:endParaRPr lang="en-GB" dirty="0"/>
          </a:p>
        </p:txBody>
      </p:sp>
      <p:sp>
        <p:nvSpPr>
          <p:cNvPr id="10" name="Titel 1"/>
          <p:cNvSpPr>
            <a:spLocks noGrp="1"/>
          </p:cNvSpPr>
          <p:nvPr>
            <p:ph type="body" sz="quarter" idx="14" hasCustomPrompt="1"/>
          </p:nvPr>
        </p:nvSpPr>
        <p:spPr>
          <a:xfrm>
            <a:off x="587375" y="2610941"/>
            <a:ext cx="4946649" cy="1109335"/>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15" name="Pladsholder til tekst 14"/>
          <p:cNvSpPr>
            <a:spLocks noGrp="1"/>
          </p:cNvSpPr>
          <p:nvPr>
            <p:ph type="body" sz="quarter" idx="13" hasCustomPrompt="1"/>
          </p:nvPr>
        </p:nvSpPr>
        <p:spPr>
          <a:xfrm>
            <a:off x="588963" y="4053600"/>
            <a:ext cx="4946649"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br>
              <a:rPr lang="en-GB" dirty="0"/>
            </a:br>
            <a:endParaRPr lang="en-GB" dirty="0"/>
          </a:p>
        </p:txBody>
      </p:sp>
      <p:sp>
        <p:nvSpPr>
          <p:cNvPr id="4" name="Pladsholder til dato 3" hidden="1"/>
          <p:cNvSpPr>
            <a:spLocks noGrp="1"/>
          </p:cNvSpPr>
          <p:nvPr>
            <p:ph type="dt" sz="half" idx="10"/>
          </p:nvPr>
        </p:nvSpPr>
        <p:spPr>
          <a:xfrm>
            <a:off x="0" y="6858000"/>
            <a:ext cx="0" cy="0"/>
          </a:xfrm>
        </p:spPr>
        <p:txBody>
          <a:bodyPr/>
          <a:lstStyle>
            <a:lvl1pPr>
              <a:defRPr sz="100">
                <a:noFill/>
              </a:defRPr>
            </a:lvl1pPr>
          </a:lstStyle>
          <a:p>
            <a:fld id="{664F7F37-C978-4070-A8C9-9984E7C2ABE6}" type="datetime1">
              <a:rPr lang="en-GB" smtClean="0"/>
              <a:t>09/06/2026</a:t>
            </a:fld>
            <a:endParaRPr lang="en-GB" dirty="0"/>
          </a:p>
        </p:txBody>
      </p:sp>
      <p:sp>
        <p:nvSpPr>
          <p:cNvPr id="5" name="Pladsholder til sidefod 4" hidden="1"/>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6" name="Pladsholder til slidenummer 5" hidden="1"/>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‹nr.›</a:t>
            </a:fld>
            <a:endParaRPr lang="en-GB" dirty="0"/>
          </a:p>
        </p:txBody>
      </p:sp>
    </p:spTree>
    <p:extLst>
      <p:ext uri="{BB962C8B-B14F-4D97-AF65-F5344CB8AC3E}">
        <p14:creationId xmlns:p14="http://schemas.microsoft.com/office/powerpoint/2010/main" val="1690682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eal large">
    <p:spTree>
      <p:nvGrpSpPr>
        <p:cNvPr id="1" name=""/>
        <p:cNvGrpSpPr/>
        <p:nvPr/>
      </p:nvGrpSpPr>
      <p:grpSpPr>
        <a:xfrm>
          <a:off x="0" y="0"/>
          <a:ext cx="0" cy="0"/>
          <a:chOff x="0" y="0"/>
          <a:chExt cx="0" cy="0"/>
        </a:xfrm>
      </p:grpSpPr>
      <p:sp>
        <p:nvSpPr>
          <p:cNvPr id="8" name="Rectangle 7"/>
          <p:cNvSpPr/>
          <p:nvPr userDrawn="1"/>
        </p:nvSpPr>
        <p:spPr>
          <a:xfrm>
            <a:off x="0" y="0"/>
            <a:ext cx="12198350" cy="6858000"/>
          </a:xfrm>
          <a:prstGeom prst="rect">
            <a:avLst/>
          </a:prstGeom>
          <a:gradFill flip="none" rotWithShape="1">
            <a:gsLst>
              <a:gs pos="0">
                <a:srgbClr val="DDDDDD"/>
              </a:gs>
              <a:gs pos="100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pic>
        <p:nvPicPr>
          <p:cNvPr id="7"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661"/>
          <a:stretch/>
        </p:blipFill>
        <p:spPr>
          <a:xfrm>
            <a:off x="1733575" y="-6016"/>
            <a:ext cx="10465859" cy="6858000"/>
          </a:xfrm>
          <a:prstGeom prst="rect">
            <a:avLst/>
          </a:prstGeom>
        </p:spPr>
      </p:pic>
      <p:sp>
        <p:nvSpPr>
          <p:cNvPr id="11" name="Titel 2">
            <a:extLst>
              <a:ext uri="{FF2B5EF4-FFF2-40B4-BE49-F238E27FC236}">
                <a16:creationId xmlns:a16="http://schemas.microsoft.com/office/drawing/2014/main" id="{F3CC8A4E-DD42-3359-871D-736513372237}"/>
              </a:ext>
            </a:extLst>
          </p:cNvPr>
          <p:cNvSpPr>
            <a:spLocks noGrp="1"/>
          </p:cNvSpPr>
          <p:nvPr>
            <p:ph type="ctrTitle" hasCustomPrompt="1"/>
          </p:nvPr>
        </p:nvSpPr>
        <p:spPr>
          <a:xfrm>
            <a:off x="0" y="691815"/>
            <a:ext cx="5959476" cy="5474035"/>
          </a:xfrm>
          <a:blipFill>
            <a:blip r:embed="rId3"/>
            <a:stretch>
              <a:fillRect/>
            </a:stretch>
          </a:blipFill>
        </p:spPr>
        <p:txBody>
          <a:bodyPr lIns="540000" tIns="468000" rIns="360000" bIns="3384000" anchor="b" anchorCtr="0">
            <a:noAutofit/>
          </a:bodyPr>
          <a:lstStyle>
            <a:lvl1pPr algn="l">
              <a:lnSpc>
                <a:spcPct val="900000"/>
              </a:lnSpc>
              <a:defRPr sz="3600">
                <a:solidFill>
                  <a:schemeClr val="bg1"/>
                </a:solidFill>
              </a:defRPr>
            </a:lvl1pPr>
          </a:lstStyle>
          <a:p>
            <a:r>
              <a:rPr lang="en-GB" dirty="0"/>
              <a:t>master</a:t>
            </a:r>
          </a:p>
        </p:txBody>
      </p:sp>
      <p:sp>
        <p:nvSpPr>
          <p:cNvPr id="12" name="Titel 1"/>
          <p:cNvSpPr>
            <a:spLocks noGrp="1"/>
          </p:cNvSpPr>
          <p:nvPr>
            <p:ph type="body" sz="quarter" idx="14" hasCustomPrompt="1"/>
          </p:nvPr>
        </p:nvSpPr>
        <p:spPr>
          <a:xfrm>
            <a:off x="587375" y="1020200"/>
            <a:ext cx="4946649" cy="1345417"/>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37" name="Undertitel 2"/>
          <p:cNvSpPr>
            <a:spLocks noGrp="1"/>
          </p:cNvSpPr>
          <p:nvPr>
            <p:ph type="subTitle" idx="1" hasCustomPrompt="1"/>
          </p:nvPr>
        </p:nvSpPr>
        <p:spPr>
          <a:xfrm>
            <a:off x="588964" y="3007285"/>
            <a:ext cx="4946648" cy="726435"/>
          </a:xfrm>
        </p:spPr>
        <p:txBody>
          <a:bodyPr rIns="0">
            <a:noAutofit/>
          </a:bodyPr>
          <a:lstStyle>
            <a:lvl1pPr marL="0" indent="0" algn="l">
              <a:lnSpc>
                <a:spcPct val="100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
        <p:nvSpPr>
          <p:cNvPr id="38" name="Pladsholder til tekst 14"/>
          <p:cNvSpPr>
            <a:spLocks noGrp="1"/>
          </p:cNvSpPr>
          <p:nvPr>
            <p:ph type="body" sz="quarter" idx="13" hasCustomPrompt="1"/>
          </p:nvPr>
        </p:nvSpPr>
        <p:spPr>
          <a:xfrm>
            <a:off x="588963" y="4053600"/>
            <a:ext cx="4946649"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p>
        </p:txBody>
      </p:sp>
      <p:sp>
        <p:nvSpPr>
          <p:cNvPr id="4" name="Pladsholder til dato 3" hidden="1"/>
          <p:cNvSpPr>
            <a:spLocks noGrp="1"/>
          </p:cNvSpPr>
          <p:nvPr>
            <p:ph type="dt" sz="half" idx="10"/>
          </p:nvPr>
        </p:nvSpPr>
        <p:spPr>
          <a:xfrm>
            <a:off x="0" y="6858000"/>
            <a:ext cx="0" cy="0"/>
          </a:xfrm>
        </p:spPr>
        <p:txBody>
          <a:bodyPr/>
          <a:lstStyle>
            <a:lvl1pPr>
              <a:defRPr sz="100">
                <a:noFill/>
              </a:defRPr>
            </a:lvl1pPr>
          </a:lstStyle>
          <a:p>
            <a:fld id="{41282B6A-0E05-4999-B083-B58431580830}" type="datetime1">
              <a:rPr lang="en-GB" smtClean="0"/>
              <a:t>09/06/2026</a:t>
            </a:fld>
            <a:endParaRPr lang="en-GB" dirty="0"/>
          </a:p>
        </p:txBody>
      </p:sp>
      <p:sp>
        <p:nvSpPr>
          <p:cNvPr id="5" name="Pladsholder til sidefod 4" hidden="1"/>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6" name="Pladsholder til slidenummer 5" hidden="1"/>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‹nr.›</a:t>
            </a:fld>
            <a:endParaRPr lang="en-GB" dirty="0"/>
          </a:p>
        </p:txBody>
      </p:sp>
    </p:spTree>
    <p:extLst>
      <p:ext uri="{BB962C8B-B14F-4D97-AF65-F5344CB8AC3E}">
        <p14:creationId xmlns:p14="http://schemas.microsoft.com/office/powerpoint/2010/main" val="4281795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image small righ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12192000" cy="6858000"/>
          </a:xfrm>
          <a:blipFill>
            <a:blip r:embed="rId2"/>
            <a:stretch>
              <a:fillRect/>
            </a:stretch>
          </a:blipFill>
        </p:spPr>
        <p:txBody>
          <a:bodyPr lIns="1080000" tIns="0" rIns="6408000" anchor="ctr" anchorCtr="0"/>
          <a:lstStyle>
            <a:lvl1pPr marL="0" indent="0" algn="r">
              <a:buNone/>
              <a:defRPr sz="2400" b="1" i="0" baseline="0">
                <a:solidFill>
                  <a:schemeClr val="bg1"/>
                </a:solidFill>
                <a:sym typeface="Wingdings" panose="05000000000000000000" pitchFamily="2" charset="2"/>
              </a:defRPr>
            </a:lvl1pPr>
          </a:lstStyle>
          <a:p>
            <a:r>
              <a:rPr lang="en-GB" dirty="0"/>
              <a:t>Click icon to insert image  </a:t>
            </a:r>
          </a:p>
        </p:txBody>
      </p:sp>
      <p:sp>
        <p:nvSpPr>
          <p:cNvPr id="11" name="Titel 2">
            <a:extLst>
              <a:ext uri="{FF2B5EF4-FFF2-40B4-BE49-F238E27FC236}">
                <a16:creationId xmlns:a16="http://schemas.microsoft.com/office/drawing/2014/main" id="{A35AA5B6-111C-4735-AFC4-EBC2CB1BF4A3}"/>
              </a:ext>
            </a:extLst>
          </p:cNvPr>
          <p:cNvSpPr>
            <a:spLocks noGrp="1"/>
          </p:cNvSpPr>
          <p:nvPr>
            <p:ph type="ctrTitle"/>
          </p:nvPr>
        </p:nvSpPr>
        <p:spPr>
          <a:xfrm>
            <a:off x="6243638" y="2271092"/>
            <a:ext cx="5948362" cy="3895200"/>
          </a:xfrm>
          <a:blipFill>
            <a:blip r:embed="rId3"/>
            <a:stretch>
              <a:fillRect/>
            </a:stretch>
          </a:blipFill>
        </p:spPr>
        <p:txBody>
          <a:bodyPr lIns="360000" tIns="468000" rIns="540000" bIns="2448000" anchor="b" anchorCtr="0">
            <a:noAutofit/>
          </a:bodyPr>
          <a:lstStyle>
            <a:lvl1pPr algn="l">
              <a:lnSpc>
                <a:spcPts val="4000"/>
              </a:lnSpc>
              <a:defRPr sz="3600">
                <a:solidFill>
                  <a:schemeClr val="bg1"/>
                </a:solidFill>
              </a:defRPr>
            </a:lvl1pPr>
          </a:lstStyle>
          <a:p>
            <a:r>
              <a:rPr lang="da-DK"/>
              <a:t>Klik for at redigere titeltypografien i masteren</a:t>
            </a:r>
            <a:endParaRPr lang="en-GB" dirty="0"/>
          </a:p>
        </p:txBody>
      </p:sp>
      <p:sp>
        <p:nvSpPr>
          <p:cNvPr id="10" name="Titel 1"/>
          <p:cNvSpPr>
            <a:spLocks noGrp="1"/>
          </p:cNvSpPr>
          <p:nvPr>
            <p:ph type="body" sz="quarter" idx="15" hasCustomPrompt="1"/>
          </p:nvPr>
        </p:nvSpPr>
        <p:spPr>
          <a:xfrm>
            <a:off x="6622258" y="2610941"/>
            <a:ext cx="4962920" cy="1109335"/>
          </a:xfrm>
        </p:spPr>
        <p:txBody>
          <a:bodyPr rIns="0">
            <a:noAutofit/>
          </a:bodyPr>
          <a:lstStyle>
            <a:lvl1pPr marL="0" indent="0">
              <a:lnSpc>
                <a:spcPct val="100000"/>
              </a:lnSpc>
              <a:spcBef>
                <a:spcPts val="0"/>
              </a:spcBef>
              <a:buNone/>
              <a:defRPr sz="3600" b="0" i="0" baseline="0">
                <a:solidFill>
                  <a:schemeClr val="accent1"/>
                </a:solidFill>
                <a:latin typeface="+mj-lt"/>
              </a:defRPr>
            </a:lvl1pPr>
          </a:lstStyle>
          <a:p>
            <a:pPr lvl="0"/>
            <a:r>
              <a:rPr lang="en-GB" dirty="0"/>
              <a:t>Click to add title</a:t>
            </a:r>
          </a:p>
        </p:txBody>
      </p:sp>
      <p:sp>
        <p:nvSpPr>
          <p:cNvPr id="9" name="Pladsholder til tekst 14"/>
          <p:cNvSpPr>
            <a:spLocks noGrp="1"/>
          </p:cNvSpPr>
          <p:nvPr>
            <p:ph type="body" sz="quarter" idx="13" hasCustomPrompt="1"/>
          </p:nvPr>
        </p:nvSpPr>
        <p:spPr>
          <a:xfrm>
            <a:off x="6622257" y="4053600"/>
            <a:ext cx="4979193" cy="899766"/>
          </a:xfrm>
        </p:spPr>
        <p:txBody>
          <a:bodyPr r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b="0" i="0" baseline="0"/>
            </a:lvl1pPr>
          </a:lstStyle>
          <a:p>
            <a:pPr lvl="0"/>
            <a:r>
              <a:rPr lang="en-GB" dirty="0"/>
              <a:t>Name of speaker, UCPH unit, place and date</a:t>
            </a:r>
          </a:p>
        </p:txBody>
      </p:sp>
      <p:sp>
        <p:nvSpPr>
          <p:cNvPr id="4" name="Pladsholder til dato 3"/>
          <p:cNvSpPr>
            <a:spLocks noGrp="1"/>
          </p:cNvSpPr>
          <p:nvPr>
            <p:ph type="dt" sz="half" idx="10"/>
          </p:nvPr>
        </p:nvSpPr>
        <p:spPr>
          <a:xfrm>
            <a:off x="0" y="6858000"/>
            <a:ext cx="0" cy="0"/>
          </a:xfrm>
        </p:spPr>
        <p:txBody>
          <a:bodyPr/>
          <a:lstStyle>
            <a:lvl1pPr>
              <a:defRPr sz="100">
                <a:noFill/>
              </a:defRPr>
            </a:lvl1pPr>
          </a:lstStyle>
          <a:p>
            <a:fld id="{3ECB2203-00D5-4F87-8F9D-D0B17AC42B67}" type="datetime1">
              <a:rPr lang="en-GB" smtClean="0"/>
              <a:t>09/06/2026</a:t>
            </a:fld>
            <a:endParaRPr lang="en-GB" dirty="0"/>
          </a:p>
        </p:txBody>
      </p:sp>
      <p:sp>
        <p:nvSpPr>
          <p:cNvPr id="5" name="Pladsholder til sidefod 4"/>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6" name="Pladsholder til slidenummer 5"/>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‹nr.›</a:t>
            </a:fld>
            <a:endParaRPr lang="en-GB" dirty="0"/>
          </a:p>
        </p:txBody>
      </p:sp>
    </p:spTree>
    <p:extLst>
      <p:ext uri="{BB962C8B-B14F-4D97-AF65-F5344CB8AC3E}">
        <p14:creationId xmlns:p14="http://schemas.microsoft.com/office/powerpoint/2010/main" val="629679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image large righ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12192000" cy="6858000"/>
          </a:xfrm>
          <a:blipFill>
            <a:blip r:embed="rId2"/>
            <a:stretch>
              <a:fillRect/>
            </a:stretch>
          </a:blipFill>
        </p:spPr>
        <p:txBody>
          <a:bodyPr lIns="1080000" tIns="0" rIns="6408000" anchor="ctr" anchorCtr="0"/>
          <a:lstStyle>
            <a:lvl1pPr marL="0" indent="0" algn="r">
              <a:buNone/>
              <a:defRPr sz="2400" b="1" i="0" baseline="0">
                <a:solidFill>
                  <a:schemeClr val="bg1"/>
                </a:solidFill>
                <a:sym typeface="Wingdings" panose="05000000000000000000" pitchFamily="2" charset="2"/>
              </a:defRPr>
            </a:lvl1pPr>
          </a:lstStyle>
          <a:p>
            <a:r>
              <a:rPr lang="en-GB" dirty="0"/>
              <a:t>Click icon to insert image   </a:t>
            </a:r>
          </a:p>
        </p:txBody>
      </p:sp>
      <p:sp>
        <p:nvSpPr>
          <p:cNvPr id="17" name="Titel 2">
            <a:extLst>
              <a:ext uri="{FF2B5EF4-FFF2-40B4-BE49-F238E27FC236}">
                <a16:creationId xmlns:a16="http://schemas.microsoft.com/office/drawing/2014/main" id="{5841F5BD-07B0-188F-6A65-1A9CB9107526}"/>
              </a:ext>
            </a:extLst>
          </p:cNvPr>
          <p:cNvSpPr>
            <a:spLocks noGrp="1"/>
          </p:cNvSpPr>
          <p:nvPr>
            <p:ph type="ctrTitle" hasCustomPrompt="1"/>
          </p:nvPr>
        </p:nvSpPr>
        <p:spPr>
          <a:xfrm>
            <a:off x="6243638" y="691815"/>
            <a:ext cx="5948362" cy="5474035"/>
          </a:xfrm>
          <a:blipFill>
            <a:blip r:embed="rId3"/>
            <a:stretch>
              <a:fillRect/>
            </a:stretch>
          </a:blipFill>
        </p:spPr>
        <p:txBody>
          <a:bodyPr lIns="360000" tIns="468000" rIns="540000" bIns="3384000" anchor="b" anchorCtr="0">
            <a:noAutofit/>
          </a:bodyPr>
          <a:lstStyle>
            <a:lvl1pPr algn="l">
              <a:lnSpc>
                <a:spcPts val="4000"/>
              </a:lnSpc>
              <a:defRPr sz="3600">
                <a:solidFill>
                  <a:schemeClr val="bg1"/>
                </a:solidFill>
              </a:defRPr>
            </a:lvl1pPr>
          </a:lstStyle>
          <a:p>
            <a:r>
              <a:rPr lang="en-GB" dirty="0"/>
              <a:t>master</a:t>
            </a:r>
          </a:p>
        </p:txBody>
      </p:sp>
      <p:sp>
        <p:nvSpPr>
          <p:cNvPr id="12" name="Pladsholder til tekst 14">
            <a:extLst>
              <a:ext uri="{FF2B5EF4-FFF2-40B4-BE49-F238E27FC236}">
                <a16:creationId xmlns:a16="http://schemas.microsoft.com/office/drawing/2014/main" id="{7AF680B5-5F7B-7C42-BF08-E9B604FEDFF4}"/>
              </a:ext>
            </a:extLst>
          </p:cNvPr>
          <p:cNvSpPr>
            <a:spLocks noGrp="1"/>
          </p:cNvSpPr>
          <p:nvPr>
            <p:ph type="body" sz="quarter" idx="13" hasCustomPrompt="1"/>
          </p:nvPr>
        </p:nvSpPr>
        <p:spPr>
          <a:xfrm>
            <a:off x="6622257" y="4053600"/>
            <a:ext cx="4979193" cy="899766"/>
          </a:xfrm>
        </p:spPr>
        <p:txBody>
          <a:bodyPr rIns="0">
            <a:noAutofit/>
          </a:bodyPr>
          <a:lstStyle>
            <a:lvl1pPr marL="0" indent="0">
              <a:spcBef>
                <a:spcPts val="0"/>
              </a:spcBef>
              <a:buNone/>
              <a:defRPr sz="1800" b="0" i="0" baseline="0"/>
            </a:lvl1pPr>
          </a:lstStyle>
          <a:p>
            <a:pPr lvl="0"/>
            <a:r>
              <a:rPr lang="en-GB" dirty="0"/>
              <a:t>Name of speaker, UCPH unit, place and date</a:t>
            </a:r>
          </a:p>
        </p:txBody>
      </p:sp>
      <p:sp>
        <p:nvSpPr>
          <p:cNvPr id="13" name="Undertitel 2">
            <a:extLst>
              <a:ext uri="{FF2B5EF4-FFF2-40B4-BE49-F238E27FC236}">
                <a16:creationId xmlns:a16="http://schemas.microsoft.com/office/drawing/2014/main" id="{E8639E81-1331-644F-9855-3A9C253754AE}"/>
              </a:ext>
            </a:extLst>
          </p:cNvPr>
          <p:cNvSpPr>
            <a:spLocks noGrp="1"/>
          </p:cNvSpPr>
          <p:nvPr>
            <p:ph type="subTitle" idx="1" hasCustomPrompt="1"/>
          </p:nvPr>
        </p:nvSpPr>
        <p:spPr>
          <a:xfrm>
            <a:off x="6622257" y="3007285"/>
            <a:ext cx="4979193" cy="726435"/>
          </a:xfrm>
        </p:spPr>
        <p:txBody>
          <a:bodyPr>
            <a:noAutofit/>
          </a:bodyPr>
          <a:lstStyle>
            <a:lvl1pPr marL="0" indent="0" algn="l">
              <a:lnSpc>
                <a:spcPct val="100000"/>
              </a:lnSpc>
              <a:buNone/>
              <a:defRPr sz="24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
        <p:nvSpPr>
          <p:cNvPr id="14" name="Titel 1">
            <a:extLst>
              <a:ext uri="{FF2B5EF4-FFF2-40B4-BE49-F238E27FC236}">
                <a16:creationId xmlns:a16="http://schemas.microsoft.com/office/drawing/2014/main" id="{B7A6A120-00EE-3144-9AB3-0695A4240B49}"/>
              </a:ext>
            </a:extLst>
          </p:cNvPr>
          <p:cNvSpPr>
            <a:spLocks noGrp="1"/>
          </p:cNvSpPr>
          <p:nvPr>
            <p:ph type="body" sz="quarter" idx="15" hasCustomPrompt="1"/>
          </p:nvPr>
        </p:nvSpPr>
        <p:spPr>
          <a:xfrm>
            <a:off x="6622257" y="1020200"/>
            <a:ext cx="4977606" cy="1345417"/>
          </a:xfrm>
        </p:spPr>
        <p:txBody>
          <a:bodyPr rIns="0">
            <a:noAutofit/>
          </a:bodyPr>
          <a:lstStyle>
            <a:lvl1pPr marL="0" indent="0">
              <a:lnSpc>
                <a:spcPct val="100000"/>
              </a:lnSpc>
              <a:spcBef>
                <a:spcPts val="0"/>
              </a:spcBef>
              <a:buNone/>
              <a:defRPr sz="3600" b="0" i="0" baseline="0">
                <a:solidFill>
                  <a:schemeClr val="accent1"/>
                </a:solidFill>
                <a:latin typeface="+mj-lt"/>
              </a:defRPr>
            </a:lvl1pPr>
          </a:lstStyle>
          <a:p>
            <a:pPr lvl="0"/>
            <a:r>
              <a:rPr lang="en-GB" dirty="0"/>
              <a:t>Click to add title</a:t>
            </a:r>
          </a:p>
        </p:txBody>
      </p:sp>
      <p:sp>
        <p:nvSpPr>
          <p:cNvPr id="10" name="Pladsholder til dato 3" hidden="1">
            <a:extLst>
              <a:ext uri="{FF2B5EF4-FFF2-40B4-BE49-F238E27FC236}">
                <a16:creationId xmlns:a16="http://schemas.microsoft.com/office/drawing/2014/main" id="{5D6F800E-E8DB-D1E9-A292-CDCB828E80AD}"/>
              </a:ext>
            </a:extLst>
          </p:cNvPr>
          <p:cNvSpPr>
            <a:spLocks noGrp="1"/>
          </p:cNvSpPr>
          <p:nvPr>
            <p:ph type="dt" sz="half" idx="10"/>
          </p:nvPr>
        </p:nvSpPr>
        <p:spPr>
          <a:xfrm>
            <a:off x="0" y="6858000"/>
            <a:ext cx="0" cy="0"/>
          </a:xfrm>
        </p:spPr>
        <p:txBody>
          <a:bodyPr/>
          <a:lstStyle>
            <a:lvl1pPr>
              <a:defRPr sz="100">
                <a:noFill/>
              </a:defRPr>
            </a:lvl1pPr>
          </a:lstStyle>
          <a:p>
            <a:fld id="{D700EDC7-A33F-4ACB-87EF-882B537199F0}" type="datetime1">
              <a:rPr lang="en-GB" smtClean="0"/>
              <a:t>09/06/2026</a:t>
            </a:fld>
            <a:endParaRPr lang="en-GB" dirty="0"/>
          </a:p>
        </p:txBody>
      </p:sp>
      <p:sp>
        <p:nvSpPr>
          <p:cNvPr id="15" name="Pladsholder til sidefod 4" hidden="1">
            <a:extLst>
              <a:ext uri="{FF2B5EF4-FFF2-40B4-BE49-F238E27FC236}">
                <a16:creationId xmlns:a16="http://schemas.microsoft.com/office/drawing/2014/main" id="{75F96715-1FD5-51ED-7CC1-42E30D0821E3}"/>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16" name="Pladsholder til slidenummer 5" hidden="1">
            <a:extLst>
              <a:ext uri="{FF2B5EF4-FFF2-40B4-BE49-F238E27FC236}">
                <a16:creationId xmlns:a16="http://schemas.microsoft.com/office/drawing/2014/main" id="{FF7B57F8-B201-8F25-4597-86F1EE0AFA0C}"/>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‹nr.›</a:t>
            </a:fld>
            <a:endParaRPr lang="en-GB" dirty="0"/>
          </a:p>
        </p:txBody>
      </p:sp>
    </p:spTree>
    <p:extLst>
      <p:ext uri="{BB962C8B-B14F-4D97-AF65-F5344CB8AC3E}">
        <p14:creationId xmlns:p14="http://schemas.microsoft.com/office/powerpoint/2010/main" val="1709872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image small lef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12192000" cy="6858000"/>
          </a:xfrm>
          <a:solidFill>
            <a:schemeClr val="bg1">
              <a:lumMod val="75000"/>
            </a:schemeClr>
          </a:solidFill>
        </p:spPr>
        <p:txBody>
          <a:bodyPr lIns="6408000" tIns="0" rIns="720000" anchor="ctr" anchorCtr="0"/>
          <a:lstStyle>
            <a:lvl1pPr marL="0" indent="0" algn="l" defTabSz="914400" rtl="0" eaLnBrk="1" latinLnBrk="0" hangingPunct="1">
              <a:lnSpc>
                <a:spcPct val="100000"/>
              </a:lnSpc>
              <a:spcBef>
                <a:spcPts val="1000"/>
              </a:spcBef>
              <a:buFont typeface="Arial" panose="020B0604020202020204" pitchFamily="34" charset="0"/>
              <a:buNone/>
              <a:defRPr lang="da-DK" sz="2400" kern="1200" baseline="0" dirty="0">
                <a:solidFill>
                  <a:schemeClr val="bg1"/>
                </a:solidFill>
                <a:latin typeface="+mn-lt"/>
                <a:ea typeface="+mn-ea"/>
                <a:cs typeface="+mn-cs"/>
                <a:sym typeface="Wingdings" panose="05000000000000000000" pitchFamily="2" charset="2"/>
              </a:defRPr>
            </a:lvl1pPr>
          </a:lstStyle>
          <a:p>
            <a:r>
              <a:rPr lang="en-GB" dirty="0"/>
              <a:t> Click icon to insert image</a:t>
            </a:r>
          </a:p>
        </p:txBody>
      </p:sp>
      <p:sp>
        <p:nvSpPr>
          <p:cNvPr id="13" name="Titel 2">
            <a:extLst>
              <a:ext uri="{FF2B5EF4-FFF2-40B4-BE49-F238E27FC236}">
                <a16:creationId xmlns:a16="http://schemas.microsoft.com/office/drawing/2014/main" id="{A98E7E85-8DE3-687D-4837-DB9872BFCE68}"/>
              </a:ext>
            </a:extLst>
          </p:cNvPr>
          <p:cNvSpPr>
            <a:spLocks noGrp="1"/>
          </p:cNvSpPr>
          <p:nvPr>
            <p:ph type="ctrTitle"/>
          </p:nvPr>
        </p:nvSpPr>
        <p:spPr>
          <a:xfrm>
            <a:off x="0" y="2271092"/>
            <a:ext cx="5959476" cy="3895200"/>
          </a:xfrm>
          <a:blipFill>
            <a:blip r:embed="rId2"/>
            <a:stretch>
              <a:fillRect/>
            </a:stretch>
          </a:blipFill>
        </p:spPr>
        <p:txBody>
          <a:bodyPr lIns="540000" tIns="468000" rIns="360000" bIns="2340000" anchor="b" anchorCtr="0">
            <a:noAutofit/>
          </a:bodyPr>
          <a:lstStyle>
            <a:lvl1pPr algn="l">
              <a:lnSpc>
                <a:spcPts val="4000"/>
              </a:lnSpc>
              <a:defRPr sz="3600">
                <a:solidFill>
                  <a:schemeClr val="bg1"/>
                </a:solidFill>
              </a:defRPr>
            </a:lvl1pPr>
          </a:lstStyle>
          <a:p>
            <a:r>
              <a:rPr lang="da-DK"/>
              <a:t>Klik for at redigere titeltypografien i masteren</a:t>
            </a:r>
            <a:endParaRPr lang="en-GB" dirty="0"/>
          </a:p>
        </p:txBody>
      </p:sp>
      <p:sp>
        <p:nvSpPr>
          <p:cNvPr id="9" name="Titel 1"/>
          <p:cNvSpPr>
            <a:spLocks noGrp="1"/>
          </p:cNvSpPr>
          <p:nvPr>
            <p:ph type="body" sz="quarter" idx="15" hasCustomPrompt="1"/>
          </p:nvPr>
        </p:nvSpPr>
        <p:spPr>
          <a:xfrm>
            <a:off x="587375" y="2610941"/>
            <a:ext cx="4946649" cy="1109335"/>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26" name="Pladsholder til tekst 14"/>
          <p:cNvSpPr>
            <a:spLocks noGrp="1"/>
          </p:cNvSpPr>
          <p:nvPr>
            <p:ph type="body" sz="quarter" idx="13" hasCustomPrompt="1"/>
          </p:nvPr>
        </p:nvSpPr>
        <p:spPr>
          <a:xfrm>
            <a:off x="588963" y="4042705"/>
            <a:ext cx="4983162" cy="899766"/>
          </a:xfrm>
        </p:spPr>
        <p:txBody>
          <a:bodyPr rIns="0">
            <a:noAutofit/>
          </a:bodyPr>
          <a:lstStyle>
            <a:lvl1pPr marL="0" indent="0">
              <a:spcBef>
                <a:spcPts val="0"/>
              </a:spcBef>
              <a:buNone/>
              <a:defRPr sz="1800" baseline="0"/>
            </a:lvl1pPr>
          </a:lstStyle>
          <a:p>
            <a:pPr lvl="0"/>
            <a:r>
              <a:rPr lang="en-GB" dirty="0"/>
              <a:t>Name of speaker, UCPH unit, place and date</a:t>
            </a:r>
          </a:p>
        </p:txBody>
      </p:sp>
      <p:sp>
        <p:nvSpPr>
          <p:cNvPr id="10" name="Pladsholder til dato 3" hidden="1">
            <a:extLst>
              <a:ext uri="{FF2B5EF4-FFF2-40B4-BE49-F238E27FC236}">
                <a16:creationId xmlns:a16="http://schemas.microsoft.com/office/drawing/2014/main" id="{1570F19F-11E9-F8A1-DCD4-0B2BD4223DC2}"/>
              </a:ext>
            </a:extLst>
          </p:cNvPr>
          <p:cNvSpPr>
            <a:spLocks noGrp="1"/>
          </p:cNvSpPr>
          <p:nvPr>
            <p:ph type="dt" sz="half" idx="10"/>
          </p:nvPr>
        </p:nvSpPr>
        <p:spPr>
          <a:xfrm>
            <a:off x="0" y="6858000"/>
            <a:ext cx="0" cy="0"/>
          </a:xfrm>
        </p:spPr>
        <p:txBody>
          <a:bodyPr/>
          <a:lstStyle>
            <a:lvl1pPr>
              <a:defRPr sz="100">
                <a:noFill/>
              </a:defRPr>
            </a:lvl1pPr>
          </a:lstStyle>
          <a:p>
            <a:fld id="{6732F916-FBB8-40A8-BEA6-3A387B65F474}" type="datetime1">
              <a:rPr lang="en-GB" smtClean="0"/>
              <a:t>09/06/2026</a:t>
            </a:fld>
            <a:endParaRPr lang="en-GB" dirty="0"/>
          </a:p>
        </p:txBody>
      </p:sp>
      <p:sp>
        <p:nvSpPr>
          <p:cNvPr id="11" name="Pladsholder til sidefod 4" hidden="1">
            <a:extLst>
              <a:ext uri="{FF2B5EF4-FFF2-40B4-BE49-F238E27FC236}">
                <a16:creationId xmlns:a16="http://schemas.microsoft.com/office/drawing/2014/main" id="{B7D930ED-6F01-0E90-6740-D9E50AA5B833}"/>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12" name="Pladsholder til slidenummer 5" hidden="1">
            <a:extLst>
              <a:ext uri="{FF2B5EF4-FFF2-40B4-BE49-F238E27FC236}">
                <a16:creationId xmlns:a16="http://schemas.microsoft.com/office/drawing/2014/main" id="{ADD5A7A0-1930-6FDD-F270-B46368D36A8B}"/>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‹nr.›</a:t>
            </a:fld>
            <a:endParaRPr lang="en-GB" dirty="0"/>
          </a:p>
        </p:txBody>
      </p:sp>
    </p:spTree>
    <p:extLst>
      <p:ext uri="{BB962C8B-B14F-4D97-AF65-F5344CB8AC3E}">
        <p14:creationId xmlns:p14="http://schemas.microsoft.com/office/powerpoint/2010/main" val="2967803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image large left">
    <p:spTree>
      <p:nvGrpSpPr>
        <p:cNvPr id="1" name=""/>
        <p:cNvGrpSpPr/>
        <p:nvPr/>
      </p:nvGrpSpPr>
      <p:grpSpPr>
        <a:xfrm>
          <a:off x="0" y="0"/>
          <a:ext cx="0" cy="0"/>
          <a:chOff x="0" y="0"/>
          <a:chExt cx="0" cy="0"/>
        </a:xfrm>
      </p:grpSpPr>
      <p:sp>
        <p:nvSpPr>
          <p:cNvPr id="10" name="Pladsholder til billede 9"/>
          <p:cNvSpPr>
            <a:spLocks noGrp="1"/>
          </p:cNvSpPr>
          <p:nvPr>
            <p:ph type="pic" sz="quarter" idx="14" hasCustomPrompt="1"/>
          </p:nvPr>
        </p:nvSpPr>
        <p:spPr>
          <a:xfrm>
            <a:off x="0" y="0"/>
            <a:ext cx="12192000" cy="6858000"/>
          </a:xfrm>
          <a:solidFill>
            <a:schemeClr val="bg1">
              <a:lumMod val="75000"/>
            </a:schemeClr>
          </a:solidFill>
        </p:spPr>
        <p:txBody>
          <a:bodyPr lIns="6408000" tIns="0" rIns="720000" anchor="ctr" anchorCtr="0"/>
          <a:lstStyle>
            <a:lvl1pPr marL="0" indent="0" algn="l">
              <a:buNone/>
              <a:defRPr sz="2400" baseline="0">
                <a:solidFill>
                  <a:schemeClr val="bg1"/>
                </a:solidFill>
                <a:sym typeface="Wingdings" panose="05000000000000000000" pitchFamily="2" charset="2"/>
              </a:defRPr>
            </a:lvl1pPr>
          </a:lstStyle>
          <a:p>
            <a:r>
              <a:rPr lang="en-GB" dirty="0"/>
              <a:t> Click icon to insert image</a:t>
            </a:r>
          </a:p>
        </p:txBody>
      </p:sp>
      <p:sp>
        <p:nvSpPr>
          <p:cNvPr id="16" name="Titel 2">
            <a:extLst>
              <a:ext uri="{FF2B5EF4-FFF2-40B4-BE49-F238E27FC236}">
                <a16:creationId xmlns:a16="http://schemas.microsoft.com/office/drawing/2014/main" id="{92A049D1-BE16-6369-9C11-6D9136DAE0D9}"/>
              </a:ext>
            </a:extLst>
          </p:cNvPr>
          <p:cNvSpPr>
            <a:spLocks noGrp="1"/>
          </p:cNvSpPr>
          <p:nvPr>
            <p:ph type="ctrTitle" hasCustomPrompt="1"/>
          </p:nvPr>
        </p:nvSpPr>
        <p:spPr>
          <a:xfrm>
            <a:off x="0" y="691815"/>
            <a:ext cx="5959476" cy="5474035"/>
          </a:xfrm>
          <a:blipFill>
            <a:blip r:embed="rId2"/>
            <a:stretch>
              <a:fillRect/>
            </a:stretch>
          </a:blipFill>
        </p:spPr>
        <p:txBody>
          <a:bodyPr lIns="540000" tIns="468000" rIns="360000" bIns="3384000" anchor="b" anchorCtr="0">
            <a:noAutofit/>
          </a:bodyPr>
          <a:lstStyle>
            <a:lvl1pPr algn="l">
              <a:lnSpc>
                <a:spcPct val="900000"/>
              </a:lnSpc>
              <a:defRPr sz="3600">
                <a:solidFill>
                  <a:schemeClr val="bg1"/>
                </a:solidFill>
              </a:defRPr>
            </a:lvl1pPr>
          </a:lstStyle>
          <a:p>
            <a:r>
              <a:rPr lang="en-GB" dirty="0"/>
              <a:t>master</a:t>
            </a:r>
          </a:p>
        </p:txBody>
      </p:sp>
      <p:sp>
        <p:nvSpPr>
          <p:cNvPr id="12" name="Titel 1"/>
          <p:cNvSpPr>
            <a:spLocks noGrp="1"/>
          </p:cNvSpPr>
          <p:nvPr>
            <p:ph type="body" sz="quarter" idx="15" hasCustomPrompt="1"/>
          </p:nvPr>
        </p:nvSpPr>
        <p:spPr>
          <a:xfrm>
            <a:off x="587375" y="1020200"/>
            <a:ext cx="4946649" cy="1345417"/>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9" name="Undertitel 2"/>
          <p:cNvSpPr>
            <a:spLocks noGrp="1"/>
          </p:cNvSpPr>
          <p:nvPr>
            <p:ph type="subTitle" idx="1" hasCustomPrompt="1"/>
          </p:nvPr>
        </p:nvSpPr>
        <p:spPr>
          <a:xfrm>
            <a:off x="588962" y="3007285"/>
            <a:ext cx="4946649" cy="726435"/>
          </a:xfrm>
        </p:spPr>
        <p:txBody>
          <a:bodyPr rIns="0">
            <a:noAutofit/>
          </a:bodyPr>
          <a:lstStyle>
            <a:lvl1pPr marL="0" indent="0" algn="l">
              <a:lnSpc>
                <a:spcPct val="100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
        <p:nvSpPr>
          <p:cNvPr id="11" name="Pladsholder til tekst 14"/>
          <p:cNvSpPr>
            <a:spLocks noGrp="1"/>
          </p:cNvSpPr>
          <p:nvPr>
            <p:ph type="body" sz="quarter" idx="13" hasCustomPrompt="1"/>
          </p:nvPr>
        </p:nvSpPr>
        <p:spPr>
          <a:xfrm>
            <a:off x="588962" y="4053600"/>
            <a:ext cx="4946650"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p>
        </p:txBody>
      </p:sp>
      <p:sp>
        <p:nvSpPr>
          <p:cNvPr id="13" name="Pladsholder til dato 3" hidden="1">
            <a:extLst>
              <a:ext uri="{FF2B5EF4-FFF2-40B4-BE49-F238E27FC236}">
                <a16:creationId xmlns:a16="http://schemas.microsoft.com/office/drawing/2014/main" id="{B280A661-856C-E622-1331-CDB60AB08622}"/>
              </a:ext>
            </a:extLst>
          </p:cNvPr>
          <p:cNvSpPr>
            <a:spLocks noGrp="1"/>
          </p:cNvSpPr>
          <p:nvPr>
            <p:ph type="dt" sz="half" idx="10"/>
          </p:nvPr>
        </p:nvSpPr>
        <p:spPr>
          <a:xfrm>
            <a:off x="0" y="6858000"/>
            <a:ext cx="0" cy="0"/>
          </a:xfrm>
        </p:spPr>
        <p:txBody>
          <a:bodyPr/>
          <a:lstStyle>
            <a:lvl1pPr>
              <a:defRPr sz="100">
                <a:noFill/>
              </a:defRPr>
            </a:lvl1pPr>
          </a:lstStyle>
          <a:p>
            <a:fld id="{6C2548D2-4180-4C59-97F2-D3D2E14098F1}" type="datetime1">
              <a:rPr lang="en-GB" smtClean="0"/>
              <a:t>09/06/2026</a:t>
            </a:fld>
            <a:endParaRPr lang="en-GB" dirty="0"/>
          </a:p>
        </p:txBody>
      </p:sp>
      <p:sp>
        <p:nvSpPr>
          <p:cNvPr id="14" name="Pladsholder til sidefod 4" hidden="1">
            <a:extLst>
              <a:ext uri="{FF2B5EF4-FFF2-40B4-BE49-F238E27FC236}">
                <a16:creationId xmlns:a16="http://schemas.microsoft.com/office/drawing/2014/main" id="{82F7776B-57AF-971B-A75B-223AFE263EAC}"/>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15" name="Pladsholder til slidenummer 5" hidden="1">
            <a:extLst>
              <a:ext uri="{FF2B5EF4-FFF2-40B4-BE49-F238E27FC236}">
                <a16:creationId xmlns:a16="http://schemas.microsoft.com/office/drawing/2014/main" id="{EFF41101-1901-1836-D8DB-6C08E169D0B8}"/>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‹nr.›</a:t>
            </a:fld>
            <a:endParaRPr lang="en-GB" dirty="0"/>
          </a:p>
        </p:txBody>
      </p:sp>
    </p:spTree>
    <p:extLst>
      <p:ext uri="{BB962C8B-B14F-4D97-AF65-F5344CB8AC3E}">
        <p14:creationId xmlns:p14="http://schemas.microsoft.com/office/powerpoint/2010/main" val="3829081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3" y="620714"/>
            <a:ext cx="11012488" cy="863599"/>
          </a:xfrm>
        </p:spPr>
        <p:txBody>
          <a:bodyPr/>
          <a:lstStyle>
            <a:lvl1pPr>
              <a:defRPr b="0" i="0" baseline="0"/>
            </a:lvl1pPr>
          </a:lstStyle>
          <a:p>
            <a:pPr lvl="0"/>
            <a:r>
              <a:rPr lang="en-GB" dirty="0"/>
              <a:t>Click to add title</a:t>
            </a:r>
          </a:p>
        </p:txBody>
      </p:sp>
      <p:sp>
        <p:nvSpPr>
          <p:cNvPr id="3" name="Pladsholder til indhold 2"/>
          <p:cNvSpPr>
            <a:spLocks noGrp="1"/>
          </p:cNvSpPr>
          <p:nvPr>
            <p:ph idx="1" hasCustomPrompt="1"/>
          </p:nvPr>
        </p:nvSpPr>
        <p:spPr>
          <a:xfrm>
            <a:off x="588963" y="1628775"/>
            <a:ext cx="11012488" cy="46736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marL="719138" indent="0">
              <a:buNone/>
              <a:defRPr/>
            </a:lvl4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4" name="Pladsholder til dato 3"/>
          <p:cNvSpPr>
            <a:spLocks noGrp="1"/>
          </p:cNvSpPr>
          <p:nvPr>
            <p:ph type="dt" sz="half" idx="10"/>
          </p:nvPr>
        </p:nvSpPr>
        <p:spPr/>
        <p:txBody>
          <a:bodyPr/>
          <a:lstStyle/>
          <a:p>
            <a:fld id="{544BA8A8-9DAA-499A-8FC3-E3166163C612}" type="datetime1">
              <a:rPr lang="en-GB" smtClean="0"/>
              <a:t>09/06/2026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‹nr.›</a:t>
            </a:fld>
            <a:endParaRPr lang="en-GB" dirty="0"/>
          </a:p>
        </p:txBody>
      </p:sp>
    </p:spTree>
    <p:extLst>
      <p:ext uri="{BB962C8B-B14F-4D97-AF65-F5344CB8AC3E}">
        <p14:creationId xmlns:p14="http://schemas.microsoft.com/office/powerpoint/2010/main" val="2796859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 and two content objects">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4" y="620714"/>
            <a:ext cx="11012486" cy="865186"/>
          </a:xfrm>
        </p:spPr>
        <p:txBody>
          <a:bodyPr/>
          <a:lstStyle>
            <a:lvl1pPr>
              <a:defRPr b="0" i="0" baseline="0"/>
            </a:lvl1pPr>
          </a:lstStyle>
          <a:p>
            <a:pPr lvl="0"/>
            <a:r>
              <a:rPr lang="en-GB" dirty="0"/>
              <a:t>Click to add title</a:t>
            </a:r>
          </a:p>
        </p:txBody>
      </p:sp>
      <p:sp>
        <p:nvSpPr>
          <p:cNvPr id="3" name="Pladsholder til indhold 2"/>
          <p:cNvSpPr>
            <a:spLocks noGrp="1"/>
          </p:cNvSpPr>
          <p:nvPr>
            <p:ph sz="half" idx="1" hasCustomPrompt="1"/>
          </p:nvPr>
        </p:nvSpPr>
        <p:spPr>
          <a:xfrm>
            <a:off x="588964" y="1628775"/>
            <a:ext cx="5356800" cy="46728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a:defRPr lang="da-DK" b="0" i="0" baseline="0" dirty="0" smtClean="0"/>
            </a:lvl4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endParaRPr lang="en-GB" dirty="0"/>
          </a:p>
        </p:txBody>
      </p:sp>
      <p:sp>
        <p:nvSpPr>
          <p:cNvPr id="4" name="Pladsholder til indhold 3"/>
          <p:cNvSpPr>
            <a:spLocks noGrp="1"/>
          </p:cNvSpPr>
          <p:nvPr>
            <p:ph sz="half" idx="2" hasCustomPrompt="1"/>
          </p:nvPr>
        </p:nvSpPr>
        <p:spPr>
          <a:xfrm>
            <a:off x="6246000" y="1628776"/>
            <a:ext cx="5356800" cy="46728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marL="719138" indent="0">
              <a:buNone/>
              <a:defRPr lang="da-DK" dirty="0" smtClean="0"/>
            </a:lvl4pPr>
            <a:lvl5pPr>
              <a:defRPr lang="da-DK" dirty="0"/>
            </a:lvl5pPr>
            <a:lvl8pPr marL="719138" indent="0">
              <a:buNone/>
              <a:defRPr/>
            </a:lvl8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BAE4B30B-D853-4AE6-9B99-718FF91CCB22}" type="datetime1">
              <a:rPr lang="en-GB" smtClean="0"/>
              <a:t>09/06/2026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dirty="0"/>
          </a:p>
        </p:txBody>
      </p:sp>
    </p:spTree>
    <p:extLst>
      <p:ext uri="{BB962C8B-B14F-4D97-AF65-F5344CB8AC3E}">
        <p14:creationId xmlns:p14="http://schemas.microsoft.com/office/powerpoint/2010/main" val="3754967976"/>
      </p:ext>
    </p:extLst>
  </p:cSld>
  <p:clrMapOvr>
    <a:masterClrMapping/>
  </p:clrMapOvr>
  <p:extLst>
    <p:ext uri="{DCECCB84-F9BA-43D5-87BE-67443E8EF086}">
      <p15:sldGuideLst xmlns:p15="http://schemas.microsoft.com/office/powerpoint/2012/main">
        <p15:guide id="1" pos="3934" userDrawn="1">
          <p15:clr>
            <a:srgbClr val="F26B43"/>
          </p15:clr>
        </p15:guide>
        <p15:guide id="2" pos="3746" userDrawn="1">
          <p15:clr>
            <a:srgbClr val="F26B43"/>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6244651" y="1628775"/>
            <a:ext cx="5356800" cy="4672800"/>
          </a:xfrm>
          <a:solidFill>
            <a:schemeClr val="bg1">
              <a:lumMod val="75000"/>
            </a:schemeClr>
          </a:solidFill>
        </p:spPr>
        <p:txBody>
          <a:bodyPr lIns="360000" tIns="1080000" rIns="360000" anchor="ctr" anchorCtr="0"/>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5" y="620712"/>
            <a:ext cx="11012486" cy="865187"/>
          </a:xfrm>
        </p:spPr>
        <p:txBody>
          <a:bodyPr/>
          <a:lstStyle>
            <a:lvl1pPr>
              <a:defRPr b="0" i="0" baseline="0"/>
            </a:lvl1pPr>
          </a:lstStyle>
          <a:p>
            <a:pPr lvl="0"/>
            <a:r>
              <a:rPr lang="en-GB" dirty="0"/>
              <a:t>Click to add title</a:t>
            </a:r>
          </a:p>
        </p:txBody>
      </p:sp>
      <p:sp>
        <p:nvSpPr>
          <p:cNvPr id="3" name="Pladsholder til indhold 2"/>
          <p:cNvSpPr>
            <a:spLocks noGrp="1"/>
          </p:cNvSpPr>
          <p:nvPr>
            <p:ph sz="half" idx="1" hasCustomPrompt="1"/>
          </p:nvPr>
        </p:nvSpPr>
        <p:spPr>
          <a:xfrm>
            <a:off x="588964" y="1628775"/>
            <a:ext cx="5356800" cy="46728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a:defRPr lang="da-DK" dirty="0" smtClean="0"/>
            </a:lvl4pPr>
            <a:lvl5pPr>
              <a:defRPr lang="da-DK" dirty="0"/>
            </a:lvl5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782CEA36-139A-4E3F-B6A0-7BD657AD45E8}" type="datetime1">
              <a:rPr lang="en-GB" smtClean="0"/>
              <a:t>09/06/2026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dirty="0"/>
          </a:p>
        </p:txBody>
      </p:sp>
    </p:spTree>
    <p:extLst>
      <p:ext uri="{BB962C8B-B14F-4D97-AF65-F5344CB8AC3E}">
        <p14:creationId xmlns:p14="http://schemas.microsoft.com/office/powerpoint/2010/main" val="1017783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588963" y="1628775"/>
            <a:ext cx="11012487" cy="4673600"/>
          </a:xfrm>
          <a:solidFill>
            <a:schemeClr val="bg1">
              <a:lumMod val="75000"/>
            </a:schemeClr>
          </a:solidFill>
        </p:spPr>
        <p:txBody>
          <a:bodyPr lIns="0" tIns="1080000" rIns="0" anchor="ctr" anchorCtr="0"/>
          <a:lstStyle>
            <a:lvl1pPr marL="0" indent="0" algn="ctr">
              <a:buNone/>
              <a:defRPr sz="2400" b="0" i="0" baseline="0">
                <a:solidFill>
                  <a:schemeClr val="bg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4" y="620712"/>
            <a:ext cx="11012486" cy="865187"/>
          </a:xfrm>
        </p:spPr>
        <p:txBody>
          <a:bodyPr/>
          <a:lstStyle/>
          <a:p>
            <a:r>
              <a:rPr lang="en-GB" dirty="0"/>
              <a:t>Click to add title</a:t>
            </a:r>
          </a:p>
        </p:txBody>
      </p:sp>
      <p:sp>
        <p:nvSpPr>
          <p:cNvPr id="5" name="Pladsholder til dato 4"/>
          <p:cNvSpPr>
            <a:spLocks noGrp="1"/>
          </p:cNvSpPr>
          <p:nvPr>
            <p:ph type="dt" sz="half" idx="10"/>
          </p:nvPr>
        </p:nvSpPr>
        <p:spPr/>
        <p:txBody>
          <a:bodyPr/>
          <a:lstStyle/>
          <a:p>
            <a:fld id="{1337CCA8-EEC6-4184-AB5B-DDB10B05E1AF}" type="datetime1">
              <a:rPr lang="en-GB" smtClean="0"/>
              <a:t>09/06/2026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dirty="0"/>
          </a:p>
        </p:txBody>
      </p:sp>
    </p:spTree>
    <p:extLst>
      <p:ext uri="{BB962C8B-B14F-4D97-AF65-F5344CB8AC3E}">
        <p14:creationId xmlns:p14="http://schemas.microsoft.com/office/powerpoint/2010/main" val="3619167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0" i="0" baseline="0"/>
            </a:lvl1pPr>
          </a:lstStyle>
          <a:p>
            <a:r>
              <a:rPr lang="en-GB" dirty="0"/>
              <a:t>Click to add title</a:t>
            </a:r>
          </a:p>
        </p:txBody>
      </p:sp>
      <p:sp>
        <p:nvSpPr>
          <p:cNvPr id="3" name="Pladsholder til dato 2"/>
          <p:cNvSpPr>
            <a:spLocks noGrp="1"/>
          </p:cNvSpPr>
          <p:nvPr>
            <p:ph type="dt" sz="half" idx="10"/>
          </p:nvPr>
        </p:nvSpPr>
        <p:spPr/>
        <p:txBody>
          <a:bodyPr/>
          <a:lstStyle/>
          <a:p>
            <a:fld id="{CA98901C-AD74-491C-9322-C106FC5C099A}" type="datetime1">
              <a:rPr lang="en-GB" smtClean="0"/>
              <a:t>09/06/2026</a:t>
            </a:fld>
            <a:endParaRPr lang="en-GB" dirty="0"/>
          </a:p>
        </p:txBody>
      </p:sp>
      <p:sp>
        <p:nvSpPr>
          <p:cNvPr id="4" name="Pladsholder til sidefod 3"/>
          <p:cNvSpPr>
            <a:spLocks noGrp="1"/>
          </p:cNvSpPr>
          <p:nvPr>
            <p:ph type="ftr" sz="quarter" idx="11"/>
          </p:nvPr>
        </p:nvSpPr>
        <p:spPr/>
        <p:txBody>
          <a:bodyPr/>
          <a:lstStyle/>
          <a:p>
            <a:endParaRPr lang="en-GB" dirty="0"/>
          </a:p>
        </p:txBody>
      </p:sp>
      <p:sp>
        <p:nvSpPr>
          <p:cNvPr id="5" name="Pladsholder til slidenummer 4"/>
          <p:cNvSpPr>
            <a:spLocks noGrp="1"/>
          </p:cNvSpPr>
          <p:nvPr>
            <p:ph type="sldNum" sz="quarter" idx="12"/>
          </p:nvPr>
        </p:nvSpPr>
        <p:spPr/>
        <p:txBody>
          <a:bodyPr/>
          <a:lstStyle/>
          <a:p>
            <a:fld id="{091A926C-488A-4E3E-9C21-57CAA120E114}" type="slidenum">
              <a:rPr lang="en-GB" smtClean="0"/>
              <a:t>‹nr.›</a:t>
            </a:fld>
            <a:endParaRPr lang="en-GB" dirty="0"/>
          </a:p>
        </p:txBody>
      </p:sp>
    </p:spTree>
    <p:extLst>
      <p:ext uri="{BB962C8B-B14F-4D97-AF65-F5344CB8AC3E}">
        <p14:creationId xmlns:p14="http://schemas.microsoft.com/office/powerpoint/2010/main" val="1760930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dsholder til dato 1"/>
          <p:cNvSpPr>
            <a:spLocks noGrp="1"/>
          </p:cNvSpPr>
          <p:nvPr>
            <p:ph type="dt" sz="half" idx="10"/>
          </p:nvPr>
        </p:nvSpPr>
        <p:spPr/>
        <p:txBody>
          <a:bodyPr/>
          <a:lstStyle/>
          <a:p>
            <a:fld id="{5B3D2672-5B44-4DB0-8EDF-4BB4CF579FAA}" type="datetime1">
              <a:rPr lang="en-GB" smtClean="0"/>
              <a:t>09/06/2026</a:t>
            </a:fld>
            <a:endParaRPr lang="en-GB" dirty="0"/>
          </a:p>
        </p:txBody>
      </p:sp>
      <p:sp>
        <p:nvSpPr>
          <p:cNvPr id="3" name="Pladsholder til sidefod 2"/>
          <p:cNvSpPr>
            <a:spLocks noGrp="1"/>
          </p:cNvSpPr>
          <p:nvPr>
            <p:ph type="ftr" sz="quarter" idx="11"/>
          </p:nvPr>
        </p:nvSpPr>
        <p:spPr/>
        <p:txBody>
          <a:bodyPr/>
          <a:lstStyle/>
          <a:p>
            <a:endParaRPr lang="en-GB" dirty="0"/>
          </a:p>
        </p:txBody>
      </p:sp>
      <p:sp>
        <p:nvSpPr>
          <p:cNvPr id="4" name="Pladsholder til slidenummer 3"/>
          <p:cNvSpPr>
            <a:spLocks noGrp="1"/>
          </p:cNvSpPr>
          <p:nvPr>
            <p:ph type="sldNum" sz="quarter" idx="12"/>
          </p:nvPr>
        </p:nvSpPr>
        <p:spPr/>
        <p:txBody>
          <a:bodyPr/>
          <a:lstStyle/>
          <a:p>
            <a:fld id="{091A926C-488A-4E3E-9C21-57CAA120E114}" type="slidenum">
              <a:rPr lang="en-GB" smtClean="0"/>
              <a:t>‹nr.›</a:t>
            </a:fld>
            <a:endParaRPr lang="en-GB" dirty="0"/>
          </a:p>
        </p:txBody>
      </p:sp>
    </p:spTree>
    <p:extLst>
      <p:ext uri="{BB962C8B-B14F-4D97-AF65-F5344CB8AC3E}">
        <p14:creationId xmlns:p14="http://schemas.microsoft.com/office/powerpoint/2010/main" val="3631545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om">
    <p:spTree>
      <p:nvGrpSpPr>
        <p:cNvPr id="1" name=""/>
        <p:cNvGrpSpPr/>
        <p:nvPr/>
      </p:nvGrpSpPr>
      <p:grpSpPr>
        <a:xfrm>
          <a:off x="0" y="0"/>
          <a:ext cx="0" cy="0"/>
          <a:chOff x="0" y="0"/>
          <a:chExt cx="0" cy="0"/>
        </a:xfrm>
      </p:grpSpPr>
      <p:sp>
        <p:nvSpPr>
          <p:cNvPr id="3" name="Pladsholder til dato 3" hidden="1">
            <a:extLst>
              <a:ext uri="{FF2B5EF4-FFF2-40B4-BE49-F238E27FC236}">
                <a16:creationId xmlns:a16="http://schemas.microsoft.com/office/drawing/2014/main" id="{619D26E9-5B2E-9EAD-7ADF-91C2F6F527BC}"/>
              </a:ext>
            </a:extLst>
          </p:cNvPr>
          <p:cNvSpPr>
            <a:spLocks noGrp="1"/>
          </p:cNvSpPr>
          <p:nvPr>
            <p:ph type="dt" sz="half" idx="10"/>
          </p:nvPr>
        </p:nvSpPr>
        <p:spPr>
          <a:xfrm>
            <a:off x="0" y="6858000"/>
            <a:ext cx="0" cy="0"/>
          </a:xfrm>
        </p:spPr>
        <p:txBody>
          <a:bodyPr/>
          <a:lstStyle>
            <a:lvl1pPr>
              <a:defRPr sz="100">
                <a:noFill/>
              </a:defRPr>
            </a:lvl1pPr>
          </a:lstStyle>
          <a:p>
            <a:fld id="{E3466E77-7984-4F3B-92EF-834A85591B11}" type="datetime1">
              <a:rPr lang="en-GB" smtClean="0"/>
              <a:t>09/06/2026</a:t>
            </a:fld>
            <a:endParaRPr lang="en-GB" dirty="0"/>
          </a:p>
        </p:txBody>
      </p:sp>
      <p:sp>
        <p:nvSpPr>
          <p:cNvPr id="4" name="Pladsholder til sidefod 4" hidden="1">
            <a:extLst>
              <a:ext uri="{FF2B5EF4-FFF2-40B4-BE49-F238E27FC236}">
                <a16:creationId xmlns:a16="http://schemas.microsoft.com/office/drawing/2014/main" id="{8A951072-2ED2-FF27-14A1-979FCDF1E51B}"/>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5" name="Pladsholder til slidenummer 5" hidden="1">
            <a:extLst>
              <a:ext uri="{FF2B5EF4-FFF2-40B4-BE49-F238E27FC236}">
                <a16:creationId xmlns:a16="http://schemas.microsoft.com/office/drawing/2014/main" id="{E8D58753-B44C-E044-E735-982626059E24}"/>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‹nr.›</a:t>
            </a:fld>
            <a:endParaRPr lang="en-GB" dirty="0"/>
          </a:p>
        </p:txBody>
      </p:sp>
    </p:spTree>
    <p:extLst>
      <p:ext uri="{BB962C8B-B14F-4D97-AF65-F5344CB8AC3E}">
        <p14:creationId xmlns:p14="http://schemas.microsoft.com/office/powerpoint/2010/main" val="42675755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wo bullet list">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4" y="620714"/>
            <a:ext cx="11012486" cy="1008062"/>
          </a:xfrm>
        </p:spPr>
        <p:txBody>
          <a:bodyPr tIns="154800"/>
          <a:lstStyle>
            <a:lvl1pPr>
              <a:defRPr sz="6600" b="1" i="0" cap="all" baseline="0">
                <a:solidFill>
                  <a:schemeClr val="tx1"/>
                </a:solidFill>
              </a:defRPr>
            </a:lvl1pPr>
          </a:lstStyle>
          <a:p>
            <a:pPr lvl="0"/>
            <a:r>
              <a:rPr lang="en-GB" dirty="0"/>
              <a:t>Click to add title</a:t>
            </a:r>
          </a:p>
        </p:txBody>
      </p:sp>
      <p:sp>
        <p:nvSpPr>
          <p:cNvPr id="3" name="Pladsholder til indhold 2"/>
          <p:cNvSpPr>
            <a:spLocks noGrp="1"/>
          </p:cNvSpPr>
          <p:nvPr>
            <p:ph sz="half" idx="1" hasCustomPrompt="1"/>
          </p:nvPr>
        </p:nvSpPr>
        <p:spPr>
          <a:xfrm>
            <a:off x="588964" y="2239315"/>
            <a:ext cx="5356800" cy="4063060"/>
          </a:xfrm>
        </p:spPr>
        <p:txBody>
          <a:bodyPr vert="horz" lIns="0" tIns="0" rIns="0" bIns="0" rtlCol="0">
            <a:noAutofit/>
          </a:bodyPr>
          <a:lstStyle>
            <a:lvl1pPr marL="363600" marR="0" indent="-363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lang="da-DK" b="0" i="0" baseline="0" dirty="0" smtClean="0">
                <a:solidFill>
                  <a:schemeClr val="tx1"/>
                </a:solidFill>
              </a:defRPr>
            </a:lvl1pPr>
            <a:lvl2pPr>
              <a:defRPr lang="da-DK" b="0" i="0" baseline="0" dirty="0" smtClean="0">
                <a:solidFill>
                  <a:schemeClr val="tx1"/>
                </a:solidFill>
              </a:defRPr>
            </a:lvl2pPr>
            <a:lvl3pPr>
              <a:defRPr lang="da-DK" b="0" i="0" baseline="0" dirty="0" smtClean="0">
                <a:solidFill>
                  <a:schemeClr val="tx1"/>
                </a:solidFill>
              </a:defRPr>
            </a:lvl3pPr>
            <a:lvl4pPr marL="1072800" indent="-352800">
              <a:lnSpc>
                <a:spcPct val="90000"/>
              </a:lnSpc>
              <a:buFont typeface="Arial" panose="020B0604020202020204" pitchFamily="34" charset="0"/>
              <a:buChar char="•"/>
              <a:defRPr lang="da-DK" b="0" i="0" baseline="0" dirty="0" smtClean="0">
                <a:solidFill>
                  <a:schemeClr val="tx1"/>
                </a:solidFill>
              </a:defRPr>
            </a:lvl4pPr>
            <a:lvl5pPr marL="1072800" indent="-352800">
              <a:lnSpc>
                <a:spcPct val="90000"/>
              </a:lnSpc>
              <a:defRPr>
                <a:solidFill>
                  <a:schemeClr val="tx1"/>
                </a:solidFill>
              </a:defRPr>
            </a:lvl5pPr>
            <a:lvl6pPr marL="1072800" indent="-352800">
              <a:lnSpc>
                <a:spcPct val="90000"/>
              </a:lnSpc>
              <a:defRPr>
                <a:solidFill>
                  <a:schemeClr val="tx1"/>
                </a:solidFill>
              </a:defRPr>
            </a:lvl6pPr>
            <a:lvl7pPr marL="1072800" indent="-352800">
              <a:lnSpc>
                <a:spcPct val="90000"/>
              </a:lnSpc>
              <a:defRPr>
                <a:solidFill>
                  <a:schemeClr val="tx1"/>
                </a:solidFill>
              </a:defRPr>
            </a:lvl7pPr>
            <a:lvl8pPr marL="1072800" indent="-352800">
              <a:lnSpc>
                <a:spcPct val="90000"/>
              </a:lnSpc>
              <a:defRPr>
                <a:solidFill>
                  <a:schemeClr val="tx1"/>
                </a:solidFill>
              </a:defRPr>
            </a:lvl8pPr>
            <a:lvl9pPr marL="1072800" indent="-352800">
              <a:lnSpc>
                <a:spcPct val="90000"/>
              </a:lnSpc>
              <a:defRPr>
                <a:solidFill>
                  <a:schemeClr val="tx1"/>
                </a:solidFill>
              </a:defRPr>
            </a:lvl9pPr>
          </a:lstStyle>
          <a:p>
            <a:pPr marL="363600" marR="0" lvl="0" indent="-363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GB" dirty="0"/>
              <a:t>Click to add text</a:t>
            </a:r>
          </a:p>
          <a:p>
            <a:pPr lvl="1"/>
            <a:r>
              <a:rPr lang="en-GB" dirty="0"/>
              <a:t>2</a:t>
            </a:r>
          </a:p>
          <a:p>
            <a:pPr lvl="2"/>
            <a:r>
              <a:rPr lang="en-GB" dirty="0"/>
              <a:t>3</a:t>
            </a:r>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p:txBody>
      </p:sp>
      <p:sp>
        <p:nvSpPr>
          <p:cNvPr id="14" name="Pladsholder til indhold 3">
            <a:extLst>
              <a:ext uri="{FF2B5EF4-FFF2-40B4-BE49-F238E27FC236}">
                <a16:creationId xmlns:a16="http://schemas.microsoft.com/office/drawing/2014/main" id="{D13A21B6-F7F5-D15B-402D-6C21868F8788}"/>
              </a:ext>
            </a:extLst>
          </p:cNvPr>
          <p:cNvSpPr>
            <a:spLocks noGrp="1"/>
          </p:cNvSpPr>
          <p:nvPr>
            <p:ph sz="half" idx="2" hasCustomPrompt="1"/>
          </p:nvPr>
        </p:nvSpPr>
        <p:spPr>
          <a:xfrm>
            <a:off x="6246000" y="2239315"/>
            <a:ext cx="5356800" cy="4063061"/>
          </a:xfrm>
        </p:spPr>
        <p:txBody>
          <a:bodyPr vert="horz" lIns="0" tIns="0" rIns="0" bIns="0" rtlCol="0">
            <a:noAutofit/>
          </a:bodyPr>
          <a:lstStyle>
            <a:lvl1pPr>
              <a:defRPr lang="da-DK" b="0" i="0" baseline="0" dirty="0" smtClean="0"/>
            </a:lvl1pPr>
            <a:lvl2pPr>
              <a:defRPr lang="da-DK" b="0" i="0" baseline="0" dirty="0" smtClean="0"/>
            </a:lvl2pPr>
            <a:lvl3pPr marL="1072800" indent="-352800">
              <a:lnSpc>
                <a:spcPct val="90000"/>
              </a:lnSpc>
              <a:defRPr lang="da-DK" b="0" i="0" baseline="0" dirty="0" smtClean="0"/>
            </a:lvl3pPr>
            <a:lvl4pPr marL="1072800" indent="-352800">
              <a:lnSpc>
                <a:spcPct val="90000"/>
              </a:lnSpc>
              <a:buFont typeface="Arial" panose="020B0604020202020204" pitchFamily="34" charset="0"/>
              <a:buChar char="•"/>
              <a:defRPr lang="da-DK" dirty="0" smtClean="0"/>
            </a:lvl4pPr>
            <a:lvl5pPr marL="1072800" indent="-352800">
              <a:lnSpc>
                <a:spcPct val="90000"/>
              </a:lnSpc>
              <a:defRPr lang="da-DK" dirty="0"/>
            </a:lvl5pPr>
            <a:lvl6pPr marL="1072800" indent="-352800">
              <a:lnSpc>
                <a:spcPct val="90000"/>
              </a:lnSpc>
              <a:defRPr/>
            </a:lvl6pPr>
            <a:lvl7pPr marL="1072800" indent="-352800">
              <a:lnSpc>
                <a:spcPct val="90000"/>
              </a:lnSpc>
              <a:defRPr/>
            </a:lvl7pPr>
            <a:lvl8pPr marL="1072800" indent="-352800">
              <a:lnSpc>
                <a:spcPct val="90000"/>
              </a:lnSpc>
              <a:buFont typeface="Arial" panose="020B0604020202020204" pitchFamily="34" charset="0"/>
              <a:buChar char="•"/>
              <a:defRPr/>
            </a:lvl8pPr>
            <a:lvl9pPr marL="1072800" indent="-352800">
              <a:lnSpc>
                <a:spcPct val="90000"/>
              </a:lnSpc>
              <a:defRPr/>
            </a:lvl9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p:txBody>
      </p:sp>
      <p:sp>
        <p:nvSpPr>
          <p:cNvPr id="5" name="Pladsholder til dato 4"/>
          <p:cNvSpPr>
            <a:spLocks noGrp="1"/>
          </p:cNvSpPr>
          <p:nvPr>
            <p:ph type="dt" sz="half" idx="10"/>
          </p:nvPr>
        </p:nvSpPr>
        <p:spPr/>
        <p:txBody>
          <a:bodyPr/>
          <a:lstStyle/>
          <a:p>
            <a:fld id="{2FC8E691-BE0D-4934-9C30-12FC42105A2C}" type="datetime1">
              <a:rPr lang="en-GB" smtClean="0"/>
              <a:t>09/06/2026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dirty="0"/>
          </a:p>
        </p:txBody>
      </p:sp>
      <p:sp>
        <p:nvSpPr>
          <p:cNvPr id="8" name="TextBox 1">
            <a:extLst>
              <a:ext uri="{FF2B5EF4-FFF2-40B4-BE49-F238E27FC236}">
                <a16:creationId xmlns:a16="http://schemas.microsoft.com/office/drawing/2014/main" id="{C25972C5-CAD7-9DDE-E435-195811719418}"/>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42638169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934" userDrawn="1">
          <p15:clr>
            <a:srgbClr val="F26B43"/>
          </p15:clr>
        </p15:guide>
        <p15:guide id="2" pos="3746" userDrawn="1">
          <p15:clr>
            <a:srgbClr val="F26B43"/>
          </p15:clr>
        </p15:guide>
        <p15:guide id="3" orient="horz" pos="1410" userDrawn="1">
          <p15:clr>
            <a:srgbClr val="F26B43"/>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one bullet list">
    <p:bg>
      <p:bgPr>
        <a:solidFill>
          <a:schemeClr val="accent4"/>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3" y="620714"/>
            <a:ext cx="11012488" cy="863599"/>
          </a:xfrm>
        </p:spPr>
        <p:txBody>
          <a:bodyPr/>
          <a:lstStyle>
            <a:lvl1pPr>
              <a:defRPr sz="3200" b="1" i="0" baseline="0">
                <a:solidFill>
                  <a:schemeClr val="tx1"/>
                </a:solidFill>
              </a:defRPr>
            </a:lvl1pPr>
          </a:lstStyle>
          <a:p>
            <a:pPr lvl="0"/>
            <a:r>
              <a:rPr lang="en-GB" dirty="0"/>
              <a:t>Click to add title</a:t>
            </a:r>
          </a:p>
        </p:txBody>
      </p:sp>
      <p:sp>
        <p:nvSpPr>
          <p:cNvPr id="3" name="Pladsholder til indhold 3"/>
          <p:cNvSpPr>
            <a:spLocks noGrp="1"/>
          </p:cNvSpPr>
          <p:nvPr>
            <p:ph idx="1" hasCustomPrompt="1"/>
          </p:nvPr>
        </p:nvSpPr>
        <p:spPr>
          <a:xfrm>
            <a:off x="588963" y="1628775"/>
            <a:ext cx="11012488" cy="4673600"/>
          </a:xfrm>
        </p:spPr>
        <p:txBody>
          <a:bodyPr vert="horz" lIns="0" tIns="0" rIns="0" bIns="0" rtlCol="0">
            <a:noAutofit/>
          </a:bodyPr>
          <a:lstStyle>
            <a:lvl1pPr marL="342900" indent="-342900">
              <a:buFont typeface="Arial" panose="020B0604020202020204" pitchFamily="34" charset="0"/>
              <a:buChar char="•"/>
              <a:defRPr lang="da-DK" sz="3200" b="0" i="0" baseline="0" dirty="0" smtClean="0">
                <a:solidFill>
                  <a:schemeClr val="tx1"/>
                </a:solidFill>
              </a:defRPr>
            </a:lvl1pPr>
            <a:lvl2pPr>
              <a:defRPr lang="da-DK" b="0" i="0" baseline="0" dirty="0" smtClean="0">
                <a:solidFill>
                  <a:schemeClr val="tx1"/>
                </a:solidFill>
              </a:defRPr>
            </a:lvl2pPr>
            <a:lvl3pPr>
              <a:defRPr lang="da-DK" b="0" i="0" baseline="0" dirty="0" smtClean="0">
                <a:solidFill>
                  <a:schemeClr val="tx1"/>
                </a:solidFill>
              </a:defRPr>
            </a:lvl3pPr>
            <a:lvl4pPr marL="1072800" indent="-352800">
              <a:buFont typeface="Arial" panose="020B0604020202020204" pitchFamily="34" charset="0"/>
              <a:buChar char="•"/>
              <a:defRPr/>
            </a:lvl4pPr>
          </a:lstStyle>
          <a:p>
            <a:pPr lvl="0"/>
            <a:r>
              <a:rPr lang="en-GB" dirty="0"/>
              <a:t>Click to add text</a:t>
            </a:r>
          </a:p>
        </p:txBody>
      </p:sp>
      <p:sp>
        <p:nvSpPr>
          <p:cNvPr id="4" name="Pladsholder til dato 3"/>
          <p:cNvSpPr>
            <a:spLocks noGrp="1"/>
          </p:cNvSpPr>
          <p:nvPr>
            <p:ph type="dt" sz="half" idx="10"/>
          </p:nvPr>
        </p:nvSpPr>
        <p:spPr/>
        <p:txBody>
          <a:bodyPr/>
          <a:lstStyle/>
          <a:p>
            <a:fld id="{833ABE37-F289-4BB8-B1E0-101EB4AC95E3}" type="datetime1">
              <a:rPr lang="en-GB" smtClean="0"/>
              <a:t>09/06/2026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‹nr.›</a:t>
            </a:fld>
            <a:endParaRPr lang="en-GB" dirty="0"/>
          </a:p>
        </p:txBody>
      </p:sp>
    </p:spTree>
    <p:extLst>
      <p:ext uri="{BB962C8B-B14F-4D97-AF65-F5344CB8AC3E}">
        <p14:creationId xmlns:p14="http://schemas.microsoft.com/office/powerpoint/2010/main" val="3411748873"/>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10" name="Tekstfelt 8">
            <a:extLst>
              <a:ext uri="{FF2B5EF4-FFF2-40B4-BE49-F238E27FC236}">
                <a16:creationId xmlns:a16="http://schemas.microsoft.com/office/drawing/2014/main" id="{3E866D85-79EE-184D-80E1-3ED545621736}"/>
              </a:ext>
            </a:extLst>
          </p:cNvPr>
          <p:cNvSpPr txBox="1"/>
          <p:nvPr userDrawn="1"/>
        </p:nvSpPr>
        <p:spPr>
          <a:xfrm>
            <a:off x="421280" y="612884"/>
            <a:ext cx="1167618" cy="871429"/>
          </a:xfrm>
          <a:prstGeom prst="rect">
            <a:avLst/>
          </a:prstGeom>
          <a:noFill/>
        </p:spPr>
        <p:txBody>
          <a:bodyPr wrap="square" rtlCol="0">
            <a:noAutofit/>
          </a:bodyPr>
          <a:lstStyle/>
          <a:p>
            <a:r>
              <a:rPr lang="en-GB" sz="15000" b="1" dirty="0">
                <a:solidFill>
                  <a:schemeClr val="tx1"/>
                </a:solidFill>
              </a:rPr>
              <a:t>”</a:t>
            </a:r>
          </a:p>
        </p:txBody>
      </p:sp>
      <p:sp>
        <p:nvSpPr>
          <p:cNvPr id="11" name="Pladsholder til tekst 9">
            <a:extLst>
              <a:ext uri="{FF2B5EF4-FFF2-40B4-BE49-F238E27FC236}">
                <a16:creationId xmlns:a16="http://schemas.microsoft.com/office/drawing/2014/main" id="{1B53F7DA-513D-4E4A-A901-E83A56F29ACB}"/>
              </a:ext>
            </a:extLst>
          </p:cNvPr>
          <p:cNvSpPr>
            <a:spLocks noGrp="1"/>
          </p:cNvSpPr>
          <p:nvPr>
            <p:ph type="body" sz="quarter" idx="15" hasCustomPrompt="1"/>
          </p:nvPr>
        </p:nvSpPr>
        <p:spPr>
          <a:xfrm>
            <a:off x="588963" y="1628775"/>
            <a:ext cx="11012487" cy="4114799"/>
          </a:xfrm>
          <a:noFill/>
        </p:spPr>
        <p:txBody>
          <a:bodyPr lIns="0" tIns="0" rIns="0" bIns="0" anchor="t" anchorCtr="0"/>
          <a:lstStyle>
            <a:lvl1pPr marL="0" indent="0" algn="l" defTabSz="914400" rtl="0" eaLnBrk="1" latinLnBrk="0" hangingPunct="1">
              <a:lnSpc>
                <a:spcPct val="90000"/>
              </a:lnSpc>
              <a:buFont typeface="Arial" panose="020B0604020202020204" pitchFamily="34" charset="0"/>
              <a:buNone/>
              <a:defRPr lang="da-DK" sz="4800" b="0" kern="1200" cap="none" baseline="0" dirty="0" smtClean="0">
                <a:solidFill>
                  <a:schemeClr val="tx1"/>
                </a:solidFill>
                <a:latin typeface="+mn-lt"/>
                <a:ea typeface="+mn-ea"/>
                <a:cs typeface="+mn-cs"/>
              </a:defRPr>
            </a:lvl1pPr>
            <a:lvl2pPr marL="0" indent="0" algn="l" defTabSz="914400" rtl="0" eaLnBrk="1" latinLnBrk="0" hangingPunct="1">
              <a:lnSpc>
                <a:spcPct val="90000"/>
              </a:lnSpc>
              <a:buFont typeface="Arial" panose="020B0604020202020204" pitchFamily="34" charset="0"/>
              <a:buNone/>
              <a:defRPr lang="da-DK" sz="4800" b="1" kern="1200" cap="all" baseline="0" dirty="0" smtClean="0">
                <a:solidFill>
                  <a:schemeClr val="bg1"/>
                </a:solidFill>
                <a:latin typeface="+mn-lt"/>
                <a:ea typeface="+mn-ea"/>
                <a:cs typeface="+mn-cs"/>
              </a:defRPr>
            </a:lvl2pPr>
            <a:lvl3pPr marL="0" indent="0" algn="l" defTabSz="914400" rtl="0" eaLnBrk="1" latinLnBrk="0" hangingPunct="1">
              <a:lnSpc>
                <a:spcPct val="90000"/>
              </a:lnSpc>
              <a:buFont typeface="Arial" panose="020B0604020202020204" pitchFamily="34" charset="0"/>
              <a:buNone/>
              <a:defRPr lang="da-DK" sz="4800" b="1" kern="1200" cap="all" baseline="0" dirty="0" smtClean="0">
                <a:solidFill>
                  <a:schemeClr val="bg1"/>
                </a:solidFill>
                <a:latin typeface="+mn-lt"/>
                <a:ea typeface="+mn-ea"/>
                <a:cs typeface="+mn-cs"/>
              </a:defRPr>
            </a:lvl3pPr>
            <a:lvl4pPr marL="0" indent="0" algn="l" defTabSz="914400" rtl="0" eaLnBrk="1" latinLnBrk="0" hangingPunct="1">
              <a:lnSpc>
                <a:spcPct val="90000"/>
              </a:lnSpc>
              <a:buFont typeface="Arial" panose="020B0604020202020204" pitchFamily="34" charset="0"/>
              <a:buNone/>
              <a:defRPr lang="da-DK" sz="4800" b="1" kern="1200" cap="all" baseline="0" dirty="0" smtClean="0">
                <a:solidFill>
                  <a:schemeClr val="bg1"/>
                </a:solidFill>
                <a:latin typeface="+mn-lt"/>
                <a:ea typeface="+mn-ea"/>
                <a:cs typeface="+mn-cs"/>
              </a:defRPr>
            </a:lvl4pPr>
            <a:lvl5pPr marL="0" indent="0" algn="l" defTabSz="914400" rtl="0" eaLnBrk="1" latinLnBrk="0" hangingPunct="1">
              <a:lnSpc>
                <a:spcPct val="90000"/>
              </a:lnSpc>
              <a:buFont typeface="Arial" panose="020B0604020202020204" pitchFamily="34" charset="0"/>
              <a:buNone/>
              <a:defRPr lang="da-DK" sz="4800" b="1" kern="1200" cap="all" baseline="0" dirty="0">
                <a:solidFill>
                  <a:schemeClr val="bg1"/>
                </a:solidFill>
                <a:latin typeface="+mn-lt"/>
                <a:ea typeface="+mn-ea"/>
                <a:cs typeface="+mn-cs"/>
              </a:defRPr>
            </a:lvl5pPr>
          </a:lstStyle>
          <a:p>
            <a:pPr lvl="0"/>
            <a:r>
              <a:rPr lang="en-GB" dirty="0"/>
              <a:t>Click to add text</a:t>
            </a:r>
          </a:p>
        </p:txBody>
      </p:sp>
      <p:sp>
        <p:nvSpPr>
          <p:cNvPr id="12" name="Pladsholder til tekst 14">
            <a:extLst>
              <a:ext uri="{FF2B5EF4-FFF2-40B4-BE49-F238E27FC236}">
                <a16:creationId xmlns:a16="http://schemas.microsoft.com/office/drawing/2014/main" id="{E095D626-8544-1B49-AD85-894AF4011815}"/>
              </a:ext>
            </a:extLst>
          </p:cNvPr>
          <p:cNvSpPr>
            <a:spLocks noGrp="1"/>
          </p:cNvSpPr>
          <p:nvPr>
            <p:ph type="body" sz="quarter" idx="13" hasCustomPrompt="1"/>
          </p:nvPr>
        </p:nvSpPr>
        <p:spPr>
          <a:xfrm>
            <a:off x="590400" y="5934971"/>
            <a:ext cx="11012400" cy="367404"/>
          </a:xfrm>
        </p:spPr>
        <p:txBody>
          <a:bodyPr anchor="b" anchorCtr="0">
            <a:noAutofit/>
          </a:bodyPr>
          <a:lstStyle>
            <a:lvl1pPr marL="0" indent="0">
              <a:spcBef>
                <a:spcPts val="500"/>
              </a:spcBef>
              <a:buNone/>
              <a:defRPr sz="2400" b="0" baseline="0">
                <a:solidFill>
                  <a:schemeClr val="tx1"/>
                </a:solidFill>
              </a:defRPr>
            </a:lvl1pPr>
          </a:lstStyle>
          <a:p>
            <a:pPr lvl="0"/>
            <a:r>
              <a:rPr lang="en-GB" dirty="0"/>
              <a:t>Name, source</a:t>
            </a:r>
          </a:p>
        </p:txBody>
      </p:sp>
      <p:sp>
        <p:nvSpPr>
          <p:cNvPr id="4" name="Pladsholder til dato 3"/>
          <p:cNvSpPr>
            <a:spLocks noGrp="1"/>
          </p:cNvSpPr>
          <p:nvPr>
            <p:ph type="dt" sz="half" idx="10"/>
          </p:nvPr>
        </p:nvSpPr>
        <p:spPr/>
        <p:txBody>
          <a:bodyPr/>
          <a:lstStyle/>
          <a:p>
            <a:fld id="{B5674BC4-6516-49EF-A62A-EB81A07AF391}" type="datetime1">
              <a:rPr lang="en-GB" smtClean="0"/>
              <a:t>09/06/2026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‹nr.›</a:t>
            </a:fld>
            <a:endParaRPr lang="en-GB" dirty="0"/>
          </a:p>
        </p:txBody>
      </p:sp>
    </p:spTree>
    <p:extLst>
      <p:ext uri="{BB962C8B-B14F-4D97-AF65-F5344CB8AC3E}">
        <p14:creationId xmlns:p14="http://schemas.microsoft.com/office/powerpoint/2010/main" val="809868431"/>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ing">
    <p:bg>
      <p:bgPr>
        <a:solidFill>
          <a:schemeClr val="accent4"/>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B606056-13C4-B341-9D8B-68EA38303651}"/>
              </a:ext>
            </a:extLst>
          </p:cNvPr>
          <p:cNvSpPr>
            <a:spLocks noGrp="1"/>
          </p:cNvSpPr>
          <p:nvPr>
            <p:ph type="body" sz="quarter" idx="13" hasCustomPrompt="1"/>
          </p:nvPr>
        </p:nvSpPr>
        <p:spPr>
          <a:xfrm>
            <a:off x="0" y="2527812"/>
            <a:ext cx="12192000" cy="955506"/>
          </a:xfrm>
          <a:noFill/>
        </p:spPr>
        <p:txBody>
          <a:bodyPr anchor="b" anchorCtr="0"/>
          <a:lstStyle>
            <a:lvl1pPr marL="0" indent="0" algn="ctr">
              <a:buFontTx/>
              <a:buNone/>
              <a:defRPr sz="6600" b="1" baseline="0">
                <a:solidFill>
                  <a:schemeClr val="tx1"/>
                </a:solidFill>
              </a:defRPr>
            </a:lvl1pPr>
          </a:lstStyle>
          <a:p>
            <a:pPr lvl="0"/>
            <a:r>
              <a:rPr lang="en-GB" dirty="0"/>
              <a:t>Click to add text</a:t>
            </a:r>
          </a:p>
        </p:txBody>
      </p:sp>
      <p:sp>
        <p:nvSpPr>
          <p:cNvPr id="10" name="Text Placeholder 4">
            <a:extLst>
              <a:ext uri="{FF2B5EF4-FFF2-40B4-BE49-F238E27FC236}">
                <a16:creationId xmlns:a16="http://schemas.microsoft.com/office/drawing/2014/main" id="{9FA67884-B97F-CB46-AABC-75F5273BB984}"/>
              </a:ext>
            </a:extLst>
          </p:cNvPr>
          <p:cNvSpPr>
            <a:spLocks noGrp="1"/>
          </p:cNvSpPr>
          <p:nvPr>
            <p:ph type="body" sz="quarter" idx="15" hasCustomPrompt="1"/>
          </p:nvPr>
        </p:nvSpPr>
        <p:spPr>
          <a:xfrm>
            <a:off x="0" y="3559852"/>
            <a:ext cx="12192000" cy="955506"/>
          </a:xfrm>
          <a:noFill/>
        </p:spPr>
        <p:txBody>
          <a:bodyPr/>
          <a:lstStyle>
            <a:lvl1pPr marL="0" indent="0" algn="ctr">
              <a:buFontTx/>
              <a:buNone/>
              <a:defRPr sz="6600" b="0" baseline="0">
                <a:solidFill>
                  <a:schemeClr val="tx1"/>
                </a:solidFill>
              </a:defRPr>
            </a:lvl1pPr>
          </a:lstStyle>
          <a:p>
            <a:pPr lvl="0"/>
            <a:r>
              <a:rPr lang="en-GB" dirty="0"/>
              <a:t>Click to add text</a:t>
            </a:r>
          </a:p>
        </p:txBody>
      </p:sp>
      <p:sp>
        <p:nvSpPr>
          <p:cNvPr id="4" name="Pladsholder til dato 3"/>
          <p:cNvSpPr>
            <a:spLocks noGrp="1"/>
          </p:cNvSpPr>
          <p:nvPr>
            <p:ph type="dt" sz="half" idx="10"/>
          </p:nvPr>
        </p:nvSpPr>
        <p:spPr/>
        <p:txBody>
          <a:bodyPr/>
          <a:lstStyle/>
          <a:p>
            <a:fld id="{C7ED15D5-9A7E-477A-A544-9723531FD0FA}" type="datetime1">
              <a:rPr lang="en-GB" smtClean="0"/>
              <a:t>09/06/2026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‹nr.›</a:t>
            </a:fld>
            <a:endParaRPr lang="en-GB" dirty="0"/>
          </a:p>
        </p:txBody>
      </p:sp>
    </p:spTree>
    <p:extLst>
      <p:ext uri="{BB962C8B-B14F-4D97-AF65-F5344CB8AC3E}">
        <p14:creationId xmlns:p14="http://schemas.microsoft.com/office/powerpoint/2010/main" val="1885453114"/>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mbers">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BDF7CB8-A29D-FD7D-E01C-9FA290029336}"/>
              </a:ext>
            </a:extLst>
          </p:cNvPr>
          <p:cNvSpPr>
            <a:spLocks noGrp="1" noChangeAspect="1"/>
          </p:cNvSpPr>
          <p:nvPr>
            <p:ph type="body" sz="quarter" idx="38" hasCustomPrompt="1"/>
          </p:nvPr>
        </p:nvSpPr>
        <p:spPr>
          <a:xfrm>
            <a:off x="593043" y="992701"/>
            <a:ext cx="1162800" cy="1162800"/>
          </a:xfrm>
          <a:prstGeom prst="ellipse">
            <a:avLst/>
          </a:prstGeom>
          <a:solidFill>
            <a:schemeClr val="tx1">
              <a:alpha val="20000"/>
            </a:schemeClr>
          </a:solidFill>
        </p:spPr>
        <p:txBody>
          <a:bodyPr tIns="72000" anchor="ctr" anchorCtr="0"/>
          <a:lstStyle>
            <a:lvl1pPr marL="0" indent="0" algn="ctr">
              <a:spcBef>
                <a:spcPts val="0"/>
              </a:spcBef>
              <a:buNone/>
              <a:defRPr sz="6000" b="1"/>
            </a:lvl1pPr>
          </a:lstStyle>
          <a:p>
            <a:pPr lvl="0"/>
            <a:r>
              <a:rPr lang="en-GB" dirty="0"/>
              <a:t>1</a:t>
            </a:r>
          </a:p>
        </p:txBody>
      </p:sp>
      <p:sp>
        <p:nvSpPr>
          <p:cNvPr id="9" name="Text Placeholder 8">
            <a:extLst>
              <a:ext uri="{FF2B5EF4-FFF2-40B4-BE49-F238E27FC236}">
                <a16:creationId xmlns:a16="http://schemas.microsoft.com/office/drawing/2014/main" id="{80999F43-7DCD-0386-4C37-C66F637D75F4}"/>
              </a:ext>
            </a:extLst>
          </p:cNvPr>
          <p:cNvSpPr>
            <a:spLocks noGrp="1"/>
          </p:cNvSpPr>
          <p:nvPr>
            <p:ph type="body" sz="quarter" idx="39" hasCustomPrompt="1"/>
          </p:nvPr>
        </p:nvSpPr>
        <p:spPr>
          <a:xfrm>
            <a:off x="1935309" y="992701"/>
            <a:ext cx="3590534" cy="1162800"/>
          </a:xfrm>
        </p:spPr>
        <p:txBody>
          <a:bodyPr anchor="ctr" anchorCtr="0"/>
          <a:lstStyle>
            <a:lvl1pPr marL="0" indent="0">
              <a:spcBef>
                <a:spcPts val="0"/>
              </a:spcBef>
              <a:buNone/>
              <a:defRPr sz="2800" b="1"/>
            </a:lvl1pPr>
            <a:lvl2pPr marL="0" indent="0">
              <a:buNone/>
              <a:defRPr sz="2800" b="1"/>
            </a:lvl2pPr>
            <a:lvl3pPr marL="0" indent="0">
              <a:buNone/>
              <a:defRPr sz="2800" b="1"/>
            </a:lvl3pPr>
            <a:lvl4pPr marL="0" indent="0">
              <a:buNone/>
              <a:defRPr sz="2800" b="1"/>
            </a:lvl4pPr>
            <a:lvl5pPr marL="0" indent="0">
              <a:buNone/>
              <a:defRPr sz="2800" b="1"/>
            </a:lvl5pPr>
          </a:lstStyle>
          <a:p>
            <a:pPr lvl="0"/>
            <a:r>
              <a:rPr lang="en-GB" dirty="0"/>
              <a:t>Click to add text</a:t>
            </a:r>
          </a:p>
        </p:txBody>
      </p:sp>
      <p:sp>
        <p:nvSpPr>
          <p:cNvPr id="13" name="Text Placeholder 12">
            <a:extLst>
              <a:ext uri="{FF2B5EF4-FFF2-40B4-BE49-F238E27FC236}">
                <a16:creationId xmlns:a16="http://schemas.microsoft.com/office/drawing/2014/main" id="{5A0FE321-409A-CB41-0D2F-3A239A66393D}"/>
              </a:ext>
            </a:extLst>
          </p:cNvPr>
          <p:cNvSpPr>
            <a:spLocks noGrp="1" noChangeAspect="1"/>
          </p:cNvSpPr>
          <p:nvPr>
            <p:ph type="body" sz="quarter" idx="40" hasCustomPrompt="1"/>
          </p:nvPr>
        </p:nvSpPr>
        <p:spPr>
          <a:xfrm>
            <a:off x="6092802" y="911224"/>
            <a:ext cx="1162800" cy="1162800"/>
          </a:xfrm>
          <a:prstGeom prst="ellipse">
            <a:avLst/>
          </a:prstGeom>
          <a:solidFill>
            <a:schemeClr val="tx1">
              <a:alpha val="20000"/>
            </a:schemeClr>
          </a:solidFill>
        </p:spPr>
        <p:txBody>
          <a:bodyPr tIns="72000" anchor="ctr" anchorCtr="0"/>
          <a:lstStyle>
            <a:lvl1pPr marL="0" indent="0" algn="ctr">
              <a:buNone/>
              <a:defRPr sz="6000" b="1"/>
            </a:lvl1pPr>
          </a:lstStyle>
          <a:p>
            <a:pPr lvl="0"/>
            <a:r>
              <a:rPr lang="en-GB" dirty="0"/>
              <a:t>2</a:t>
            </a:r>
          </a:p>
        </p:txBody>
      </p:sp>
      <p:sp>
        <p:nvSpPr>
          <p:cNvPr id="16" name="Text Placeholder 15">
            <a:extLst>
              <a:ext uri="{FF2B5EF4-FFF2-40B4-BE49-F238E27FC236}">
                <a16:creationId xmlns:a16="http://schemas.microsoft.com/office/drawing/2014/main" id="{E85D9037-4808-3FB4-8291-164C228C83E2}"/>
              </a:ext>
            </a:extLst>
          </p:cNvPr>
          <p:cNvSpPr>
            <a:spLocks noGrp="1"/>
          </p:cNvSpPr>
          <p:nvPr>
            <p:ph type="body" sz="quarter" idx="41" hasCustomPrompt="1"/>
          </p:nvPr>
        </p:nvSpPr>
        <p:spPr>
          <a:xfrm>
            <a:off x="7438265" y="911224"/>
            <a:ext cx="3705822"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18" name="Text Placeholder 17">
            <a:extLst>
              <a:ext uri="{FF2B5EF4-FFF2-40B4-BE49-F238E27FC236}">
                <a16:creationId xmlns:a16="http://schemas.microsoft.com/office/drawing/2014/main" id="{34F98610-1AA8-ED76-CB97-422A1761A39E}"/>
              </a:ext>
            </a:extLst>
          </p:cNvPr>
          <p:cNvSpPr>
            <a:spLocks noGrp="1"/>
          </p:cNvSpPr>
          <p:nvPr>
            <p:ph type="body" sz="quarter" idx="42" hasCustomPrompt="1"/>
          </p:nvPr>
        </p:nvSpPr>
        <p:spPr>
          <a:xfrm>
            <a:off x="2272868" y="2409825"/>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3</a:t>
            </a:r>
          </a:p>
        </p:txBody>
      </p:sp>
      <p:sp>
        <p:nvSpPr>
          <p:cNvPr id="20" name="Text Placeholder 19">
            <a:extLst>
              <a:ext uri="{FF2B5EF4-FFF2-40B4-BE49-F238E27FC236}">
                <a16:creationId xmlns:a16="http://schemas.microsoft.com/office/drawing/2014/main" id="{04C99C31-A019-EB05-99AD-9B5C4892C3E5}"/>
              </a:ext>
            </a:extLst>
          </p:cNvPr>
          <p:cNvSpPr>
            <a:spLocks noGrp="1"/>
          </p:cNvSpPr>
          <p:nvPr>
            <p:ph type="body" sz="quarter" idx="43" hasCustomPrompt="1"/>
          </p:nvPr>
        </p:nvSpPr>
        <p:spPr>
          <a:xfrm>
            <a:off x="3620656" y="2409825"/>
            <a:ext cx="3113087" cy="1162800"/>
          </a:xfrm>
        </p:spPr>
        <p:txBody>
          <a:bodyPr anchor="ctr" anchorCtr="0"/>
          <a:lstStyle>
            <a:lvl1pPr marL="0" indent="0">
              <a:lnSpc>
                <a:spcPct val="100000"/>
              </a:lnSpc>
              <a:spcBef>
                <a:spcPts val="0"/>
              </a:spcBef>
              <a:spcAft>
                <a:spcPts val="0"/>
              </a:spcAft>
              <a:buNone/>
              <a:defRPr sz="2800" b="1"/>
            </a:lvl1pPr>
            <a:lvl2pPr marL="0" indent="0">
              <a:buNone/>
              <a:defRPr sz="2800" b="1"/>
            </a:lvl2pPr>
            <a:lvl3pPr marL="0" indent="0">
              <a:buNone/>
              <a:defRPr sz="2800" b="1"/>
            </a:lvl3pPr>
            <a:lvl4pPr marL="0" indent="0">
              <a:buNone/>
              <a:defRPr sz="2800" b="1"/>
            </a:lvl4pPr>
            <a:lvl5pPr marL="0" indent="0">
              <a:buNone/>
              <a:defRPr sz="2800" b="1"/>
            </a:lvl5pPr>
          </a:lstStyle>
          <a:p>
            <a:pPr lvl="0"/>
            <a:r>
              <a:rPr lang="en-GB" dirty="0"/>
              <a:t>Click to add text</a:t>
            </a:r>
          </a:p>
        </p:txBody>
      </p:sp>
      <p:sp>
        <p:nvSpPr>
          <p:cNvPr id="22" name="Text Placeholder 21">
            <a:extLst>
              <a:ext uri="{FF2B5EF4-FFF2-40B4-BE49-F238E27FC236}">
                <a16:creationId xmlns:a16="http://schemas.microsoft.com/office/drawing/2014/main" id="{DA112A83-1D6E-E31B-3869-56E056FE8E0E}"/>
              </a:ext>
            </a:extLst>
          </p:cNvPr>
          <p:cNvSpPr>
            <a:spLocks noGrp="1"/>
          </p:cNvSpPr>
          <p:nvPr>
            <p:ph type="body" sz="quarter" idx="44" hasCustomPrompt="1"/>
          </p:nvPr>
        </p:nvSpPr>
        <p:spPr>
          <a:xfrm>
            <a:off x="7188200" y="2970213"/>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4</a:t>
            </a:r>
          </a:p>
        </p:txBody>
      </p:sp>
      <p:sp>
        <p:nvSpPr>
          <p:cNvPr id="24" name="Text Placeholder 23">
            <a:extLst>
              <a:ext uri="{FF2B5EF4-FFF2-40B4-BE49-F238E27FC236}">
                <a16:creationId xmlns:a16="http://schemas.microsoft.com/office/drawing/2014/main" id="{F5507CD6-BB87-26DA-1CB3-C86DBC2ACD10}"/>
              </a:ext>
            </a:extLst>
          </p:cNvPr>
          <p:cNvSpPr>
            <a:spLocks noGrp="1"/>
          </p:cNvSpPr>
          <p:nvPr>
            <p:ph type="body" sz="quarter" idx="45" hasCustomPrompt="1"/>
          </p:nvPr>
        </p:nvSpPr>
        <p:spPr>
          <a:xfrm>
            <a:off x="8535988" y="2970213"/>
            <a:ext cx="3065462"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31" name="Text Placeholder 30">
            <a:extLst>
              <a:ext uri="{FF2B5EF4-FFF2-40B4-BE49-F238E27FC236}">
                <a16:creationId xmlns:a16="http://schemas.microsoft.com/office/drawing/2014/main" id="{2EED4611-1BCD-13B0-4F45-DAEAB3529025}"/>
              </a:ext>
            </a:extLst>
          </p:cNvPr>
          <p:cNvSpPr>
            <a:spLocks noGrp="1"/>
          </p:cNvSpPr>
          <p:nvPr>
            <p:ph type="body" sz="quarter" idx="46" hasCustomPrompt="1"/>
          </p:nvPr>
        </p:nvSpPr>
        <p:spPr>
          <a:xfrm>
            <a:off x="1458913" y="4498975"/>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5</a:t>
            </a:r>
          </a:p>
        </p:txBody>
      </p:sp>
      <p:sp>
        <p:nvSpPr>
          <p:cNvPr id="33" name="Text Placeholder 32">
            <a:extLst>
              <a:ext uri="{FF2B5EF4-FFF2-40B4-BE49-F238E27FC236}">
                <a16:creationId xmlns:a16="http://schemas.microsoft.com/office/drawing/2014/main" id="{B3B6A4E6-E617-BAD1-0112-A96754231B66}"/>
              </a:ext>
            </a:extLst>
          </p:cNvPr>
          <p:cNvSpPr>
            <a:spLocks noGrp="1"/>
          </p:cNvSpPr>
          <p:nvPr>
            <p:ph type="body" sz="quarter" idx="47" hasCustomPrompt="1"/>
          </p:nvPr>
        </p:nvSpPr>
        <p:spPr>
          <a:xfrm>
            <a:off x="2814435" y="4498975"/>
            <a:ext cx="2938665"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35" name="Text Placeholder 34">
            <a:extLst>
              <a:ext uri="{FF2B5EF4-FFF2-40B4-BE49-F238E27FC236}">
                <a16:creationId xmlns:a16="http://schemas.microsoft.com/office/drawing/2014/main" id="{0135649F-22C1-794A-F31C-7DC6EA04B2E5}"/>
              </a:ext>
            </a:extLst>
          </p:cNvPr>
          <p:cNvSpPr>
            <a:spLocks noGrp="1"/>
          </p:cNvSpPr>
          <p:nvPr>
            <p:ph type="body" sz="quarter" idx="48" hasCustomPrompt="1"/>
          </p:nvPr>
        </p:nvSpPr>
        <p:spPr>
          <a:xfrm>
            <a:off x="6372225" y="5138044"/>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6</a:t>
            </a:r>
          </a:p>
        </p:txBody>
      </p:sp>
      <p:sp>
        <p:nvSpPr>
          <p:cNvPr id="37" name="Text Placeholder 36">
            <a:extLst>
              <a:ext uri="{FF2B5EF4-FFF2-40B4-BE49-F238E27FC236}">
                <a16:creationId xmlns:a16="http://schemas.microsoft.com/office/drawing/2014/main" id="{35999C3D-9DB2-8B28-1D0E-EDC2C950F687}"/>
              </a:ext>
            </a:extLst>
          </p:cNvPr>
          <p:cNvSpPr>
            <a:spLocks noGrp="1"/>
          </p:cNvSpPr>
          <p:nvPr>
            <p:ph type="body" sz="quarter" idx="49" hasCustomPrompt="1"/>
          </p:nvPr>
        </p:nvSpPr>
        <p:spPr>
          <a:xfrm>
            <a:off x="7720013" y="5138044"/>
            <a:ext cx="3343275"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4" name="Pladsholder til dato 3"/>
          <p:cNvSpPr>
            <a:spLocks noGrp="1"/>
          </p:cNvSpPr>
          <p:nvPr>
            <p:ph type="dt" sz="half" idx="10"/>
          </p:nvPr>
        </p:nvSpPr>
        <p:spPr/>
        <p:txBody>
          <a:bodyPr/>
          <a:lstStyle/>
          <a:p>
            <a:fld id="{73B240AC-C468-4DBB-AF86-AC5724FDA50F}" type="datetime1">
              <a:rPr lang="en-GB" smtClean="0"/>
              <a:t>09/06/2026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‹nr.›</a:t>
            </a:fld>
            <a:endParaRPr lang="en-GB" dirty="0"/>
          </a:p>
        </p:txBody>
      </p:sp>
      <p:sp>
        <p:nvSpPr>
          <p:cNvPr id="3" name="TextBox 1">
            <a:extLst>
              <a:ext uri="{FF2B5EF4-FFF2-40B4-BE49-F238E27FC236}">
                <a16:creationId xmlns:a16="http://schemas.microsoft.com/office/drawing/2014/main" id="{7268BAA3-AF98-A946-16EB-29ED74D4E93C}"/>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text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2784342020"/>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rrow">
    <p:bg>
      <p:bgPr>
        <a:solidFill>
          <a:schemeClr val="accent6"/>
        </a:solidFill>
        <a:effectLst/>
      </p:bgPr>
    </p:bg>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fld id="{E66547F2-18C7-4623-927B-09989FC5CA4D}" type="datetime1">
              <a:rPr lang="en-GB" smtClean="0"/>
              <a:t>09/06/2026</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‹nr.›</a:t>
            </a:fld>
            <a:endParaRPr lang="en-GB" dirty="0"/>
          </a:p>
        </p:txBody>
      </p:sp>
      <p:sp>
        <p:nvSpPr>
          <p:cNvPr id="2" name="TextBox 1">
            <a:extLst>
              <a:ext uri="{FF2B5EF4-FFF2-40B4-BE49-F238E27FC236}">
                <a16:creationId xmlns:a16="http://schemas.microsoft.com/office/drawing/2014/main" id="{2556C2CA-F7BC-1643-99E7-A7AF34D16F06}"/>
              </a:ext>
            </a:extLst>
          </p:cNvPr>
          <p:cNvSpPr txBox="1"/>
          <p:nvPr userDrawn="1"/>
        </p:nvSpPr>
        <p:spPr>
          <a:xfrm>
            <a:off x="-1219200" y="-222738"/>
            <a:ext cx="0" cy="0"/>
          </a:xfrm>
          <a:prstGeom prst="rect">
            <a:avLst/>
          </a:prstGeom>
        </p:spPr>
        <p:txBody>
          <a:bodyPr vert="horz" wrap="none" lIns="0" tIns="0" rIns="0" bIns="0" rtlCol="0" anchor="t"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en-GB" sz="4800" b="1" dirty="0">
              <a:solidFill>
                <a:prstClr val="white"/>
              </a:solidFill>
              <a:latin typeface="Microsoft New Tai Lue"/>
            </a:endParaRPr>
          </a:p>
        </p:txBody>
      </p:sp>
      <p:sp>
        <p:nvSpPr>
          <p:cNvPr id="10" name="TextBox 9">
            <a:extLst>
              <a:ext uri="{FF2B5EF4-FFF2-40B4-BE49-F238E27FC236}">
                <a16:creationId xmlns:a16="http://schemas.microsoft.com/office/drawing/2014/main" id="{8C392B83-0AC6-A343-9007-FC3430F06E87}"/>
              </a:ext>
            </a:extLst>
          </p:cNvPr>
          <p:cNvSpPr txBox="1"/>
          <p:nvPr userDrawn="1"/>
        </p:nvSpPr>
        <p:spPr>
          <a:xfrm>
            <a:off x="4531540" y="2322414"/>
            <a:ext cx="0" cy="0"/>
          </a:xfrm>
          <a:prstGeom prst="rect">
            <a:avLst/>
          </a:prstGeom>
        </p:spPr>
        <p:txBody>
          <a:bodyPr vert="horz" wrap="none" lIns="0" tIns="0" rIns="0" bIns="0" rtlCol="0" anchor="t"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en-GB" sz="4800" b="1" dirty="0">
              <a:solidFill>
                <a:prstClr val="white"/>
              </a:solidFill>
              <a:latin typeface="Microsoft New Tai Lue"/>
            </a:endParaRPr>
          </a:p>
        </p:txBody>
      </p:sp>
      <p:sp>
        <p:nvSpPr>
          <p:cNvPr id="3" name="Title 2">
            <a:extLst>
              <a:ext uri="{FF2B5EF4-FFF2-40B4-BE49-F238E27FC236}">
                <a16:creationId xmlns:a16="http://schemas.microsoft.com/office/drawing/2014/main" id="{2B0ACD76-9286-81DA-B95A-33C567818DB3}"/>
              </a:ext>
            </a:extLst>
          </p:cNvPr>
          <p:cNvSpPr>
            <a:spLocks noGrp="1"/>
          </p:cNvSpPr>
          <p:nvPr>
            <p:ph type="title" hasCustomPrompt="1"/>
          </p:nvPr>
        </p:nvSpPr>
        <p:spPr>
          <a:xfrm>
            <a:off x="588963" y="620712"/>
            <a:ext cx="11012488" cy="864859"/>
          </a:xfrm>
        </p:spPr>
        <p:txBody>
          <a:bodyPr/>
          <a:lstStyle>
            <a:lvl1pPr>
              <a:defRPr b="1">
                <a:solidFill>
                  <a:schemeClr val="tx1"/>
                </a:solidFill>
              </a:defRPr>
            </a:lvl1pPr>
          </a:lstStyle>
          <a:p>
            <a:pPr lvl="0"/>
            <a:r>
              <a:rPr lang="en-GB" dirty="0"/>
              <a:t>Click to add text</a:t>
            </a:r>
          </a:p>
        </p:txBody>
      </p:sp>
      <p:sp>
        <p:nvSpPr>
          <p:cNvPr id="39" name="Text Placeholder 6">
            <a:extLst>
              <a:ext uri="{FF2B5EF4-FFF2-40B4-BE49-F238E27FC236}">
                <a16:creationId xmlns:a16="http://schemas.microsoft.com/office/drawing/2014/main" id="{79DDD350-47B3-3DAF-DDC1-39725F8B959E}"/>
              </a:ext>
            </a:extLst>
          </p:cNvPr>
          <p:cNvSpPr>
            <a:spLocks noGrp="1" noChangeAspect="1"/>
          </p:cNvSpPr>
          <p:nvPr>
            <p:ph type="body" sz="quarter" idx="38" hasCustomPrompt="1"/>
          </p:nvPr>
        </p:nvSpPr>
        <p:spPr>
          <a:xfrm>
            <a:off x="1478044" y="1850705"/>
            <a:ext cx="701479" cy="701479"/>
          </a:xfrm>
          <a:prstGeom prst="ellipse">
            <a:avLst/>
          </a:prstGeom>
          <a:blipFill>
            <a:blip>
              <a:extLst>
                <a:ext uri="{96DAC541-7B7A-43D3-8B79-37D633B846F1}">
                  <asvg:svgBlip xmlns:asvg="http://schemas.microsoft.com/office/drawing/2016/SVG/main" r:embed="rId2"/>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40" name="Text Placeholder 6">
            <a:extLst>
              <a:ext uri="{FF2B5EF4-FFF2-40B4-BE49-F238E27FC236}">
                <a16:creationId xmlns:a16="http://schemas.microsoft.com/office/drawing/2014/main" id="{D6F92D26-3C4A-BE86-A701-D767C111FE07}"/>
              </a:ext>
            </a:extLst>
          </p:cNvPr>
          <p:cNvSpPr>
            <a:spLocks noGrp="1" noChangeAspect="1"/>
          </p:cNvSpPr>
          <p:nvPr>
            <p:ph type="body" sz="quarter" idx="39" hasCustomPrompt="1"/>
          </p:nvPr>
        </p:nvSpPr>
        <p:spPr>
          <a:xfrm>
            <a:off x="5358802" y="2416707"/>
            <a:ext cx="701479" cy="701479"/>
          </a:xfrm>
          <a:prstGeom prst="ellipse">
            <a:avLst/>
          </a:prstGeom>
          <a:blipFill>
            <a:blip>
              <a:extLst>
                <a:ext uri="{96DAC541-7B7A-43D3-8B79-37D633B846F1}">
                  <asvg:svgBlip xmlns:asvg="http://schemas.microsoft.com/office/drawing/2016/SVG/main" r:embed="rId2"/>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41" name="Text Placeholder 6">
            <a:extLst>
              <a:ext uri="{FF2B5EF4-FFF2-40B4-BE49-F238E27FC236}">
                <a16:creationId xmlns:a16="http://schemas.microsoft.com/office/drawing/2014/main" id="{376900F8-7802-5F50-6A9A-E75ED0B3EC0B}"/>
              </a:ext>
            </a:extLst>
          </p:cNvPr>
          <p:cNvSpPr>
            <a:spLocks noGrp="1" noChangeAspect="1"/>
          </p:cNvSpPr>
          <p:nvPr>
            <p:ph type="body" sz="quarter" idx="40" hasCustomPrompt="1"/>
          </p:nvPr>
        </p:nvSpPr>
        <p:spPr>
          <a:xfrm>
            <a:off x="2869616" y="3779962"/>
            <a:ext cx="701479" cy="701479"/>
          </a:xfrm>
          <a:prstGeom prst="ellipse">
            <a:avLst/>
          </a:prstGeom>
          <a:blipFill>
            <a:blip>
              <a:extLst>
                <a:ext uri="{96DAC541-7B7A-43D3-8B79-37D633B846F1}">
                  <asvg:svgBlip xmlns:asvg="http://schemas.microsoft.com/office/drawing/2016/SVG/main" r:embed="rId2"/>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42" name="Text Placeholder 6">
            <a:extLst>
              <a:ext uri="{FF2B5EF4-FFF2-40B4-BE49-F238E27FC236}">
                <a16:creationId xmlns:a16="http://schemas.microsoft.com/office/drawing/2014/main" id="{246C4547-72A6-0EEC-A5AF-48DBCE377E13}"/>
              </a:ext>
            </a:extLst>
          </p:cNvPr>
          <p:cNvSpPr>
            <a:spLocks noGrp="1" noChangeAspect="1"/>
          </p:cNvSpPr>
          <p:nvPr>
            <p:ph type="body" sz="quarter" idx="41" hasCustomPrompt="1"/>
          </p:nvPr>
        </p:nvSpPr>
        <p:spPr>
          <a:xfrm>
            <a:off x="7101336" y="4168447"/>
            <a:ext cx="701479" cy="701479"/>
          </a:xfrm>
          <a:prstGeom prst="ellipse">
            <a:avLst/>
          </a:prstGeom>
          <a:blipFill>
            <a:blip>
              <a:extLst>
                <a:ext uri="{96DAC541-7B7A-43D3-8B79-37D633B846F1}">
                  <asvg:svgBlip xmlns:asvg="http://schemas.microsoft.com/office/drawing/2016/SVG/main" r:embed="rId2"/>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16" name="Text Placeholder 15">
            <a:extLst>
              <a:ext uri="{FF2B5EF4-FFF2-40B4-BE49-F238E27FC236}">
                <a16:creationId xmlns:a16="http://schemas.microsoft.com/office/drawing/2014/main" id="{EC0FCDE3-3080-15ED-F757-BF51628B67D5}"/>
              </a:ext>
            </a:extLst>
          </p:cNvPr>
          <p:cNvSpPr>
            <a:spLocks noGrp="1"/>
          </p:cNvSpPr>
          <p:nvPr>
            <p:ph type="body" sz="quarter" idx="42" hasCustomPrompt="1"/>
          </p:nvPr>
        </p:nvSpPr>
        <p:spPr>
          <a:xfrm>
            <a:off x="588964" y="5623418"/>
            <a:ext cx="11012486" cy="678958"/>
          </a:xfrm>
        </p:spPr>
        <p:txBody>
          <a:bodyPr anchor="b" anchorCtr="0"/>
          <a:lstStyle>
            <a:lvl1pPr marL="0" indent="0" algn="r">
              <a:lnSpc>
                <a:spcPct val="100000"/>
              </a:lnSpc>
              <a:spcBef>
                <a:spcPts val="500"/>
              </a:spcBef>
              <a:spcAft>
                <a:spcPts val="0"/>
              </a:spcAft>
              <a:buFont typeface="Arial" panose="020B0604020202020204" pitchFamily="34" charset="0"/>
              <a:buNone/>
              <a:defRPr sz="2800"/>
            </a:lvl1pPr>
            <a:lvl2pPr marL="0" indent="0">
              <a:lnSpc>
                <a:spcPct val="100000"/>
              </a:lnSpc>
              <a:spcBef>
                <a:spcPts val="1000"/>
              </a:spcBef>
              <a:spcAft>
                <a:spcPts val="0"/>
              </a:spcAft>
              <a:buFont typeface="Arial" panose="020B0604020202020204" pitchFamily="34" charset="0"/>
              <a:buNone/>
              <a:defRPr sz="2800"/>
            </a:lvl2pPr>
            <a:lvl3pPr marL="0" indent="0">
              <a:lnSpc>
                <a:spcPct val="100000"/>
              </a:lnSpc>
              <a:spcBef>
                <a:spcPts val="1000"/>
              </a:spcBef>
              <a:spcAft>
                <a:spcPts val="0"/>
              </a:spcAft>
              <a:buFont typeface="Arial" panose="020B0604020202020204" pitchFamily="34" charset="0"/>
              <a:buNone/>
              <a:defRPr sz="2800"/>
            </a:lvl3pPr>
            <a:lvl4pPr marL="0" indent="0">
              <a:lnSpc>
                <a:spcPct val="100000"/>
              </a:lnSpc>
              <a:spcBef>
                <a:spcPts val="1000"/>
              </a:spcBef>
              <a:spcAft>
                <a:spcPts val="0"/>
              </a:spcAft>
              <a:buFont typeface="Arial" panose="020B0604020202020204" pitchFamily="34" charset="0"/>
              <a:buNone/>
              <a:defRPr sz="2800"/>
            </a:lvl4pPr>
            <a:lvl5pPr marL="0" indent="0">
              <a:lnSpc>
                <a:spcPct val="100000"/>
              </a:lnSpc>
              <a:spcBef>
                <a:spcPts val="1000"/>
              </a:spcBef>
              <a:spcAft>
                <a:spcPts val="0"/>
              </a:spcAft>
              <a:buFont typeface="Arial" panose="020B0604020202020204" pitchFamily="34" charset="0"/>
              <a:buNone/>
              <a:defRPr sz="2800"/>
            </a:lvl5pPr>
            <a:lvl6pPr marL="0" indent="0">
              <a:lnSpc>
                <a:spcPct val="100000"/>
              </a:lnSpc>
              <a:spcBef>
                <a:spcPts val="1000"/>
              </a:spcBef>
              <a:spcAft>
                <a:spcPts val="0"/>
              </a:spcAft>
              <a:buNone/>
              <a:defRPr sz="2800"/>
            </a:lvl6pPr>
            <a:lvl7pPr marL="0" indent="0">
              <a:lnSpc>
                <a:spcPct val="100000"/>
              </a:lnSpc>
              <a:spcBef>
                <a:spcPts val="1000"/>
              </a:spcBef>
              <a:spcAft>
                <a:spcPts val="0"/>
              </a:spcAft>
              <a:buNone/>
              <a:defRPr sz="2800"/>
            </a:lvl7pPr>
            <a:lvl8pPr marL="0" indent="0">
              <a:lnSpc>
                <a:spcPct val="100000"/>
              </a:lnSpc>
              <a:spcBef>
                <a:spcPts val="1000"/>
              </a:spcBef>
              <a:spcAft>
                <a:spcPts val="0"/>
              </a:spcAft>
              <a:buNone/>
              <a:defRPr sz="2800"/>
            </a:lvl8pPr>
            <a:lvl9pPr marL="0" indent="0">
              <a:lnSpc>
                <a:spcPct val="100000"/>
              </a:lnSpc>
              <a:spcBef>
                <a:spcPts val="1000"/>
              </a:spcBef>
              <a:spcAft>
                <a:spcPts val="0"/>
              </a:spcAft>
              <a:buNone/>
              <a:defRPr sz="2800"/>
            </a:lvl9pPr>
          </a:lstStyle>
          <a:p>
            <a:pPr lvl="0"/>
            <a:r>
              <a:rPr lang="en-GB" dirty="0"/>
              <a:t>...click to add text</a:t>
            </a:r>
          </a:p>
        </p:txBody>
      </p:sp>
      <p:sp>
        <p:nvSpPr>
          <p:cNvPr id="7" name="TextBox 1">
            <a:extLst>
              <a:ext uri="{FF2B5EF4-FFF2-40B4-BE49-F238E27FC236}">
                <a16:creationId xmlns:a16="http://schemas.microsoft.com/office/drawing/2014/main" id="{74B0C9B8-9199-DB66-C3E1-5BCBE19EE6D9}"/>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1720734107"/>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images">
    <p:bg>
      <p:bgPr>
        <a:solidFill>
          <a:schemeClr val="accent4"/>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9757" y="842657"/>
            <a:ext cx="11012486" cy="1141268"/>
          </a:xfrm>
        </p:spPr>
        <p:txBody>
          <a:bodyPr/>
          <a:lstStyle>
            <a:lvl1pPr>
              <a:lnSpc>
                <a:spcPct val="90000"/>
              </a:lnSpc>
              <a:defRPr sz="6600" b="1" i="0" cap="all" baseline="0">
                <a:solidFill>
                  <a:schemeClr val="bg1"/>
                </a:solidFill>
              </a:defRPr>
            </a:lvl1pPr>
          </a:lstStyle>
          <a:p>
            <a:pPr lvl="0"/>
            <a:r>
              <a:rPr lang="en-GB" dirty="0"/>
              <a:t>Click to add title</a:t>
            </a:r>
          </a:p>
        </p:txBody>
      </p:sp>
      <p:sp>
        <p:nvSpPr>
          <p:cNvPr id="5" name="Pladsholder til dato 4"/>
          <p:cNvSpPr>
            <a:spLocks noGrp="1"/>
          </p:cNvSpPr>
          <p:nvPr>
            <p:ph type="dt" sz="half" idx="10"/>
          </p:nvPr>
        </p:nvSpPr>
        <p:spPr/>
        <p:txBody>
          <a:bodyPr/>
          <a:lstStyle/>
          <a:p>
            <a:fld id="{9F325BB6-14D6-4C5D-A392-87B2F024F171}" type="datetime1">
              <a:rPr lang="en-GB" smtClean="0"/>
              <a:t>09/06/2026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dirty="0"/>
          </a:p>
        </p:txBody>
      </p:sp>
      <p:sp>
        <p:nvSpPr>
          <p:cNvPr id="8" name="Pladsholder til billede 9">
            <a:extLst>
              <a:ext uri="{FF2B5EF4-FFF2-40B4-BE49-F238E27FC236}">
                <a16:creationId xmlns:a16="http://schemas.microsoft.com/office/drawing/2014/main" id="{EE1B35E0-A5B1-1748-D054-2575D7411CC7}"/>
              </a:ext>
            </a:extLst>
          </p:cNvPr>
          <p:cNvSpPr>
            <a:spLocks noGrp="1"/>
          </p:cNvSpPr>
          <p:nvPr>
            <p:ph type="pic" sz="quarter" idx="14" hasCustomPrompt="1"/>
          </p:nvPr>
        </p:nvSpPr>
        <p:spPr>
          <a:xfrm rot="21402571">
            <a:off x="985914" y="2449156"/>
            <a:ext cx="4115489" cy="2817262"/>
          </a:xfrm>
          <a:solidFill>
            <a:schemeClr val="bg1">
              <a:lumMod val="65000"/>
            </a:schemeClr>
          </a:solidFill>
          <a:ln w="146050" cap="flat">
            <a:solidFill>
              <a:schemeClr val="bg1"/>
            </a:solidFill>
            <a:miter lim="800000"/>
          </a:ln>
        </p:spPr>
        <p:txBody>
          <a:bodyPr lIns="0" tIns="1080000" rIns="0" anchor="ctr" anchorCtr="1"/>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9" name="Pladsholder til billede 9">
            <a:extLst>
              <a:ext uri="{FF2B5EF4-FFF2-40B4-BE49-F238E27FC236}">
                <a16:creationId xmlns:a16="http://schemas.microsoft.com/office/drawing/2014/main" id="{E815A343-B052-E851-8FDF-17976A3957D9}"/>
              </a:ext>
            </a:extLst>
          </p:cNvPr>
          <p:cNvSpPr>
            <a:spLocks noGrp="1"/>
          </p:cNvSpPr>
          <p:nvPr>
            <p:ph type="pic" sz="quarter" idx="15" hasCustomPrompt="1"/>
          </p:nvPr>
        </p:nvSpPr>
        <p:spPr>
          <a:xfrm rot="533356">
            <a:off x="5893725" y="2510306"/>
            <a:ext cx="5462634" cy="3596788"/>
          </a:xfrm>
          <a:solidFill>
            <a:schemeClr val="bg1">
              <a:lumMod val="65000"/>
            </a:schemeClr>
          </a:solidFill>
          <a:ln w="146050" cap="flat">
            <a:solidFill>
              <a:schemeClr val="bg1"/>
            </a:solidFill>
            <a:miter lim="800000"/>
          </a:ln>
        </p:spPr>
        <p:txBody>
          <a:bodyPr lIns="360000" tIns="1080000" rIns="360000" anchor="ctr" anchorCtr="1"/>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3" name="TextBox 2">
            <a:extLst>
              <a:ext uri="{FF2B5EF4-FFF2-40B4-BE49-F238E27FC236}">
                <a16:creationId xmlns:a16="http://schemas.microsoft.com/office/drawing/2014/main" id="{3D5F33A7-1D81-AB36-A3BB-FC35AF2B3579}"/>
              </a:ext>
            </a:extLst>
          </p:cNvPr>
          <p:cNvSpPr txBox="1"/>
          <p:nvPr userDrawn="1"/>
        </p:nvSpPr>
        <p:spPr>
          <a:xfrm>
            <a:off x="0" y="-310243"/>
            <a:ext cx="6825343" cy="310243"/>
          </a:xfrm>
          <a:prstGeom prst="rect">
            <a:avLst/>
          </a:prstGeom>
        </p:spPr>
        <p:txBody>
          <a:bodyPr vert="horz" wrap="square" lIns="0" tIns="0" rIns="0" bIns="0" rtlCol="0" anchor="t"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en-GB" sz="4800" b="1" dirty="0">
              <a:solidFill>
                <a:prstClr val="white"/>
              </a:solidFill>
              <a:latin typeface="Microsoft New Tai Lue"/>
            </a:endParaRPr>
          </a:p>
        </p:txBody>
      </p:sp>
      <p:sp>
        <p:nvSpPr>
          <p:cNvPr id="4" name="TextBox 1">
            <a:extLst>
              <a:ext uri="{FF2B5EF4-FFF2-40B4-BE49-F238E27FC236}">
                <a16:creationId xmlns:a16="http://schemas.microsoft.com/office/drawing/2014/main" id="{B102B45B-BE10-0955-7D2B-71607E79FE0D}"/>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tx1"/>
                </a:solidFill>
                <a:latin typeface="Microsoft New Tai Lue"/>
              </a:rPr>
              <a:t>Highlight words </a:t>
            </a:r>
            <a:r>
              <a:rPr lang="en-GB" sz="1400" b="0" dirty="0">
                <a:solidFill>
                  <a:schemeClr val="tx1"/>
                </a:solidFill>
                <a:latin typeface="Microsoft New Tai Lue"/>
              </a:rPr>
              <a:t>in headline using </a:t>
            </a:r>
            <a:r>
              <a:rPr lang="en-GB" sz="1400" b="1" dirty="0">
                <a:solidFill>
                  <a:schemeClr val="tx1"/>
                </a:solidFill>
                <a:latin typeface="Microsoft New Tai Lue"/>
              </a:rPr>
              <a:t>bold   </a:t>
            </a:r>
            <a:endParaRPr lang="en-GB" sz="1400" b="0" dirty="0">
              <a:solidFill>
                <a:schemeClr val="tx1"/>
              </a:solidFill>
              <a:latin typeface="Microsoft New Tai Lue"/>
            </a:endParaRPr>
          </a:p>
        </p:txBody>
      </p:sp>
    </p:spTree>
    <p:extLst>
      <p:ext uri="{BB962C8B-B14F-4D97-AF65-F5344CB8AC3E}">
        <p14:creationId xmlns:p14="http://schemas.microsoft.com/office/powerpoint/2010/main" val="42610652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images">
    <p:bg>
      <p:bgPr>
        <a:solidFill>
          <a:schemeClr val="accent1"/>
        </a:solidFill>
        <a:effectLst/>
      </p:bgPr>
    </p:bg>
    <p:spTree>
      <p:nvGrpSpPr>
        <p:cNvPr id="1" name=""/>
        <p:cNvGrpSpPr/>
        <p:nvPr/>
      </p:nvGrpSpPr>
      <p:grpSpPr>
        <a:xfrm>
          <a:off x="0" y="0"/>
          <a:ext cx="0" cy="0"/>
          <a:chOff x="0" y="0"/>
          <a:chExt cx="0" cy="0"/>
        </a:xfrm>
      </p:grpSpPr>
      <p:sp>
        <p:nvSpPr>
          <p:cNvPr id="5" name="Pladsholder til dato 4"/>
          <p:cNvSpPr>
            <a:spLocks noGrp="1"/>
          </p:cNvSpPr>
          <p:nvPr>
            <p:ph type="dt" sz="half" idx="10"/>
          </p:nvPr>
        </p:nvSpPr>
        <p:spPr/>
        <p:txBody>
          <a:bodyPr/>
          <a:lstStyle/>
          <a:p>
            <a:fld id="{C81AEE70-9EF6-4011-9FEC-8E4C1B37B6E7}" type="datetime1">
              <a:rPr lang="en-GB" smtClean="0"/>
              <a:t>09/06/2026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dirty="0"/>
          </a:p>
        </p:txBody>
      </p:sp>
      <p:sp>
        <p:nvSpPr>
          <p:cNvPr id="8" name="Pladsholder til billede 9">
            <a:extLst>
              <a:ext uri="{FF2B5EF4-FFF2-40B4-BE49-F238E27FC236}">
                <a16:creationId xmlns:a16="http://schemas.microsoft.com/office/drawing/2014/main" id="{EE1B35E0-A5B1-1748-D054-2575D7411CC7}"/>
              </a:ext>
            </a:extLst>
          </p:cNvPr>
          <p:cNvSpPr>
            <a:spLocks noGrp="1"/>
          </p:cNvSpPr>
          <p:nvPr>
            <p:ph type="pic" sz="quarter" idx="14" hasCustomPrompt="1"/>
          </p:nvPr>
        </p:nvSpPr>
        <p:spPr>
          <a:xfrm>
            <a:off x="589757" y="2890520"/>
            <a:ext cx="3433685" cy="3403600"/>
          </a:xfrm>
          <a:solidFill>
            <a:schemeClr val="bg1">
              <a:lumMod val="65000"/>
            </a:schemeClr>
          </a:solidFill>
          <a:ln w="76200" cap="flat">
            <a:noFill/>
            <a:miter lim="800000"/>
          </a:ln>
          <a:effectLst>
            <a:outerShdw blurRad="50800" dist="38100" dir="2700000" algn="tl" rotWithShape="0">
              <a:prstClr val="black">
                <a:alpha val="40000"/>
              </a:prstClr>
            </a:outerShdw>
          </a:effectLst>
        </p:spPr>
        <p:txBody>
          <a:bodyPr lIns="0" tIns="1188000" rIns="0" anchor="ctr" anchorCtr="1"/>
          <a:lstStyle>
            <a:lvl1pPr marL="0" indent="0" algn="ctr">
              <a:buNone/>
              <a:defRPr sz="2000" baseline="0">
                <a:solidFill>
                  <a:schemeClr val="bg1"/>
                </a:solidFill>
                <a:sym typeface="Wingdings" panose="05000000000000000000" pitchFamily="2" charset="2"/>
              </a:defRPr>
            </a:lvl1pPr>
          </a:lstStyle>
          <a:p>
            <a:r>
              <a:rPr lang="en-GB" dirty="0"/>
              <a:t>Click icon to insert image</a:t>
            </a:r>
          </a:p>
        </p:txBody>
      </p:sp>
      <p:sp>
        <p:nvSpPr>
          <p:cNvPr id="9" name="Pladsholder til billede 9">
            <a:extLst>
              <a:ext uri="{FF2B5EF4-FFF2-40B4-BE49-F238E27FC236}">
                <a16:creationId xmlns:a16="http://schemas.microsoft.com/office/drawing/2014/main" id="{E815A343-B052-E851-8FDF-17976A3957D9}"/>
              </a:ext>
            </a:extLst>
          </p:cNvPr>
          <p:cNvSpPr>
            <a:spLocks noGrp="1"/>
          </p:cNvSpPr>
          <p:nvPr>
            <p:ph type="pic" sz="quarter" idx="15" hasCustomPrompt="1"/>
          </p:nvPr>
        </p:nvSpPr>
        <p:spPr>
          <a:xfrm>
            <a:off x="5852160" y="612233"/>
            <a:ext cx="5749290" cy="5681887"/>
          </a:xfrm>
          <a:solidFill>
            <a:schemeClr val="bg1">
              <a:lumMod val="75000"/>
            </a:schemeClr>
          </a:solidFill>
          <a:ln w="76200" cap="flat">
            <a:noFill/>
            <a:miter lim="800000"/>
          </a:ln>
          <a:effectLst>
            <a:outerShdw blurRad="50800" dist="38100" dir="2700000" algn="tl" rotWithShape="0">
              <a:prstClr val="black">
                <a:alpha val="40000"/>
              </a:prstClr>
            </a:outerShdw>
          </a:effectLst>
        </p:spPr>
        <p:txBody>
          <a:bodyPr lIns="540000" tIns="1080000" rIns="540000" anchor="ctr" anchorCtr="1"/>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10" name="Pladsholder til billede 9">
            <a:extLst>
              <a:ext uri="{FF2B5EF4-FFF2-40B4-BE49-F238E27FC236}">
                <a16:creationId xmlns:a16="http://schemas.microsoft.com/office/drawing/2014/main" id="{43FCB96B-CD6D-B9F3-A688-74E5893485CB}"/>
              </a:ext>
            </a:extLst>
          </p:cNvPr>
          <p:cNvSpPr>
            <a:spLocks noGrp="1"/>
          </p:cNvSpPr>
          <p:nvPr>
            <p:ph type="pic" sz="quarter" idx="16" hasCustomPrompt="1"/>
          </p:nvPr>
        </p:nvSpPr>
        <p:spPr>
          <a:xfrm>
            <a:off x="2855041" y="1961476"/>
            <a:ext cx="2336801" cy="2294929"/>
          </a:xfrm>
          <a:solidFill>
            <a:schemeClr val="bg1">
              <a:lumMod val="85000"/>
            </a:schemeClr>
          </a:solidFill>
          <a:ln w="76200" cap="flat">
            <a:noFill/>
            <a:miter lim="800000"/>
          </a:ln>
          <a:effectLst>
            <a:outerShdw blurRad="50800" dist="38100" dir="2700000" algn="tl" rotWithShape="0">
              <a:prstClr val="black">
                <a:alpha val="40000"/>
              </a:prstClr>
            </a:outerShdw>
          </a:effectLst>
        </p:spPr>
        <p:txBody>
          <a:bodyPr lIns="0" tIns="1188000" rIns="0" anchor="ctr" anchorCtr="1"/>
          <a:lstStyle>
            <a:lvl1pPr marL="0" indent="0" algn="ctr">
              <a:buNone/>
              <a:defRPr sz="1800" baseline="0">
                <a:solidFill>
                  <a:schemeClr val="bg1"/>
                </a:solidFill>
                <a:sym typeface="Wingdings" panose="05000000000000000000" pitchFamily="2" charset="2"/>
              </a:defRPr>
            </a:lvl1pPr>
          </a:lstStyle>
          <a:p>
            <a:r>
              <a:rPr lang="en-GB" dirty="0"/>
              <a:t>Click icon                       to insert image</a:t>
            </a:r>
          </a:p>
        </p:txBody>
      </p:sp>
      <p:sp>
        <p:nvSpPr>
          <p:cNvPr id="3" name="Title 2">
            <a:extLst>
              <a:ext uri="{FF2B5EF4-FFF2-40B4-BE49-F238E27FC236}">
                <a16:creationId xmlns:a16="http://schemas.microsoft.com/office/drawing/2014/main" id="{D623C8CB-D006-2AF2-DF37-08254005FBC6}"/>
              </a:ext>
            </a:extLst>
          </p:cNvPr>
          <p:cNvSpPr>
            <a:spLocks noGrp="1"/>
          </p:cNvSpPr>
          <p:nvPr>
            <p:ph type="title" hasCustomPrompt="1"/>
          </p:nvPr>
        </p:nvSpPr>
        <p:spPr>
          <a:xfrm>
            <a:off x="588965" y="620713"/>
            <a:ext cx="4602877" cy="1008061"/>
          </a:xfrm>
        </p:spPr>
        <p:txBody>
          <a:bodyPr/>
          <a:lstStyle>
            <a:lvl1pPr>
              <a:defRPr b="1">
                <a:solidFill>
                  <a:schemeClr val="bg1"/>
                </a:solidFill>
              </a:defRPr>
            </a:lvl1pPr>
          </a:lstStyle>
          <a:p>
            <a:r>
              <a:rPr lang="en-GB" dirty="0"/>
              <a:t>Click to add title</a:t>
            </a:r>
          </a:p>
        </p:txBody>
      </p:sp>
    </p:spTree>
    <p:extLst>
      <p:ext uri="{BB962C8B-B14F-4D97-AF65-F5344CB8AC3E}">
        <p14:creationId xmlns:p14="http://schemas.microsoft.com/office/powerpoint/2010/main" val="29057143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with text right">
    <p:bg>
      <p:bgPr>
        <a:solidFill>
          <a:schemeClr val="accent1"/>
        </a:solidFill>
        <a:effectLst/>
      </p:bgPr>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rot="20891566">
            <a:off x="1018941" y="1976793"/>
            <a:ext cx="3832754" cy="3749640"/>
          </a:xfrm>
          <a:solidFill>
            <a:schemeClr val="tx1">
              <a:lumMod val="65000"/>
            </a:schemeClr>
          </a:solidFill>
          <a:ln w="146050" cap="flat">
            <a:solidFill>
              <a:schemeClr val="tx1"/>
            </a:solidFill>
            <a:miter lim="800000"/>
          </a:ln>
        </p:spPr>
        <p:txBody>
          <a:bodyPr lIns="0" tIns="1224000" rIns="0" anchor="ctr" anchorCtr="1"/>
          <a:lstStyle>
            <a:lvl1pPr marL="0" indent="0" algn="ctr">
              <a:buNone/>
              <a:defRPr sz="240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5" y="620712"/>
            <a:ext cx="11012486" cy="865187"/>
          </a:xfrm>
        </p:spPr>
        <p:txBody>
          <a:bodyPr/>
          <a:lstStyle>
            <a:lvl1pPr>
              <a:defRPr b="1">
                <a:solidFill>
                  <a:schemeClr val="tx1"/>
                </a:solidFill>
              </a:defRPr>
            </a:lvl1pPr>
          </a:lstStyle>
          <a:p>
            <a:pPr lvl="0"/>
            <a:r>
              <a:rPr lang="en-GB" dirty="0"/>
              <a:t>Click to add title</a:t>
            </a:r>
          </a:p>
        </p:txBody>
      </p:sp>
      <p:sp>
        <p:nvSpPr>
          <p:cNvPr id="3" name="Pladsholder til indhold 2"/>
          <p:cNvSpPr>
            <a:spLocks noGrp="1"/>
          </p:cNvSpPr>
          <p:nvPr>
            <p:ph sz="half" idx="1" hasCustomPrompt="1"/>
          </p:nvPr>
        </p:nvSpPr>
        <p:spPr>
          <a:xfrm>
            <a:off x="5783580" y="2097067"/>
            <a:ext cx="5817869" cy="4205308"/>
          </a:xfrm>
        </p:spPr>
        <p:txBody>
          <a:bodyPr vert="horz" lIns="0" tIns="0" rIns="0" bIns="0" rtlCol="0">
            <a:noAutofit/>
          </a:bodyPr>
          <a:lstStyle>
            <a:lvl1pPr>
              <a:defRPr lang="da-DK" sz="3600" b="1" dirty="0" smtClean="0">
                <a:solidFill>
                  <a:schemeClr val="tx1"/>
                </a:solidFill>
              </a:defRPr>
            </a:lvl1pPr>
            <a:lvl2pPr>
              <a:defRPr lang="da-DK" sz="3200" b="1" dirty="0" smtClean="0">
                <a:solidFill>
                  <a:schemeClr val="tx1"/>
                </a:solidFill>
              </a:defRPr>
            </a:lvl2pPr>
            <a:lvl3pPr>
              <a:defRPr lang="da-DK" sz="2400" b="1" dirty="0" smtClean="0">
                <a:solidFill>
                  <a:schemeClr val="tx1"/>
                </a:solidFill>
              </a:defRPr>
            </a:lvl3pPr>
            <a:lvl4pPr>
              <a:defRPr lang="da-DK" b="1" dirty="0" smtClean="0">
                <a:solidFill>
                  <a:schemeClr val="tx1"/>
                </a:solidFill>
              </a:defRPr>
            </a:lvl4pPr>
            <a:lvl5pPr>
              <a:defRPr lang="da-DK" b="1" dirty="0">
                <a:solidFill>
                  <a:schemeClr val="tx1"/>
                </a:solidFill>
              </a:defRPr>
            </a:lvl5pPr>
            <a:lvl6pPr>
              <a:defRPr b="1">
                <a:solidFill>
                  <a:schemeClr val="tx1"/>
                </a:solidFill>
              </a:defRPr>
            </a:lvl6pPr>
            <a:lvl7pPr>
              <a:defRPr b="1">
                <a:solidFill>
                  <a:schemeClr val="tx1"/>
                </a:solidFill>
              </a:defRPr>
            </a:lvl7pPr>
            <a:lvl8pPr>
              <a:defRPr b="1">
                <a:solidFill>
                  <a:schemeClr val="tx1"/>
                </a:solidFill>
              </a:defRPr>
            </a:lvl8pPr>
            <a:lvl9pPr>
              <a:defRPr b="1">
                <a:solidFill>
                  <a:schemeClr val="tx1"/>
                </a:solidFill>
              </a:defRPr>
            </a:lvl9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27F698F8-8127-4186-B6E0-5A9DB8590659}" type="datetime1">
              <a:rPr lang="en-GB" smtClean="0"/>
              <a:t>09/06/2026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dirty="0"/>
          </a:p>
        </p:txBody>
      </p:sp>
    </p:spTree>
    <p:extLst>
      <p:ext uri="{BB962C8B-B14F-4D97-AF65-F5344CB8AC3E}">
        <p14:creationId xmlns:p14="http://schemas.microsoft.com/office/powerpoint/2010/main" val="2960968685"/>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with text left">
    <p:bg>
      <p:bgPr>
        <a:solidFill>
          <a:schemeClr val="accent1"/>
        </a:solidFill>
        <a:effectLst/>
      </p:bgPr>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rot="496878">
            <a:off x="6504534" y="1615672"/>
            <a:ext cx="4653097" cy="4640373"/>
          </a:xfrm>
          <a:solidFill>
            <a:schemeClr val="bg1">
              <a:lumMod val="65000"/>
            </a:schemeClr>
          </a:solidFill>
          <a:ln w="146050" cap="flat">
            <a:solidFill>
              <a:schemeClr val="bg1"/>
            </a:solidFill>
            <a:miter lim="800000"/>
          </a:ln>
        </p:spPr>
        <p:txBody>
          <a:bodyPr lIns="0" tIns="1188000" rIns="0" anchor="ctr" anchorCtr="1"/>
          <a:lstStyle>
            <a:lvl1pPr marL="0" indent="0" algn="ctr">
              <a:buNone/>
              <a:defRPr sz="2400" b="0" baseline="0">
                <a:solidFill>
                  <a:schemeClr val="bg1"/>
                </a:solidFill>
                <a:sym typeface="Wingdings" panose="05000000000000000000" pitchFamily="2" charset="2"/>
              </a:defRPr>
            </a:lvl1pPr>
          </a:lstStyle>
          <a:p>
            <a:r>
              <a:rPr lang="en-GB" dirty="0"/>
              <a:t>Click icon to insert image</a:t>
            </a:r>
          </a:p>
        </p:txBody>
      </p:sp>
      <p:sp>
        <p:nvSpPr>
          <p:cNvPr id="5" name="Pladsholder til dato 4"/>
          <p:cNvSpPr>
            <a:spLocks noGrp="1"/>
          </p:cNvSpPr>
          <p:nvPr>
            <p:ph type="dt" sz="half" idx="10"/>
          </p:nvPr>
        </p:nvSpPr>
        <p:spPr/>
        <p:txBody>
          <a:bodyPr/>
          <a:lstStyle/>
          <a:p>
            <a:fld id="{DCA0C55F-A06C-4D12-9FE7-11486C7072EC}" type="datetime1">
              <a:rPr lang="en-GB" smtClean="0"/>
              <a:t>09/06/2026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dirty="0"/>
          </a:p>
        </p:txBody>
      </p:sp>
      <p:sp>
        <p:nvSpPr>
          <p:cNvPr id="9" name="Titel 1">
            <a:extLst>
              <a:ext uri="{FF2B5EF4-FFF2-40B4-BE49-F238E27FC236}">
                <a16:creationId xmlns:a16="http://schemas.microsoft.com/office/drawing/2014/main" id="{44AE573B-1000-D841-B8B4-F927523899D7}"/>
              </a:ext>
            </a:extLst>
          </p:cNvPr>
          <p:cNvSpPr>
            <a:spLocks noGrp="1"/>
          </p:cNvSpPr>
          <p:nvPr>
            <p:ph type="title" hasCustomPrompt="1"/>
          </p:nvPr>
        </p:nvSpPr>
        <p:spPr>
          <a:xfrm>
            <a:off x="588965" y="620712"/>
            <a:ext cx="11012486" cy="865187"/>
          </a:xfrm>
        </p:spPr>
        <p:txBody>
          <a:bodyPr/>
          <a:lstStyle>
            <a:lvl1pPr>
              <a:defRPr b="1">
                <a:solidFill>
                  <a:schemeClr val="bg1"/>
                </a:solidFill>
              </a:defRPr>
            </a:lvl1pPr>
          </a:lstStyle>
          <a:p>
            <a:pPr lvl="0"/>
            <a:r>
              <a:rPr lang="en-GB" dirty="0"/>
              <a:t>Click to add title</a:t>
            </a:r>
          </a:p>
        </p:txBody>
      </p:sp>
      <p:sp>
        <p:nvSpPr>
          <p:cNvPr id="11" name="Pladsholder til indhold 2">
            <a:extLst>
              <a:ext uri="{FF2B5EF4-FFF2-40B4-BE49-F238E27FC236}">
                <a16:creationId xmlns:a16="http://schemas.microsoft.com/office/drawing/2014/main" id="{9B691B69-65AA-9748-80BF-996C89344BB5}"/>
              </a:ext>
            </a:extLst>
          </p:cNvPr>
          <p:cNvSpPr>
            <a:spLocks noGrp="1"/>
          </p:cNvSpPr>
          <p:nvPr>
            <p:ph sz="half" idx="1" hasCustomPrompt="1"/>
          </p:nvPr>
        </p:nvSpPr>
        <p:spPr>
          <a:xfrm>
            <a:off x="588963" y="2097067"/>
            <a:ext cx="5818682" cy="4205308"/>
          </a:xfrm>
        </p:spPr>
        <p:txBody>
          <a:bodyPr vert="horz" lIns="0" tIns="0" rIns="0" bIns="0" rtlCol="0">
            <a:noAutofit/>
          </a:bodyPr>
          <a:lstStyle>
            <a:lvl1pPr>
              <a:defRPr lang="da-DK" sz="3600" b="1" dirty="0" smtClean="0">
                <a:solidFill>
                  <a:schemeClr val="bg1"/>
                </a:solidFill>
              </a:defRPr>
            </a:lvl1pPr>
            <a:lvl2pPr>
              <a:defRPr lang="da-DK" sz="3200" b="1" dirty="0" smtClean="0">
                <a:solidFill>
                  <a:schemeClr val="bg1"/>
                </a:solidFill>
              </a:defRPr>
            </a:lvl2pPr>
            <a:lvl3pPr>
              <a:defRPr lang="da-DK" sz="2400" b="1" dirty="0" smtClean="0">
                <a:solidFill>
                  <a:schemeClr val="bg1"/>
                </a:solidFill>
              </a:defRPr>
            </a:lvl3pPr>
            <a:lvl4pPr>
              <a:defRPr lang="da-DK" dirty="0" smtClean="0"/>
            </a:lvl4pPr>
            <a:lvl5pPr>
              <a:defRPr lang="da-DK" dirty="0"/>
            </a:lvl5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Tree>
    <p:extLst>
      <p:ext uri="{BB962C8B-B14F-4D97-AF65-F5344CB8AC3E}">
        <p14:creationId xmlns:p14="http://schemas.microsoft.com/office/powerpoint/2010/main" val="1441065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image A">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1" y="331200"/>
            <a:ext cx="12191999" cy="6526800"/>
          </a:xfrm>
          <a:solidFill>
            <a:schemeClr val="tx1">
              <a:lumMod val="75000"/>
            </a:schemeClr>
          </a:solidFill>
        </p:spPr>
        <p:txBody>
          <a:bodyPr lIns="0" tIns="1080000" rIns="0" anchor="ctr"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5" y="756000"/>
            <a:ext cx="6822000" cy="1065828"/>
          </a:xfrm>
          <a:solidFill>
            <a:schemeClr val="accent1">
              <a:alpha val="99950"/>
            </a:schemeClr>
          </a:solidFill>
        </p:spPr>
        <p:txBody>
          <a:bodyPr wrap="square" lIns="252000" tIns="216000" rIns="252000" bIns="108000">
            <a:spAutoFit/>
          </a:bodyPr>
          <a:lstStyle>
            <a:lvl1pPr>
              <a:spcAft>
                <a:spcPts val="600"/>
              </a:spcAft>
              <a:defRPr sz="48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2CC73FB4-74ED-479B-AC3F-D58B1D2996E2}" type="datetime1">
              <a:rPr lang="en-GB" smtClean="0"/>
              <a:t>09/06/2026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dirty="0"/>
          </a:p>
        </p:txBody>
      </p:sp>
      <p:sp>
        <p:nvSpPr>
          <p:cNvPr id="4" name="TextBox 1">
            <a:extLst>
              <a:ext uri="{FF2B5EF4-FFF2-40B4-BE49-F238E27FC236}">
                <a16:creationId xmlns:a16="http://schemas.microsoft.com/office/drawing/2014/main" id="{BC22F958-FB17-66E4-EB45-75E15E5E3F80}"/>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1317485895"/>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image B">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2628000" rIns="0" anchor="t"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1" y="4962214"/>
            <a:ext cx="4173870" cy="1340161"/>
          </a:xfrm>
          <a:solidFill>
            <a:schemeClr val="accent4">
              <a:alpha val="99950"/>
            </a:schemeClr>
          </a:solidFill>
        </p:spPr>
        <p:txBody>
          <a:bodyPr wrap="square" lIns="252000" tIns="108000" rIns="252000" bIns="0" anchor="t" anchorCtr="0">
            <a:spAutoFit/>
          </a:bodyPr>
          <a:lstStyle>
            <a:lvl1pPr>
              <a:defRPr sz="40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C0156FC0-1C68-46A1-95BA-D879D9D7980D}" type="datetime1">
              <a:rPr lang="en-GB" smtClean="0"/>
              <a:t>09/06/2026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dirty="0"/>
          </a:p>
        </p:txBody>
      </p:sp>
      <p:sp>
        <p:nvSpPr>
          <p:cNvPr id="3" name="TextBox 1">
            <a:extLst>
              <a:ext uri="{FF2B5EF4-FFF2-40B4-BE49-F238E27FC236}">
                <a16:creationId xmlns:a16="http://schemas.microsoft.com/office/drawing/2014/main" id="{E6BCCAFF-7E95-0536-8297-4959B0CA01D7}"/>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3200445437"/>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image C">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2628000" rIns="0" anchor="t"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4779450" y="4497883"/>
            <a:ext cx="6822000" cy="1065828"/>
          </a:xfrm>
          <a:solidFill>
            <a:schemeClr val="bg1">
              <a:alpha val="99950"/>
            </a:schemeClr>
          </a:solidFill>
        </p:spPr>
        <p:txBody>
          <a:bodyPr wrap="square" lIns="252000" tIns="216000" rIns="252000" bIns="108000">
            <a:spAutoFit/>
          </a:bodyPr>
          <a:lstStyle>
            <a:lvl1pPr>
              <a:defRPr sz="48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2911EE2D-5BB7-4858-806B-E9B8121B6310}" type="datetime1">
              <a:rPr lang="en-GB" smtClean="0"/>
              <a:t>09/06/2026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dirty="0"/>
          </a:p>
        </p:txBody>
      </p:sp>
      <p:sp>
        <p:nvSpPr>
          <p:cNvPr id="4" name="TextBox 1">
            <a:extLst>
              <a:ext uri="{FF2B5EF4-FFF2-40B4-BE49-F238E27FC236}">
                <a16:creationId xmlns:a16="http://schemas.microsoft.com/office/drawing/2014/main" id="{DA49A202-D2D5-25B6-2F32-60A741CCF725}"/>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2021185923"/>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image D">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1080000" rIns="0" anchor="ctr"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3" y="1017402"/>
            <a:ext cx="11012487" cy="917513"/>
          </a:xfrm>
          <a:solidFill>
            <a:schemeClr val="bg2">
              <a:alpha val="99950"/>
            </a:schemeClr>
          </a:solidFill>
        </p:spPr>
        <p:txBody>
          <a:bodyPr wrap="square" lIns="180000" tIns="180000" rIns="180000" bIns="180000">
            <a:spAutoFit/>
          </a:bodyPr>
          <a:lstStyle>
            <a:lvl1pPr>
              <a:defRPr sz="36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FE8D869E-E124-4C9B-86F5-EB1AF46F875F}" type="datetime1">
              <a:rPr lang="en-GB" smtClean="0"/>
              <a:t>09/06/2026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dirty="0"/>
          </a:p>
        </p:txBody>
      </p:sp>
      <p:sp>
        <p:nvSpPr>
          <p:cNvPr id="4" name="TextBox 1">
            <a:extLst>
              <a:ext uri="{FF2B5EF4-FFF2-40B4-BE49-F238E27FC236}">
                <a16:creationId xmlns:a16="http://schemas.microsoft.com/office/drawing/2014/main" id="{342F60A0-C020-A529-4A95-65C8AC9FA2C2}"/>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1717169259"/>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E">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2628000" rIns="0" anchor="t"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3" y="4161995"/>
            <a:ext cx="11012487" cy="2140380"/>
          </a:xfrm>
          <a:solidFill>
            <a:schemeClr val="bg1">
              <a:alpha val="46000"/>
            </a:schemeClr>
          </a:solidFill>
        </p:spPr>
        <p:txBody>
          <a:bodyPr wrap="square" lIns="252000" tIns="108000" rIns="252000" bIns="0">
            <a:spAutoFit/>
          </a:bodyPr>
          <a:lstStyle>
            <a:lvl1pPr algn="ctr">
              <a:defRPr sz="6600" b="1" cap="all"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ECACFB06-9E5C-4DC0-BDE6-1E991C758329}" type="datetime1">
              <a:rPr lang="en-GB" smtClean="0"/>
              <a:t>09/06/2026</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dirty="0"/>
          </a:p>
        </p:txBody>
      </p:sp>
      <p:sp>
        <p:nvSpPr>
          <p:cNvPr id="3" name="TextBox 1">
            <a:extLst>
              <a:ext uri="{FF2B5EF4-FFF2-40B4-BE49-F238E27FC236}">
                <a16:creationId xmlns:a16="http://schemas.microsoft.com/office/drawing/2014/main" id="{0AC6CF46-91DC-976D-9F2D-0F1B85D185F4}"/>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573279729"/>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estions and comments">
    <p:bg>
      <p:bgPr>
        <a:solidFill>
          <a:schemeClr val="accent1"/>
        </a:solidFill>
        <a:effectLst/>
      </p:bgPr>
    </p:bg>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fld id="{10C11D8F-85B9-4001-AF63-8B6D3CD2CF9F}" type="datetime1">
              <a:rPr lang="en-GB" smtClean="0"/>
              <a:t>09/06/2026</a:t>
            </a:fld>
            <a:endParaRPr lang="en-GB" dirty="0"/>
          </a:p>
        </p:txBody>
      </p:sp>
      <p:sp>
        <p:nvSpPr>
          <p:cNvPr id="7" name="?">
            <a:extLst>
              <a:ext uri="{FF2B5EF4-FFF2-40B4-BE49-F238E27FC236}">
                <a16:creationId xmlns:a16="http://schemas.microsoft.com/office/drawing/2014/main" id="{C9382B17-B390-C8C0-F5F8-7665434C718C}"/>
              </a:ext>
            </a:extLst>
          </p:cNvPr>
          <p:cNvSpPr/>
          <p:nvPr userDrawn="1"/>
        </p:nvSpPr>
        <p:spPr>
          <a:xfrm>
            <a:off x="3642413" y="900524"/>
            <a:ext cx="4787900" cy="5558804"/>
          </a:xfrm>
          <a:prstGeom prst="rect">
            <a:avLst/>
          </a:prstGeom>
        </p:spPr>
        <p:txBody>
          <a:bodyPr wrap="square" rtlCol="0" anchor="t" anchorCtr="0">
            <a:noAutofit/>
          </a:bodyPr>
          <a:lstStyle/>
          <a:p>
            <a:pPr algn="ctr">
              <a:lnSpc>
                <a:spcPct val="83000"/>
              </a:lnSpc>
            </a:pPr>
            <a:r>
              <a:rPr lang="en-GB" sz="59500" b="1" dirty="0">
                <a:solidFill>
                  <a:schemeClr val="tx1">
                    <a:alpha val="14559"/>
                  </a:schemeClr>
                </a:solidFill>
              </a:rPr>
              <a:t>?</a:t>
            </a:r>
          </a:p>
        </p:txBody>
      </p:sp>
      <p:sp>
        <p:nvSpPr>
          <p:cNvPr id="3" name="Title 2">
            <a:extLst>
              <a:ext uri="{FF2B5EF4-FFF2-40B4-BE49-F238E27FC236}">
                <a16:creationId xmlns:a16="http://schemas.microsoft.com/office/drawing/2014/main" id="{2E0714F6-6F11-9826-9767-37567B1EC5DC}"/>
              </a:ext>
            </a:extLst>
          </p:cNvPr>
          <p:cNvSpPr>
            <a:spLocks noGrp="1"/>
          </p:cNvSpPr>
          <p:nvPr>
            <p:ph type="title" hasCustomPrompt="1"/>
          </p:nvPr>
        </p:nvSpPr>
        <p:spPr>
          <a:xfrm>
            <a:off x="2139732" y="1628776"/>
            <a:ext cx="9461718" cy="3999626"/>
          </a:xfrm>
        </p:spPr>
        <p:txBody>
          <a:bodyPr anchor="ctr" anchorCtr="0"/>
          <a:lstStyle>
            <a:lvl1pPr>
              <a:lnSpc>
                <a:spcPct val="83000"/>
              </a:lnSpc>
              <a:defRPr sz="9600" b="1">
                <a:solidFill>
                  <a:schemeClr val="bg1"/>
                </a:solidFill>
              </a:defRPr>
            </a:lvl1pPr>
          </a:lstStyle>
          <a:p>
            <a:r>
              <a:rPr lang="en-GB" dirty="0"/>
              <a:t>Click to add text</a:t>
            </a:r>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‹nr.›</a:t>
            </a:fld>
            <a:endParaRPr lang="en-GB" dirty="0"/>
          </a:p>
        </p:txBody>
      </p:sp>
      <p:sp>
        <p:nvSpPr>
          <p:cNvPr id="2" name="TextBox 1">
            <a:extLst>
              <a:ext uri="{FF2B5EF4-FFF2-40B4-BE49-F238E27FC236}">
                <a16:creationId xmlns:a16="http://schemas.microsoft.com/office/drawing/2014/main" id="{01861DB2-11FB-99E1-B80B-1463133B9A24}"/>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tx1"/>
                </a:solidFill>
                <a:latin typeface="Microsoft New Tai Lue"/>
              </a:rPr>
              <a:t>Highlight words </a:t>
            </a:r>
            <a:r>
              <a:rPr lang="en-GB" sz="1400" b="0" dirty="0">
                <a:solidFill>
                  <a:schemeClr val="tx1"/>
                </a:solidFill>
                <a:latin typeface="Microsoft New Tai Lue"/>
              </a:rPr>
              <a:t>in headline using </a:t>
            </a:r>
            <a:r>
              <a:rPr lang="en-GB" sz="1400" b="1" dirty="0">
                <a:solidFill>
                  <a:schemeClr val="tx1"/>
                </a:solidFill>
                <a:latin typeface="Microsoft New Tai Lue"/>
              </a:rPr>
              <a:t>bold   </a:t>
            </a:r>
            <a:endParaRPr lang="en-GB" sz="1400" b="0" dirty="0">
              <a:solidFill>
                <a:schemeClr val="tx1"/>
              </a:solidFill>
              <a:latin typeface="Microsoft New Tai Lue"/>
            </a:endParaRPr>
          </a:p>
        </p:txBody>
      </p:sp>
    </p:spTree>
    <p:extLst>
      <p:ext uri="{BB962C8B-B14F-4D97-AF65-F5344CB8AC3E}">
        <p14:creationId xmlns:p14="http://schemas.microsoft.com/office/powerpoint/2010/main" val="30272847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User guide">
    <p:spTree>
      <p:nvGrpSpPr>
        <p:cNvPr id="1" name=""/>
        <p:cNvGrpSpPr/>
        <p:nvPr/>
      </p:nvGrpSpPr>
      <p:grpSpPr>
        <a:xfrm>
          <a:off x="0" y="0"/>
          <a:ext cx="0" cy="0"/>
          <a:chOff x="0" y="0"/>
          <a:chExt cx="0" cy="0"/>
        </a:xfrm>
      </p:grpSpPr>
      <p:sp>
        <p:nvSpPr>
          <p:cNvPr id="22" name="Pladsholder til dato 3" hidden="1">
            <a:extLst>
              <a:ext uri="{FF2B5EF4-FFF2-40B4-BE49-F238E27FC236}">
                <a16:creationId xmlns:a16="http://schemas.microsoft.com/office/drawing/2014/main" id="{79C6BA40-0A49-7673-45A9-7C4D3541BA07}"/>
              </a:ext>
            </a:extLst>
          </p:cNvPr>
          <p:cNvSpPr>
            <a:spLocks noGrp="1"/>
          </p:cNvSpPr>
          <p:nvPr>
            <p:ph type="dt" sz="half" idx="10"/>
          </p:nvPr>
        </p:nvSpPr>
        <p:spPr>
          <a:xfrm>
            <a:off x="0" y="6858000"/>
            <a:ext cx="0" cy="0"/>
          </a:xfrm>
        </p:spPr>
        <p:txBody>
          <a:bodyPr/>
          <a:lstStyle>
            <a:lvl1pPr>
              <a:defRPr sz="100">
                <a:noFill/>
              </a:defRPr>
            </a:lvl1pPr>
          </a:lstStyle>
          <a:p>
            <a:fld id="{6622F690-D5D4-4852-B56B-61A8F1BA299A}" type="datetime1">
              <a:rPr lang="en-GB" smtClean="0"/>
              <a:t>09/06/2026</a:t>
            </a:fld>
            <a:endParaRPr lang="en-GB" dirty="0"/>
          </a:p>
        </p:txBody>
      </p:sp>
      <p:sp>
        <p:nvSpPr>
          <p:cNvPr id="23" name="Pladsholder til sidefod 4" hidden="1">
            <a:extLst>
              <a:ext uri="{FF2B5EF4-FFF2-40B4-BE49-F238E27FC236}">
                <a16:creationId xmlns:a16="http://schemas.microsoft.com/office/drawing/2014/main" id="{F4D4719E-1E3F-B75D-AF75-C575C79D6C77}"/>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24" name="Pladsholder til slidenummer 5" hidden="1">
            <a:extLst>
              <a:ext uri="{FF2B5EF4-FFF2-40B4-BE49-F238E27FC236}">
                <a16:creationId xmlns:a16="http://schemas.microsoft.com/office/drawing/2014/main" id="{9434FDBC-E923-AFC0-E942-C956724548D0}"/>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‹nr.›</a:t>
            </a:fld>
            <a:endParaRPr lang="en-GB" dirty="0"/>
          </a:p>
        </p:txBody>
      </p:sp>
      <p:sp>
        <p:nvSpPr>
          <p:cNvPr id="2" name="Title 1">
            <a:extLst>
              <a:ext uri="{FF2B5EF4-FFF2-40B4-BE49-F238E27FC236}">
                <a16:creationId xmlns:a16="http://schemas.microsoft.com/office/drawing/2014/main" id="{C4994A88-BF4A-BF39-B835-B0C753B4C19A}"/>
              </a:ext>
            </a:extLst>
          </p:cNvPr>
          <p:cNvSpPr txBox="1">
            <a:spLocks/>
          </p:cNvSpPr>
          <p:nvPr userDrawn="1"/>
        </p:nvSpPr>
        <p:spPr>
          <a:xfrm>
            <a:off x="588964" y="613649"/>
            <a:ext cx="11012486" cy="879921"/>
          </a:xfrm>
          <a:prstGeom prst="rect">
            <a:avLst/>
          </a:prstGeom>
        </p:spPr>
        <p:txBody>
          <a:bodyPr vert="horz" lIns="0" tIns="0" rIns="0" bIns="0" rtlCol="0" anchor="t" anchorCtr="0">
            <a:noAutofit/>
          </a:bodyPr>
          <a:lstStyle>
            <a:lvl1pPr>
              <a:lnSpc>
                <a:spcPct val="100000"/>
              </a:lnSpc>
              <a:spcBef>
                <a:spcPct val="0"/>
              </a:spcBef>
              <a:buNone/>
              <a:defRPr sz="3200">
                <a:solidFill>
                  <a:schemeClr val="bg1"/>
                </a:solidFill>
                <a:latin typeface="+mj-lt"/>
                <a:ea typeface="+mj-ea"/>
                <a:cs typeface="+mj-cs"/>
              </a:defRPr>
            </a:lvl1pPr>
          </a:lstStyle>
          <a:p>
            <a:pPr lvl="0"/>
            <a:r>
              <a:rPr lang="en-GB" sz="3000" dirty="0">
                <a:solidFill>
                  <a:schemeClr val="tx1"/>
                </a:solidFill>
              </a:rPr>
              <a:t>User guide </a:t>
            </a:r>
            <a:r>
              <a:rPr lang="en-GB" sz="1800" dirty="0">
                <a:solidFill>
                  <a:schemeClr val="tx1"/>
                </a:solidFill>
              </a:rPr>
              <a:t>– delete before use</a:t>
            </a:r>
          </a:p>
        </p:txBody>
      </p:sp>
      <p:sp>
        <p:nvSpPr>
          <p:cNvPr id="18" name="Text Box 48">
            <a:extLst>
              <a:ext uri="{FF2B5EF4-FFF2-40B4-BE49-F238E27FC236}">
                <a16:creationId xmlns:a16="http://schemas.microsoft.com/office/drawing/2014/main" id="{91151374-92CC-87E1-F9AB-1D43CA0CBE4F}"/>
              </a:ext>
            </a:extLst>
          </p:cNvPr>
          <p:cNvSpPr txBox="1">
            <a:spLocks noChangeArrowheads="1"/>
          </p:cNvSpPr>
          <p:nvPr userDrawn="1"/>
        </p:nvSpPr>
        <p:spPr bwMode="auto">
          <a:xfrm>
            <a:off x="587376" y="1640495"/>
            <a:ext cx="1750290" cy="3876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UCPH PowerPoint templates</a:t>
            </a:r>
            <a:br>
              <a:rPr lang="en-GB" sz="1000" b="1" noProof="1">
                <a:solidFill>
                  <a:schemeClr val="tx1"/>
                </a:solidFill>
                <a:latin typeface="+mn-lt"/>
                <a:cs typeface="Arial" panose="020B0604020202020204" pitchFamily="34" charset="0"/>
              </a:rPr>
            </a:br>
            <a:r>
              <a:rPr lang="en-GB" sz="800" dirty="0">
                <a:effectLst/>
                <a:latin typeface="+mj-lt"/>
                <a:ea typeface="Calibri" panose="020F0502020204030204" pitchFamily="34" charset="0"/>
                <a:cs typeface="Times New Roman" panose="02020603050405020304" pitchFamily="18" charset="0"/>
              </a:rPr>
              <a:t>When you open PowerPoint on your UCPH computer, </a:t>
            </a:r>
            <a:r>
              <a:rPr lang="en-GB" sz="800" kern="1200" dirty="0">
                <a:solidFill>
                  <a:schemeClr val="tx1"/>
                </a:solidFill>
                <a:effectLst/>
                <a:latin typeface="Arial" charset="0"/>
                <a:ea typeface="Calibri" panose="020F0502020204030204" pitchFamily="34" charset="0"/>
                <a:cs typeface="Times New Roman" panose="02020603050405020304" pitchFamily="18" charset="0"/>
              </a:rPr>
              <a:t>PowerPoint opens </a:t>
            </a:r>
            <a:r>
              <a:rPr lang="en-GB" sz="800" dirty="0">
                <a:effectLst/>
                <a:latin typeface="+mj-lt"/>
                <a:ea typeface="Calibri" panose="020F0502020204030204" pitchFamily="34" charset="0"/>
                <a:cs typeface="Times New Roman" panose="02020603050405020304" pitchFamily="18" charset="0"/>
              </a:rPr>
              <a:t>a template in 16:9 format with an English UCPH logo.</a:t>
            </a:r>
          </a:p>
          <a:p>
            <a:pPr eaLnBrk="1" hangingPunct="1">
              <a:spcAft>
                <a:spcPts val="600"/>
              </a:spcAft>
              <a:defRPr/>
            </a:pPr>
            <a:r>
              <a:rPr lang="en-GB" sz="800" dirty="0">
                <a:effectLst/>
                <a:latin typeface="+mj-lt"/>
                <a:ea typeface="Calibri" panose="020F0502020204030204" pitchFamily="34" charset="0"/>
                <a:cs typeface="Times New Roman" panose="02020603050405020304" pitchFamily="18" charset="0"/>
              </a:rPr>
              <a:t>When you click on the UCPH tab in the toolbar, click "Select Template" to choose between templates</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in Danish and English </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in 16:9 format</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in "full" or “small" versions (in the full version there is an example of each slide type in the left-hand window)</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as well as an example slide with text in English.</a:t>
            </a:r>
          </a:p>
          <a:p>
            <a:pPr>
              <a:lnSpc>
                <a:spcPct val="115000"/>
              </a:lnSpc>
              <a:spcAft>
                <a:spcPts val="1000"/>
              </a:spcAft>
            </a:pPr>
            <a:r>
              <a:rPr lang="en-GB" sz="800" dirty="0">
                <a:effectLst/>
                <a:latin typeface="+mj-lt"/>
                <a:ea typeface="Calibri" panose="020F0502020204030204" pitchFamily="34" charset="0"/>
                <a:cs typeface="Times New Roman" panose="02020603050405020304" pitchFamily="18" charset="0"/>
              </a:rPr>
              <a:t>If you use a 'full' version, you must delete the slides you do not want to use.</a:t>
            </a:r>
            <a:br>
              <a:rPr lang="en-GB" sz="800" dirty="0">
                <a:effectLst/>
                <a:latin typeface="+mj-lt"/>
                <a:ea typeface="Calibri" panose="020F0502020204030204" pitchFamily="34" charset="0"/>
                <a:cs typeface="Times New Roman" panose="02020603050405020304" pitchFamily="18" charset="0"/>
              </a:rPr>
            </a:br>
            <a:br>
              <a:rPr lang="en-GB" sz="800" dirty="0">
                <a:effectLst/>
                <a:latin typeface="+mj-lt"/>
                <a:ea typeface="Calibri" panose="020F0502020204030204" pitchFamily="34" charset="0"/>
                <a:cs typeface="Times New Roman" panose="02020603050405020304" pitchFamily="18" charset="0"/>
              </a:rPr>
            </a:br>
            <a:r>
              <a:rPr lang="en-GB" sz="800" dirty="0">
                <a:effectLst/>
                <a:latin typeface="+mj-lt"/>
                <a:ea typeface="Calibri" panose="020F0502020204030204" pitchFamily="34" charset="0"/>
                <a:cs typeface="Times New Roman" panose="02020603050405020304" pitchFamily="18" charset="0"/>
              </a:rPr>
              <a:t>Mac users and others can download PowerPoint templates at</a:t>
            </a:r>
          </a:p>
          <a:p>
            <a:pPr>
              <a:lnSpc>
                <a:spcPct val="115000"/>
              </a:lnSpc>
              <a:spcAft>
                <a:spcPts val="1000"/>
              </a:spcAft>
            </a:pPr>
            <a:r>
              <a:rPr lang="en-GB" sz="800" dirty="0">
                <a:solidFill>
                  <a:schemeClr val="accent4"/>
                </a:solidFill>
                <a:effectLst/>
                <a:latin typeface="+mj-lt"/>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www.designguide.ku.dk/skabeloner/powerpoint/praesentationer/</a:t>
            </a:r>
            <a:endParaRPr lang="en-GB" sz="8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8" name="Text Box 48">
            <a:extLst>
              <a:ext uri="{FF2B5EF4-FFF2-40B4-BE49-F238E27FC236}">
                <a16:creationId xmlns:a16="http://schemas.microsoft.com/office/drawing/2014/main" id="{CC1000A9-67B6-3DBE-1556-907DFA8F39D9}"/>
              </a:ext>
            </a:extLst>
          </p:cNvPr>
          <p:cNvSpPr txBox="1">
            <a:spLocks noChangeArrowheads="1"/>
          </p:cNvSpPr>
          <p:nvPr userDrawn="1"/>
        </p:nvSpPr>
        <p:spPr bwMode="auto">
          <a:xfrm>
            <a:off x="2570384" y="3966227"/>
            <a:ext cx="1755548" cy="176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Insert your unit name (e.g. your department), page numbers and the date</a:t>
            </a:r>
            <a:br>
              <a:rPr lang="en-GB" sz="1000" b="1" noProof="1">
                <a:solidFill>
                  <a:schemeClr val="tx1"/>
                </a:solidFill>
                <a:latin typeface="+mj-lt"/>
                <a:cs typeface="Arial" panose="020B0604020202020204" pitchFamily="34" charset="0"/>
              </a:rPr>
            </a:br>
            <a:r>
              <a:rPr lang="en-GB" sz="800" b="1" dirty="0">
                <a:effectLst/>
                <a:latin typeface="+mj-lt"/>
                <a:ea typeface="Calibri" panose="020F0502020204030204" pitchFamily="34" charset="0"/>
                <a:cs typeface="Times New Roman" panose="02020603050405020304" pitchFamily="18" charset="0"/>
              </a:rPr>
              <a:t>1. </a:t>
            </a:r>
            <a:r>
              <a:rPr lang="en-GB" sz="800" dirty="0">
                <a:effectLst/>
                <a:latin typeface="+mj-lt"/>
                <a:ea typeface="Calibri" panose="020F0502020204030204" pitchFamily="34" charset="0"/>
                <a:cs typeface="Times New Roman" panose="02020603050405020304" pitchFamily="18" charset="0"/>
              </a:rPr>
              <a:t>Click on </a:t>
            </a:r>
            <a:r>
              <a:rPr lang="en-GB" sz="800" b="1" dirty="0">
                <a:effectLst/>
                <a:latin typeface="+mj-lt"/>
                <a:ea typeface="Calibri" panose="020F0502020204030204" pitchFamily="34" charset="0"/>
                <a:cs typeface="Times New Roman" panose="02020603050405020304" pitchFamily="18" charset="0"/>
              </a:rPr>
              <a:t>Insert</a:t>
            </a:r>
            <a:r>
              <a:rPr lang="en-GB" sz="800" dirty="0">
                <a:effectLst/>
                <a:latin typeface="+mj-lt"/>
                <a:ea typeface="Calibri" panose="020F0502020204030204" pitchFamily="34" charset="0"/>
                <a:cs typeface="Times New Roman" panose="02020603050405020304" pitchFamily="18" charset="0"/>
              </a:rPr>
              <a:t> in the top menu</a:t>
            </a: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2. </a:t>
            </a:r>
            <a:r>
              <a:rPr lang="en-GB" sz="800" dirty="0">
                <a:effectLst/>
                <a:latin typeface="+mj-lt"/>
                <a:ea typeface="Calibri" panose="020F0502020204030204" pitchFamily="34" charset="0"/>
                <a:cs typeface="Times New Roman" panose="02020603050405020304" pitchFamily="18" charset="0"/>
              </a:rPr>
              <a:t>Select </a:t>
            </a:r>
            <a:r>
              <a:rPr lang="en-GB" sz="800" b="1" dirty="0">
                <a:effectLst/>
                <a:latin typeface="+mj-lt"/>
                <a:ea typeface="Calibri" panose="020F0502020204030204" pitchFamily="34" charset="0"/>
                <a:cs typeface="Times New Roman" panose="02020603050405020304" pitchFamily="18" charset="0"/>
              </a:rPr>
              <a:t>Header and Footer</a:t>
            </a: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3. </a:t>
            </a:r>
            <a:r>
              <a:rPr lang="en-GB" sz="800" dirty="0">
                <a:effectLst/>
                <a:latin typeface="+mj-lt"/>
                <a:ea typeface="Calibri" panose="020F0502020204030204" pitchFamily="34" charset="0"/>
                <a:cs typeface="Times New Roman" panose="02020603050405020304" pitchFamily="18" charset="0"/>
              </a:rPr>
              <a:t>Fill in the fields</a:t>
            </a: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4. </a:t>
            </a:r>
            <a:r>
              <a:rPr lang="en-GB" sz="800" dirty="0">
                <a:effectLst/>
                <a:latin typeface="+mj-lt"/>
                <a:ea typeface="Calibri" panose="020F0502020204030204" pitchFamily="34" charset="0"/>
                <a:cs typeface="Times New Roman" panose="02020603050405020304" pitchFamily="18" charset="0"/>
              </a:rPr>
              <a:t>Select </a:t>
            </a:r>
            <a:r>
              <a:rPr lang="en-GB" sz="800" b="1" dirty="0">
                <a:effectLst/>
                <a:latin typeface="+mj-lt"/>
                <a:ea typeface="Calibri" panose="020F0502020204030204" pitchFamily="34" charset="0"/>
                <a:cs typeface="Times New Roman" panose="02020603050405020304" pitchFamily="18" charset="0"/>
              </a:rPr>
              <a:t>Apply</a:t>
            </a:r>
            <a:r>
              <a:rPr lang="en-GB" sz="800" dirty="0">
                <a:effectLst/>
                <a:latin typeface="+mj-lt"/>
                <a:ea typeface="Calibri" panose="020F0502020204030204" pitchFamily="34" charset="0"/>
                <a:cs typeface="Times New Roman" panose="02020603050405020304" pitchFamily="18" charset="0"/>
              </a:rPr>
              <a:t> </a:t>
            </a:r>
            <a:r>
              <a:rPr lang="en-GB" sz="800" b="1" dirty="0">
                <a:effectLst/>
                <a:latin typeface="+mj-lt"/>
                <a:ea typeface="Calibri" panose="020F0502020204030204" pitchFamily="34" charset="0"/>
                <a:cs typeface="Times New Roman" panose="02020603050405020304" pitchFamily="18" charset="0"/>
              </a:rPr>
              <a:t>to all </a:t>
            </a:r>
            <a:r>
              <a:rPr lang="en-GB" sz="800" dirty="0">
                <a:effectLst/>
                <a:latin typeface="+mj-lt"/>
                <a:ea typeface="Calibri" panose="020F0502020204030204" pitchFamily="34" charset="0"/>
                <a:cs typeface="Times New Roman" panose="02020603050405020304" pitchFamily="18" charset="0"/>
              </a:rPr>
              <a:t>or </a:t>
            </a:r>
            <a:r>
              <a:rPr lang="en-GB" sz="800" b="1" dirty="0">
                <a:effectLst/>
                <a:latin typeface="+mj-lt"/>
                <a:ea typeface="Calibri" panose="020F0502020204030204" pitchFamily="34" charset="0"/>
                <a:cs typeface="Times New Roman" panose="02020603050405020304" pitchFamily="18" charset="0"/>
              </a:rPr>
              <a:t>Apply</a:t>
            </a:r>
            <a:r>
              <a:rPr lang="en-GB" sz="800" dirty="0">
                <a:effectLst/>
                <a:latin typeface="+mj-lt"/>
                <a:ea typeface="Calibri" panose="020F0502020204030204" pitchFamily="34" charset="0"/>
                <a:cs typeface="Times New Roman" panose="02020603050405020304" pitchFamily="18" charset="0"/>
              </a:rPr>
              <a:t> if it is only to be used on a single slide</a:t>
            </a:r>
          </a:p>
          <a:p>
            <a:pPr>
              <a:lnSpc>
                <a:spcPct val="90000"/>
              </a:lnSpc>
              <a:spcAft>
                <a:spcPts val="1000"/>
              </a:spcAft>
            </a:pPr>
            <a:r>
              <a:rPr lang="en-GB" sz="800" dirty="0">
                <a:effectLst/>
                <a:latin typeface="+mj-lt"/>
                <a:ea typeface="Calibri" panose="020F0502020204030204" pitchFamily="34" charset="0"/>
                <a:cs typeface="Times New Roman" panose="02020603050405020304" pitchFamily="18" charset="0"/>
              </a:rPr>
              <a:t>The information goes on the right-hand side of the page in the grey top bar.</a:t>
            </a:r>
          </a:p>
        </p:txBody>
      </p:sp>
      <p:sp>
        <p:nvSpPr>
          <p:cNvPr id="30" name="Text Box 48">
            <a:extLst>
              <a:ext uri="{FF2B5EF4-FFF2-40B4-BE49-F238E27FC236}">
                <a16:creationId xmlns:a16="http://schemas.microsoft.com/office/drawing/2014/main" id="{57AF5228-50BD-AF36-C290-EB6F54DA4AEB}"/>
              </a:ext>
            </a:extLst>
          </p:cNvPr>
          <p:cNvSpPr txBox="1">
            <a:spLocks noChangeArrowheads="1"/>
          </p:cNvSpPr>
          <p:nvPr userDrawn="1"/>
        </p:nvSpPr>
        <p:spPr bwMode="auto">
          <a:xfrm>
            <a:off x="587375" y="5688880"/>
            <a:ext cx="189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Create a new slide (2010 + 2013 and 2016 version) </a:t>
            </a:r>
            <a:br>
              <a:rPr lang="en-GB" sz="1000" b="1" noProof="1">
                <a:solidFill>
                  <a:schemeClr val="tx1"/>
                </a:solidFill>
                <a:latin typeface="+mn-lt"/>
                <a:cs typeface="Arial" panose="020B0604020202020204" pitchFamily="34" charset="0"/>
              </a:rPr>
            </a:br>
            <a:r>
              <a:rPr lang="en-GB" altLang="da-DK" sz="800" b="1" noProof="1">
                <a:solidFill>
                  <a:schemeClr val="tx1"/>
                </a:solidFill>
                <a:latin typeface="+mn-lt"/>
                <a:cs typeface="Arial" panose="020B0604020202020204" pitchFamily="34" charset="0"/>
              </a:rPr>
              <a:t>1. </a:t>
            </a:r>
            <a:r>
              <a:rPr lang="en-GB" altLang="da-DK" sz="800" b="0" noProof="1">
                <a:solidFill>
                  <a:schemeClr val="tx1"/>
                </a:solidFill>
                <a:latin typeface="+mn-lt"/>
                <a:cs typeface="Arial" panose="020B0604020202020204" pitchFamily="34" charset="0"/>
              </a:rPr>
              <a:t>Click on </a:t>
            </a:r>
            <a:r>
              <a:rPr lang="en-GB" altLang="da-DK" sz="800" b="1" noProof="1">
                <a:solidFill>
                  <a:schemeClr val="tx1"/>
                </a:solidFill>
                <a:latin typeface="+mn-lt"/>
                <a:cs typeface="Arial" panose="020B0604020202020204" pitchFamily="34" charset="0"/>
              </a:rPr>
              <a:t>Home</a:t>
            </a:r>
          </a:p>
        </p:txBody>
      </p:sp>
      <p:pic>
        <p:nvPicPr>
          <p:cNvPr id="32" name="Billede 40">
            <a:extLst>
              <a:ext uri="{FF2B5EF4-FFF2-40B4-BE49-F238E27FC236}">
                <a16:creationId xmlns:a16="http://schemas.microsoft.com/office/drawing/2014/main" id="{47DEC83E-2557-C64A-8710-5E90C5500CCC}"/>
              </a:ext>
            </a:extLst>
          </p:cNvPr>
          <p:cNvPicPr>
            <a:picLocks noChangeAspect="1"/>
          </p:cNvPicPr>
          <p:nvPr userDrawn="1"/>
        </p:nvPicPr>
        <p:blipFill rotWithShape="1">
          <a:blip r:embed="rId3"/>
          <a:srcRect l="36944" r="2272" b="69429"/>
          <a:stretch/>
        </p:blipFill>
        <p:spPr>
          <a:xfrm>
            <a:off x="4157637" y="2896656"/>
            <a:ext cx="395416" cy="126627"/>
          </a:xfrm>
          <a:prstGeom prst="rect">
            <a:avLst/>
          </a:prstGeom>
        </p:spPr>
      </p:pic>
      <p:sp>
        <p:nvSpPr>
          <p:cNvPr id="34" name="Text Box 48">
            <a:extLst>
              <a:ext uri="{FF2B5EF4-FFF2-40B4-BE49-F238E27FC236}">
                <a16:creationId xmlns:a16="http://schemas.microsoft.com/office/drawing/2014/main" id="{296B2A40-51DD-3C24-64B4-9C261EFED2FF}"/>
              </a:ext>
            </a:extLst>
          </p:cNvPr>
          <p:cNvSpPr txBox="1">
            <a:spLocks noChangeArrowheads="1"/>
          </p:cNvSpPr>
          <p:nvPr userDrawn="1"/>
        </p:nvSpPr>
        <p:spPr bwMode="auto">
          <a:xfrm>
            <a:off x="2570384" y="2582327"/>
            <a:ext cx="162424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Replace slide type</a:t>
            </a:r>
            <a:br>
              <a:rPr lang="en-GB" sz="1000" b="1" noProof="1">
                <a:solidFill>
                  <a:schemeClr val="tx1"/>
                </a:solidFill>
                <a:latin typeface="+mn-lt"/>
                <a:cs typeface="Arial" panose="020B0604020202020204" pitchFamily="34" charset="0"/>
              </a:rPr>
            </a:br>
            <a:r>
              <a:rPr lang="en-GB" altLang="da-DK" sz="800" b="1" noProof="1">
                <a:solidFill>
                  <a:schemeClr val="tx1"/>
                </a:solidFill>
                <a:latin typeface="+mn-lt"/>
                <a:cs typeface="Arial" panose="020B0604020202020204" pitchFamily="34" charset="0"/>
              </a:rPr>
              <a:t>1. </a:t>
            </a:r>
            <a:r>
              <a:rPr lang="en-GB" altLang="da-DK" sz="800" noProof="1">
                <a:solidFill>
                  <a:schemeClr val="tx1"/>
                </a:solidFill>
                <a:latin typeface="+mn-lt"/>
                <a:cs typeface="Arial" panose="020B0604020202020204" pitchFamily="34" charset="0"/>
              </a:rPr>
              <a:t>Click on </a:t>
            </a:r>
            <a:r>
              <a:rPr lang="en-GB" altLang="da-DK" sz="800" b="1" noProof="1">
                <a:solidFill>
                  <a:schemeClr val="tx1"/>
                </a:solidFill>
                <a:latin typeface="+mn-lt"/>
                <a:cs typeface="Arial" panose="020B0604020202020204" pitchFamily="34" charset="0"/>
              </a:rPr>
              <a:t>Home</a:t>
            </a:r>
          </a:p>
          <a:p>
            <a:pPr eaLnBrk="1" hangingPunct="1">
              <a:spcAft>
                <a:spcPts val="600"/>
              </a:spcAft>
              <a:defRPr/>
            </a:pPr>
            <a:r>
              <a:rPr lang="en-GB" altLang="da-DK" sz="800" b="1" noProof="1">
                <a:solidFill>
                  <a:schemeClr val="tx1"/>
                </a:solidFill>
                <a:latin typeface="+mn-lt"/>
                <a:cs typeface="Arial" panose="020B0604020202020204" pitchFamily="34" charset="0"/>
              </a:rPr>
              <a:t>2.</a:t>
            </a:r>
            <a:r>
              <a:rPr lang="en-GB" altLang="da-DK" sz="800" b="1" baseline="0" noProof="1">
                <a:solidFill>
                  <a:schemeClr val="tx1"/>
                </a:solidFill>
                <a:latin typeface="+mn-lt"/>
                <a:cs typeface="Arial" panose="020B0604020202020204" pitchFamily="34" charset="0"/>
              </a:rPr>
              <a:t> </a:t>
            </a:r>
            <a:r>
              <a:rPr lang="en-GB" altLang="da-DK" sz="800" baseline="0" noProof="1">
                <a:solidFill>
                  <a:schemeClr val="tx1"/>
                </a:solidFill>
                <a:latin typeface="+mn-lt"/>
                <a:cs typeface="Arial" panose="020B0604020202020204" pitchFamily="34" charset="0"/>
              </a:rPr>
              <a:t>Select </a:t>
            </a:r>
            <a:r>
              <a:rPr lang="en-GB" altLang="da-DK" sz="800" b="1" baseline="0" noProof="1">
                <a:solidFill>
                  <a:schemeClr val="tx1"/>
                </a:solidFill>
                <a:latin typeface="+mn-lt"/>
                <a:cs typeface="Arial" panose="020B0604020202020204" pitchFamily="34" charset="0"/>
              </a:rPr>
              <a:t>Layout</a:t>
            </a:r>
            <a:r>
              <a:rPr lang="en-GB" altLang="da-DK" sz="800" baseline="0" noProof="1">
                <a:solidFill>
                  <a:schemeClr val="tx1"/>
                </a:solidFill>
                <a:latin typeface="+mn-lt"/>
                <a:cs typeface="Arial" panose="020B0604020202020204" pitchFamily="34" charset="0"/>
              </a:rPr>
              <a:t> to change the layout of your current slide.</a:t>
            </a:r>
          </a:p>
        </p:txBody>
      </p:sp>
      <p:sp>
        <p:nvSpPr>
          <p:cNvPr id="36" name="Text Box 48">
            <a:extLst>
              <a:ext uri="{FF2B5EF4-FFF2-40B4-BE49-F238E27FC236}">
                <a16:creationId xmlns:a16="http://schemas.microsoft.com/office/drawing/2014/main" id="{26A5352B-2D88-0049-FF68-7A3677982A27}"/>
              </a:ext>
            </a:extLst>
          </p:cNvPr>
          <p:cNvSpPr txBox="1">
            <a:spLocks noChangeArrowheads="1"/>
          </p:cNvSpPr>
          <p:nvPr userDrawn="1"/>
        </p:nvSpPr>
        <p:spPr bwMode="auto">
          <a:xfrm>
            <a:off x="2570384" y="3315092"/>
            <a:ext cx="16346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Font</a:t>
            </a:r>
            <a:br>
              <a:rPr lang="en-GB" sz="1000" b="1" noProof="1">
                <a:solidFill>
                  <a:schemeClr val="tx1"/>
                </a:solidFill>
                <a:latin typeface="+mn-lt"/>
                <a:cs typeface="Arial" panose="020B0604020202020204" pitchFamily="34" charset="0"/>
              </a:rPr>
            </a:br>
            <a:r>
              <a:rPr lang="en-GB" altLang="da-DK" sz="800" b="0" noProof="1">
                <a:solidFill>
                  <a:schemeClr val="tx1"/>
                </a:solidFill>
                <a:latin typeface="+mn-lt"/>
                <a:cs typeface="Arial" panose="020B0604020202020204" pitchFamily="34" charset="0"/>
              </a:rPr>
              <a:t>UCPH uses the font Microsoft New Tai Lue in PowerPoint.</a:t>
            </a:r>
            <a:endParaRPr lang="en-GB" altLang="da-DK" sz="800" b="0" baseline="0" noProof="1">
              <a:solidFill>
                <a:schemeClr val="tx1"/>
              </a:solidFill>
              <a:latin typeface="+mn-lt"/>
              <a:cs typeface="Arial" panose="020B0604020202020204" pitchFamily="34" charset="0"/>
            </a:endParaRPr>
          </a:p>
        </p:txBody>
      </p:sp>
      <p:sp>
        <p:nvSpPr>
          <p:cNvPr id="38" name="Text Box 48">
            <a:extLst>
              <a:ext uri="{FF2B5EF4-FFF2-40B4-BE49-F238E27FC236}">
                <a16:creationId xmlns:a16="http://schemas.microsoft.com/office/drawing/2014/main" id="{F1FD1FCB-14AB-C8C8-E3B6-3A9C2354347E}"/>
              </a:ext>
            </a:extLst>
          </p:cNvPr>
          <p:cNvSpPr txBox="1">
            <a:spLocks noChangeArrowheads="1"/>
          </p:cNvSpPr>
          <p:nvPr userDrawn="1"/>
        </p:nvSpPr>
        <p:spPr bwMode="auto">
          <a:xfrm>
            <a:off x="4739114" y="1627125"/>
            <a:ext cx="1634624" cy="2339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Gridliness and Guides</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To see gridlines and guides</a:t>
            </a:r>
          </a:p>
          <a:p>
            <a:pPr marL="0" indent="0" eaLnBrk="1" hangingPunct="1">
              <a:lnSpc>
                <a:spcPct val="90000"/>
              </a:lnSpc>
              <a:spcAft>
                <a:spcPts val="600"/>
              </a:spcAft>
              <a:buNone/>
              <a:defRPr/>
            </a:pPr>
            <a:r>
              <a:rPr lang="en-GB" sz="800" b="1" noProof="1">
                <a:solidFill>
                  <a:schemeClr val="tx1"/>
                </a:solidFill>
                <a:latin typeface="+mj-lt"/>
                <a:cs typeface="Arial" panose="020B0604020202020204" pitchFamily="34" charset="0"/>
              </a:rPr>
              <a:t>1. </a:t>
            </a:r>
            <a:r>
              <a:rPr lang="en-GB" sz="800" b="0" noProof="1">
                <a:solidFill>
                  <a:schemeClr val="tx1"/>
                </a:solidFill>
                <a:latin typeface="+mj-lt"/>
                <a:cs typeface="Arial" panose="020B0604020202020204" pitchFamily="34" charset="0"/>
              </a:rPr>
              <a:t>Click on </a:t>
            </a:r>
            <a:r>
              <a:rPr lang="en-GB" sz="800" b="1" noProof="1">
                <a:solidFill>
                  <a:schemeClr val="tx1"/>
                </a:solidFill>
                <a:latin typeface="+mj-lt"/>
                <a:cs typeface="Arial" panose="020B0604020202020204" pitchFamily="34" charset="0"/>
              </a:rPr>
              <a:t>View</a:t>
            </a:r>
          </a:p>
          <a:p>
            <a:pPr marL="0" indent="0" eaLnBrk="1" hangingPunct="1">
              <a:lnSpc>
                <a:spcPct val="90000"/>
              </a:lnSpc>
              <a:spcAft>
                <a:spcPts val="600"/>
              </a:spcAft>
              <a:buNone/>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Select </a:t>
            </a:r>
            <a:r>
              <a:rPr lang="en-GB" sz="800" b="1" noProof="1">
                <a:solidFill>
                  <a:schemeClr val="tx1"/>
                </a:solidFill>
                <a:latin typeface="+mj-lt"/>
                <a:cs typeface="Arial" panose="020B0604020202020204" pitchFamily="34" charset="0"/>
              </a:rPr>
              <a:t>Gridlines</a:t>
            </a:r>
            <a:r>
              <a:rPr lang="en-GB" sz="800" b="0" noProof="1">
                <a:solidFill>
                  <a:schemeClr val="tx1"/>
                </a:solidFill>
                <a:latin typeface="+mj-lt"/>
                <a:cs typeface="Arial" panose="020B0604020202020204" pitchFamily="34" charset="0"/>
              </a:rPr>
              <a:t> and/or </a:t>
            </a:r>
            <a:r>
              <a:rPr lang="en-GB" sz="800" b="1" noProof="1">
                <a:solidFill>
                  <a:schemeClr val="tx1"/>
                </a:solidFill>
                <a:latin typeface="+mj-lt"/>
                <a:cs typeface="Arial" panose="020B0604020202020204" pitchFamily="34" charset="0"/>
              </a:rPr>
              <a:t>Guides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To establish additional gridlines and guides</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1. </a:t>
            </a:r>
            <a:r>
              <a:rPr lang="en-GB" sz="800" b="0" noProof="1">
                <a:solidFill>
                  <a:schemeClr val="tx1"/>
                </a:solidFill>
                <a:latin typeface="+mj-lt"/>
                <a:cs typeface="Arial" panose="020B0604020202020204" pitchFamily="34" charset="0"/>
              </a:rPr>
              <a:t>Hover the mouse over an existing gridline and click on the line (coordinates of the line are displayed)</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Hold down the </a:t>
            </a:r>
            <a:r>
              <a:rPr lang="en-GB" sz="800" b="1" noProof="1">
                <a:solidFill>
                  <a:schemeClr val="tx1"/>
                </a:solidFill>
                <a:latin typeface="+mj-lt"/>
                <a:cs typeface="Arial" panose="020B0604020202020204" pitchFamily="34" charset="0"/>
              </a:rPr>
              <a:t>CTRL key </a:t>
            </a:r>
            <a:r>
              <a:rPr lang="en-GB" sz="800" b="0" noProof="1">
                <a:solidFill>
                  <a:schemeClr val="tx1"/>
                </a:solidFill>
                <a:latin typeface="+mj-lt"/>
                <a:cs typeface="Arial" panose="020B0604020202020204" pitchFamily="34" charset="0"/>
              </a:rPr>
              <a:t>while you move the location of the line (adds a new line).</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Tip: </a:t>
            </a:r>
            <a:r>
              <a:rPr lang="en-GB" sz="800" b="0" noProof="1">
                <a:solidFill>
                  <a:schemeClr val="tx1"/>
                </a:solidFill>
                <a:latin typeface="+mj-lt"/>
                <a:cs typeface="Arial" panose="020B0604020202020204" pitchFamily="34" charset="0"/>
              </a:rPr>
              <a:t>Press Alt + F9 for a rapid display of gridlines</a:t>
            </a:r>
          </a:p>
        </p:txBody>
      </p:sp>
      <p:sp>
        <p:nvSpPr>
          <p:cNvPr id="40" name="Text Box 48">
            <a:extLst>
              <a:ext uri="{FF2B5EF4-FFF2-40B4-BE49-F238E27FC236}">
                <a16:creationId xmlns:a16="http://schemas.microsoft.com/office/drawing/2014/main" id="{C4D76095-C685-6F22-B51D-0AFAF348C4C3}"/>
              </a:ext>
            </a:extLst>
          </p:cNvPr>
          <p:cNvSpPr txBox="1">
            <a:spLocks noChangeArrowheads="1"/>
          </p:cNvSpPr>
          <p:nvPr userDrawn="1"/>
        </p:nvSpPr>
        <p:spPr bwMode="auto">
          <a:xfrm>
            <a:off x="4728822" y="4141417"/>
            <a:ext cx="1634624" cy="2145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Insert picture</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On layouts with picture placeholders: Click the icon and select </a:t>
            </a:r>
            <a:r>
              <a:rPr lang="en-GB" sz="800" b="1" noProof="1">
                <a:solidFill>
                  <a:schemeClr val="tx1"/>
                </a:solidFill>
                <a:latin typeface="+mj-lt"/>
                <a:cs typeface="Arial" panose="020B0604020202020204" pitchFamily="34" charset="0"/>
              </a:rPr>
              <a:t>Insert</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The text  ”Clik here to insert image” will not be visible in presentation mode.</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You can find UCPH-images, which are adapted to and minimised to 16:9 format via this link: </a:t>
            </a:r>
            <a:br>
              <a:rPr lang="en-GB" sz="800" b="0"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 </a:t>
            </a:r>
            <a:r>
              <a:rPr lang="en-GB" sz="800" b="0" noProof="1">
                <a:solidFill>
                  <a:schemeClr val="accent4"/>
                </a:solidFill>
                <a:latin typeface="+mj-lt"/>
                <a:cs typeface="Arial" panose="020B0604020202020204" pitchFamily="34" charset="0"/>
                <a:hlinkClick r:id="rId4">
                  <a:extLst>
                    <a:ext uri="{A12FA001-AC4F-418D-AE19-62706E023703}">
                      <ahyp:hlinkClr xmlns:ahyp="http://schemas.microsoft.com/office/drawing/2018/hyperlinkcolor" val="tx"/>
                    </a:ext>
                  </a:extLst>
                </a:hlinkClick>
              </a:rPr>
              <a:t>https://image.ku.dk/shared/aZwD18034DnM3TYEw9XagEF6kxI6MLkV</a:t>
            </a:r>
            <a:endParaRPr lang="en-GB" sz="800" b="0" noProof="1">
              <a:solidFill>
                <a:schemeClr val="accent4"/>
              </a:solidFill>
              <a:latin typeface="+mj-lt"/>
              <a:cs typeface="Arial" panose="020B0604020202020204" pitchFamily="34" charset="0"/>
            </a:endParaRP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Select slide show-view to activate the link.</a:t>
            </a:r>
          </a:p>
        </p:txBody>
      </p:sp>
      <p:sp>
        <p:nvSpPr>
          <p:cNvPr id="42" name="Text Box 48">
            <a:extLst>
              <a:ext uri="{FF2B5EF4-FFF2-40B4-BE49-F238E27FC236}">
                <a16:creationId xmlns:a16="http://schemas.microsoft.com/office/drawing/2014/main" id="{449B76C2-6958-26C2-DD52-28127622EE08}"/>
              </a:ext>
            </a:extLst>
          </p:cNvPr>
          <p:cNvSpPr txBox="1">
            <a:spLocks noChangeArrowheads="1"/>
          </p:cNvSpPr>
          <p:nvPr userDrawn="1"/>
        </p:nvSpPr>
        <p:spPr bwMode="auto">
          <a:xfrm>
            <a:off x="6691561" y="1640495"/>
            <a:ext cx="163462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Image sizes</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The optimal picture size is: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16:9-format: 1.500 x 818 pixels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Save the images in 72 dpi and in "jpg medium quality"</a:t>
            </a:r>
          </a:p>
        </p:txBody>
      </p:sp>
      <p:sp>
        <p:nvSpPr>
          <p:cNvPr id="44" name="Text Box 48">
            <a:extLst>
              <a:ext uri="{FF2B5EF4-FFF2-40B4-BE49-F238E27FC236}">
                <a16:creationId xmlns:a16="http://schemas.microsoft.com/office/drawing/2014/main" id="{B1B679C7-F81E-AF72-3832-BC2B20AF81E0}"/>
              </a:ext>
            </a:extLst>
          </p:cNvPr>
          <p:cNvSpPr txBox="1">
            <a:spLocks noChangeArrowheads="1"/>
          </p:cNvSpPr>
          <p:nvPr userDrawn="1"/>
        </p:nvSpPr>
        <p:spPr bwMode="auto">
          <a:xfrm>
            <a:off x="6691561" y="2720006"/>
            <a:ext cx="1634624"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Trimming pictures</a:t>
            </a:r>
            <a:br>
              <a:rPr lang="en-GB" sz="1000" b="1" noProof="1">
                <a:solidFill>
                  <a:schemeClr val="tx1"/>
                </a:solidFill>
                <a:latin typeface="+mj-lt"/>
                <a:cs typeface="Arial" panose="020B0604020202020204" pitchFamily="34" charset="0"/>
              </a:rPr>
            </a:br>
            <a:r>
              <a:rPr lang="en-GB" sz="800" b="1" noProof="1">
                <a:solidFill>
                  <a:schemeClr val="tx1"/>
                </a:solidFill>
                <a:latin typeface="+mj-lt"/>
                <a:cs typeface="Arial" panose="020B0604020202020204" pitchFamily="34" charset="0"/>
              </a:rPr>
              <a:t>1</a:t>
            </a:r>
            <a:r>
              <a:rPr lang="en-GB" sz="800" b="0" noProof="1">
                <a:solidFill>
                  <a:schemeClr val="tx1"/>
                </a:solidFill>
                <a:latin typeface="+mj-lt"/>
                <a:cs typeface="Arial" panose="020B0604020202020204" pitchFamily="34" charset="0"/>
              </a:rPr>
              <a:t>. Click</a:t>
            </a:r>
            <a:r>
              <a:rPr lang="en-GB" sz="800" b="1" noProof="1">
                <a:solidFill>
                  <a:schemeClr val="tx1"/>
                </a:solidFill>
                <a:latin typeface="+mj-lt"/>
                <a:cs typeface="Arial" panose="020B0604020202020204" pitchFamily="34" charset="0"/>
              </a:rPr>
              <a:t> Crop </a:t>
            </a:r>
            <a:r>
              <a:rPr lang="en-GB" sz="800" b="0" noProof="1">
                <a:solidFill>
                  <a:schemeClr val="tx1"/>
                </a:solidFill>
                <a:latin typeface="+mj-lt"/>
                <a:cs typeface="Arial" panose="020B0604020202020204" pitchFamily="34" charset="0"/>
              </a:rPr>
              <a:t>to change the image focus/size</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If you want to scale the picture, hold the </a:t>
            </a:r>
            <a:r>
              <a:rPr lang="en-GB" sz="800" b="1" noProof="1">
                <a:solidFill>
                  <a:schemeClr val="tx1"/>
                </a:solidFill>
                <a:latin typeface="+mj-lt"/>
                <a:cs typeface="Arial" panose="020B0604020202020204" pitchFamily="34" charset="0"/>
              </a:rPr>
              <a:t>SHIFT</a:t>
            </a:r>
            <a:r>
              <a:rPr lang="en-GB" sz="800" b="0" noProof="1">
                <a:solidFill>
                  <a:schemeClr val="tx1"/>
                </a:solidFill>
                <a:latin typeface="+mj-lt"/>
                <a:cs typeface="Arial" panose="020B0604020202020204" pitchFamily="34" charset="0"/>
              </a:rPr>
              <a:t> button down while dragging in the image corners</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3. </a:t>
            </a:r>
            <a:r>
              <a:rPr lang="en-GB" sz="800" b="0" noProof="1">
                <a:solidFill>
                  <a:schemeClr val="tx1"/>
                </a:solidFill>
                <a:latin typeface="+mj-lt"/>
                <a:cs typeface="Arial" panose="020B0604020202020204" pitchFamily="34" charset="0"/>
              </a:rPr>
              <a:t>Right-click on the picture and select </a:t>
            </a:r>
            <a:r>
              <a:rPr lang="en-GB" sz="800" b="1" noProof="1">
                <a:solidFill>
                  <a:schemeClr val="tx1"/>
                </a:solidFill>
                <a:latin typeface="+mj-lt"/>
                <a:cs typeface="Arial" panose="020B0604020202020204" pitchFamily="34" charset="0"/>
              </a:rPr>
              <a:t>Send to back</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Tip: </a:t>
            </a:r>
            <a:r>
              <a:rPr lang="en-GB" sz="800" b="0" noProof="1">
                <a:solidFill>
                  <a:schemeClr val="tx1"/>
                </a:solidFill>
                <a:latin typeface="+mj-lt"/>
                <a:cs typeface="Arial" panose="020B0604020202020204" pitchFamily="34" charset="0"/>
              </a:rPr>
              <a:t>If you delete the picture and inserts a new, the picture may be in front of text and graphics. If this happens, you must select the image, right-click and select </a:t>
            </a:r>
            <a:r>
              <a:rPr lang="en-GB" sz="800" b="1" noProof="1">
                <a:solidFill>
                  <a:schemeClr val="tx1"/>
                </a:solidFill>
                <a:latin typeface="+mj-lt"/>
                <a:cs typeface="Arial" panose="020B0604020202020204" pitchFamily="34" charset="0"/>
              </a:rPr>
              <a:t>Send to back</a:t>
            </a:r>
          </a:p>
        </p:txBody>
      </p:sp>
      <p:sp>
        <p:nvSpPr>
          <p:cNvPr id="46" name="Text Box 48">
            <a:extLst>
              <a:ext uri="{FF2B5EF4-FFF2-40B4-BE49-F238E27FC236}">
                <a16:creationId xmlns:a16="http://schemas.microsoft.com/office/drawing/2014/main" id="{DBC859E9-AAD9-582D-9CAB-53B97A96B2FE}"/>
              </a:ext>
            </a:extLst>
          </p:cNvPr>
          <p:cNvSpPr txBox="1">
            <a:spLocks noChangeArrowheads="1"/>
          </p:cNvSpPr>
          <p:nvPr userDrawn="1"/>
        </p:nvSpPr>
        <p:spPr bwMode="auto">
          <a:xfrm>
            <a:off x="6691561" y="4765322"/>
            <a:ext cx="1634624" cy="994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Template colors</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You can choose between a range of colors for backgrounds and graphs.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Right-click on the surface of which you want to change the color and then click on the paint can icon</a:t>
            </a:r>
          </a:p>
        </p:txBody>
      </p:sp>
      <p:sp>
        <p:nvSpPr>
          <p:cNvPr id="48" name="Text Box 48">
            <a:extLst>
              <a:ext uri="{FF2B5EF4-FFF2-40B4-BE49-F238E27FC236}">
                <a16:creationId xmlns:a16="http://schemas.microsoft.com/office/drawing/2014/main" id="{5BDA7DE1-7BD9-6953-4F2C-C23FAB665D31}"/>
              </a:ext>
            </a:extLst>
          </p:cNvPr>
          <p:cNvSpPr txBox="1">
            <a:spLocks noChangeArrowheads="1"/>
          </p:cNvSpPr>
          <p:nvPr userDrawn="1"/>
        </p:nvSpPr>
        <p:spPr bwMode="auto">
          <a:xfrm>
            <a:off x="6691561" y="5815137"/>
            <a:ext cx="16346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Further information</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See</a:t>
            </a:r>
            <a:r>
              <a:rPr lang="en-GB" sz="800" b="0" baseline="0" noProof="1">
                <a:solidFill>
                  <a:schemeClr val="tx1"/>
                </a:solidFill>
                <a:latin typeface="+mj-lt"/>
                <a:cs typeface="Arial" panose="020B0604020202020204" pitchFamily="34" charset="0"/>
              </a:rPr>
              <a:t> </a:t>
            </a:r>
            <a:br>
              <a:rPr lang="en-GB" sz="800" b="0" baseline="0" noProof="1">
                <a:solidFill>
                  <a:schemeClr val="tx1"/>
                </a:solidFill>
                <a:latin typeface="+mj-lt"/>
                <a:cs typeface="Arial" panose="020B0604020202020204" pitchFamily="34" charset="0"/>
              </a:rPr>
            </a:br>
            <a: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www.designguide.ku.dk/</a:t>
            </a:r>
            <a:b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br>
            <a: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skabeloner/powerpoint/</a:t>
            </a:r>
            <a:b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br>
            <a: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praesentationer/</a:t>
            </a:r>
            <a:endParaRPr lang="en-GB" sz="800" b="0" noProof="1">
              <a:solidFill>
                <a:schemeClr val="accent4"/>
              </a:solidFill>
              <a:latin typeface="+mj-lt"/>
              <a:cs typeface="Arial" panose="020B0604020202020204" pitchFamily="34" charset="0"/>
            </a:endParaRPr>
          </a:p>
        </p:txBody>
      </p:sp>
      <p:pic>
        <p:nvPicPr>
          <p:cNvPr id="50" name="Billede 25">
            <a:extLst>
              <a:ext uri="{FF2B5EF4-FFF2-40B4-BE49-F238E27FC236}">
                <a16:creationId xmlns:a16="http://schemas.microsoft.com/office/drawing/2014/main" id="{2BC7410A-935F-DC4A-F8A5-7F39AC457C1E}"/>
              </a:ext>
            </a:extLst>
          </p:cNvPr>
          <p:cNvPicPr>
            <a:picLocks noChangeAspect="1"/>
          </p:cNvPicPr>
          <p:nvPr userDrawn="1"/>
        </p:nvPicPr>
        <p:blipFill>
          <a:blip r:embed="rId6"/>
          <a:stretch>
            <a:fillRect/>
          </a:stretch>
        </p:blipFill>
        <p:spPr>
          <a:xfrm>
            <a:off x="6268044" y="4201412"/>
            <a:ext cx="257327" cy="275280"/>
          </a:xfrm>
          <a:prstGeom prst="rect">
            <a:avLst/>
          </a:prstGeom>
        </p:spPr>
      </p:pic>
      <p:pic>
        <p:nvPicPr>
          <p:cNvPr id="52" name="Billede 36">
            <a:extLst>
              <a:ext uri="{FF2B5EF4-FFF2-40B4-BE49-F238E27FC236}">
                <a16:creationId xmlns:a16="http://schemas.microsoft.com/office/drawing/2014/main" id="{56A21FCA-F356-F238-3DEE-A13BEFECD377}"/>
              </a:ext>
            </a:extLst>
          </p:cNvPr>
          <p:cNvPicPr>
            <a:picLocks noChangeAspect="1"/>
          </p:cNvPicPr>
          <p:nvPr userDrawn="1"/>
        </p:nvPicPr>
        <p:blipFill>
          <a:blip r:embed="rId7"/>
          <a:stretch>
            <a:fillRect/>
          </a:stretch>
        </p:blipFill>
        <p:spPr>
          <a:xfrm>
            <a:off x="8223538" y="2795378"/>
            <a:ext cx="288708" cy="275280"/>
          </a:xfrm>
          <a:prstGeom prst="rect">
            <a:avLst/>
          </a:prstGeom>
        </p:spPr>
      </p:pic>
      <p:pic>
        <p:nvPicPr>
          <p:cNvPr id="54" name="Billede 37">
            <a:extLst>
              <a:ext uri="{FF2B5EF4-FFF2-40B4-BE49-F238E27FC236}">
                <a16:creationId xmlns:a16="http://schemas.microsoft.com/office/drawing/2014/main" id="{8288A8D2-A953-FCF5-C54C-BED0258209D5}"/>
              </a:ext>
            </a:extLst>
          </p:cNvPr>
          <p:cNvPicPr>
            <a:picLocks noChangeAspect="1"/>
          </p:cNvPicPr>
          <p:nvPr userDrawn="1"/>
        </p:nvPicPr>
        <p:blipFill>
          <a:blip r:embed="rId8"/>
          <a:stretch>
            <a:fillRect/>
          </a:stretch>
        </p:blipFill>
        <p:spPr>
          <a:xfrm>
            <a:off x="8241826" y="3187789"/>
            <a:ext cx="223122" cy="228843"/>
          </a:xfrm>
          <a:prstGeom prst="rect">
            <a:avLst/>
          </a:prstGeom>
        </p:spPr>
      </p:pic>
      <p:sp>
        <p:nvSpPr>
          <p:cNvPr id="56" name="Text Box 48">
            <a:extLst>
              <a:ext uri="{FF2B5EF4-FFF2-40B4-BE49-F238E27FC236}">
                <a16:creationId xmlns:a16="http://schemas.microsoft.com/office/drawing/2014/main" id="{1AAEA91B-6C9C-9157-EFF5-6EEB67507A8E}"/>
              </a:ext>
            </a:extLst>
          </p:cNvPr>
          <p:cNvSpPr txBox="1">
            <a:spLocks noChangeArrowheads="1"/>
          </p:cNvSpPr>
          <p:nvPr userDrawn="1"/>
        </p:nvSpPr>
        <p:spPr bwMode="auto">
          <a:xfrm>
            <a:off x="2570384" y="1666128"/>
            <a:ext cx="176813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altLang="da-DK" sz="800" b="1" noProof="1">
                <a:solidFill>
                  <a:schemeClr val="tx1"/>
                </a:solidFill>
                <a:latin typeface="+mn-lt"/>
                <a:cs typeface="Arial" panose="020B0604020202020204" pitchFamily="34" charset="0"/>
              </a:rPr>
              <a:t>2.</a:t>
            </a:r>
            <a:r>
              <a:rPr lang="en-GB" altLang="da-DK" sz="800" b="1" baseline="0" noProof="1">
                <a:solidFill>
                  <a:schemeClr val="tx1"/>
                </a:solidFill>
                <a:latin typeface="+mn-lt"/>
                <a:cs typeface="Arial" panose="020B0604020202020204" pitchFamily="34" charset="0"/>
              </a:rPr>
              <a:t> </a:t>
            </a:r>
            <a:r>
              <a:rPr lang="en-GB" altLang="da-DK" sz="800" baseline="0" noProof="1">
                <a:solidFill>
                  <a:schemeClr val="tx1"/>
                </a:solidFill>
                <a:latin typeface="+mn-lt"/>
                <a:cs typeface="Arial" panose="020B0604020202020204" pitchFamily="34" charset="0"/>
              </a:rPr>
              <a:t>Under the </a:t>
            </a:r>
            <a:r>
              <a:rPr lang="en-GB" altLang="da-DK" sz="800" b="1" baseline="0" noProof="1">
                <a:solidFill>
                  <a:schemeClr val="tx1"/>
                </a:solidFill>
                <a:latin typeface="+mn-lt"/>
                <a:cs typeface="Arial" panose="020B0604020202020204" pitchFamily="34" charset="0"/>
              </a:rPr>
              <a:t>New slide </a:t>
            </a:r>
            <a:r>
              <a:rPr lang="en-GB" altLang="da-DK" sz="800" baseline="0" noProof="1">
                <a:solidFill>
                  <a:schemeClr val="tx1"/>
                </a:solidFill>
                <a:latin typeface="+mn-lt"/>
                <a:cs typeface="Arial" panose="020B0604020202020204" pitchFamily="34" charset="0"/>
              </a:rPr>
              <a:t>button Click on the top part of the button to create a slide identical to the one selected. Click on the bottom part of the button to see a selection of possible layout choices</a:t>
            </a:r>
            <a:endParaRPr lang="en-GB" altLang="da-DK" sz="800" noProof="1">
              <a:solidFill>
                <a:schemeClr val="tx1"/>
              </a:solidFill>
              <a:latin typeface="+mn-lt"/>
              <a:cs typeface="Arial" panose="020B0604020202020204" pitchFamily="34" charset="0"/>
            </a:endParaRPr>
          </a:p>
        </p:txBody>
      </p:sp>
      <p:pic>
        <p:nvPicPr>
          <p:cNvPr id="58" name="Picture 61">
            <a:extLst>
              <a:ext uri="{FF2B5EF4-FFF2-40B4-BE49-F238E27FC236}">
                <a16:creationId xmlns:a16="http://schemas.microsoft.com/office/drawing/2014/main" id="{874C9D93-430E-897F-0010-953653748BCE}"/>
              </a:ext>
            </a:extLst>
          </p:cNvPr>
          <p:cNvPicPr>
            <a:picLocks noChangeAspect="1"/>
          </p:cNvPicPr>
          <p:nvPr userDrawn="1"/>
        </p:nvPicPr>
        <p:blipFill>
          <a:blip r:embed="rId9"/>
          <a:stretch>
            <a:fillRect/>
          </a:stretch>
        </p:blipFill>
        <p:spPr>
          <a:xfrm>
            <a:off x="4271879" y="1743737"/>
            <a:ext cx="243186" cy="432989"/>
          </a:xfrm>
          <a:prstGeom prst="rect">
            <a:avLst/>
          </a:prstGeom>
        </p:spPr>
      </p:pic>
    </p:spTree>
    <p:extLst>
      <p:ext uri="{BB962C8B-B14F-4D97-AF65-F5344CB8AC3E}">
        <p14:creationId xmlns:p14="http://schemas.microsoft.com/office/powerpoint/2010/main" val="274027937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588965" y="620714"/>
            <a:ext cx="11012486" cy="864858"/>
          </a:xfrm>
          <a:prstGeom prst="rect">
            <a:avLst/>
          </a:prstGeom>
        </p:spPr>
        <p:txBody>
          <a:bodyPr vert="horz" lIns="0" tIns="0" rIns="0" bIns="0" rtlCol="0" anchor="t" anchorCtr="0">
            <a:noAutofit/>
          </a:bodyPr>
          <a:lstStyle/>
          <a:p>
            <a:r>
              <a:rPr lang="en-GB" dirty="0" err="1"/>
              <a:t>Klik</a:t>
            </a:r>
            <a:r>
              <a:rPr lang="en-GB" dirty="0"/>
              <a:t> for at </a:t>
            </a:r>
            <a:r>
              <a:rPr lang="en-GB" dirty="0" err="1"/>
              <a:t>redigere</a:t>
            </a:r>
            <a:r>
              <a:rPr lang="en-GB" dirty="0"/>
              <a:t> </a:t>
            </a:r>
            <a:r>
              <a:rPr lang="en-GB" dirty="0" err="1"/>
              <a:t>i</a:t>
            </a:r>
            <a:r>
              <a:rPr lang="en-GB" dirty="0"/>
              <a:t> master</a:t>
            </a:r>
          </a:p>
        </p:txBody>
      </p:sp>
      <p:sp>
        <p:nvSpPr>
          <p:cNvPr id="3" name="Pladsholder til tekst 2"/>
          <p:cNvSpPr>
            <a:spLocks noGrp="1"/>
          </p:cNvSpPr>
          <p:nvPr>
            <p:ph type="body" idx="1"/>
          </p:nvPr>
        </p:nvSpPr>
        <p:spPr>
          <a:xfrm>
            <a:off x="588964" y="1628775"/>
            <a:ext cx="11012487" cy="4673600"/>
          </a:xfrm>
          <a:prstGeom prst="rect">
            <a:avLst/>
          </a:prstGeom>
        </p:spPr>
        <p:txBody>
          <a:bodyPr vert="horz" lIns="0" tIns="0" rIns="0" bIns="0" rtlCol="0">
            <a:noAutofit/>
          </a:bodyPr>
          <a:lstStyle/>
          <a:p>
            <a:pPr lvl="0"/>
            <a:r>
              <a:rPr lang="en-GB" dirty="0" err="1"/>
              <a:t>Klik</a:t>
            </a:r>
            <a:r>
              <a:rPr lang="en-GB" dirty="0"/>
              <a:t> for at </a:t>
            </a:r>
            <a:r>
              <a:rPr lang="en-GB" dirty="0" err="1"/>
              <a:t>redigere</a:t>
            </a:r>
            <a:r>
              <a:rPr lang="en-GB" dirty="0"/>
              <a:t> </a:t>
            </a:r>
            <a:r>
              <a:rPr lang="en-GB" dirty="0" err="1"/>
              <a:t>i</a:t>
            </a:r>
            <a:r>
              <a:rPr lang="en-GB" dirty="0"/>
              <a:t> master</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p:txBody>
      </p:sp>
      <p:sp>
        <p:nvSpPr>
          <p:cNvPr id="10" name="Rectangle 19">
            <a:extLst>
              <a:ext uri="{FF2B5EF4-FFF2-40B4-BE49-F238E27FC236}">
                <a16:creationId xmlns:a16="http://schemas.microsoft.com/office/drawing/2014/main" id="{AF5BBBEC-8DDA-37BC-3B1E-5DB781A5DDC2}"/>
              </a:ext>
            </a:extLst>
          </p:cNvPr>
          <p:cNvSpPr/>
          <p:nvPr userDrawn="1"/>
        </p:nvSpPr>
        <p:spPr>
          <a:xfrm>
            <a:off x="0" y="0"/>
            <a:ext cx="12192000" cy="332655"/>
          </a:xfrm>
          <a:prstGeom prst="rect">
            <a:avLst/>
          </a:prstGeom>
          <a:gradFill flip="none" rotWithShape="1">
            <a:gsLst>
              <a:gs pos="0">
                <a:srgbClr val="FFFFFF"/>
              </a:gs>
              <a:gs pos="100000">
                <a:srgbClr val="EEEFEE">
                  <a:alpha val="92941"/>
                </a:srgbClr>
              </a:gs>
            </a:gsLst>
            <a:lin ang="5400000" scaled="0"/>
            <a:tileRect/>
          </a:gradFill>
          <a:ln w="381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5" name="Pladsholder til sidefod 4"/>
          <p:cNvSpPr>
            <a:spLocks noGrp="1"/>
          </p:cNvSpPr>
          <p:nvPr>
            <p:ph type="ftr" sz="quarter" idx="3"/>
          </p:nvPr>
        </p:nvSpPr>
        <p:spPr>
          <a:xfrm>
            <a:off x="3236495" y="85745"/>
            <a:ext cx="6981162" cy="176797"/>
          </a:xfrm>
          <a:prstGeom prst="rect">
            <a:avLst/>
          </a:prstGeom>
        </p:spPr>
        <p:txBody>
          <a:bodyPr vert="horz" lIns="0" tIns="0" rIns="0" bIns="0" rtlCol="0" anchor="b" anchorCtr="0"/>
          <a:lstStyle>
            <a:lvl1pPr algn="r">
              <a:defRPr sz="1000">
                <a:solidFill>
                  <a:srgbClr val="333333"/>
                </a:solidFill>
              </a:defRPr>
            </a:lvl1pPr>
          </a:lstStyle>
          <a:p>
            <a:endParaRPr lang="en-GB" dirty="0"/>
          </a:p>
        </p:txBody>
      </p:sp>
      <p:sp>
        <p:nvSpPr>
          <p:cNvPr id="6" name="Pladsholder til slidenummer 5"/>
          <p:cNvSpPr>
            <a:spLocks noGrp="1"/>
          </p:cNvSpPr>
          <p:nvPr>
            <p:ph type="sldNum" sz="quarter" idx="4"/>
          </p:nvPr>
        </p:nvSpPr>
        <p:spPr>
          <a:xfrm>
            <a:off x="11219691" y="85745"/>
            <a:ext cx="381759" cy="176797"/>
          </a:xfrm>
          <a:prstGeom prst="rect">
            <a:avLst/>
          </a:prstGeom>
        </p:spPr>
        <p:txBody>
          <a:bodyPr vert="horz" lIns="0" tIns="0" rIns="0" bIns="0" rtlCol="0" anchor="b" anchorCtr="0"/>
          <a:lstStyle>
            <a:lvl1pPr algn="r">
              <a:defRPr sz="1000">
                <a:solidFill>
                  <a:srgbClr val="333333"/>
                </a:solidFill>
              </a:defRPr>
            </a:lvl1pPr>
          </a:lstStyle>
          <a:p>
            <a:fld id="{091A926C-488A-4E3E-9C21-57CAA120E114}" type="slidenum">
              <a:rPr lang="en-GB" smtClean="0"/>
              <a:pPr/>
              <a:t>‹nr.›</a:t>
            </a:fld>
            <a:endParaRPr lang="en-GB" dirty="0"/>
          </a:p>
        </p:txBody>
      </p:sp>
      <p:sp>
        <p:nvSpPr>
          <p:cNvPr id="4" name="Pladsholder til dato 3"/>
          <p:cNvSpPr>
            <a:spLocks noGrp="1"/>
          </p:cNvSpPr>
          <p:nvPr>
            <p:ph type="dt" sz="half" idx="2"/>
          </p:nvPr>
        </p:nvSpPr>
        <p:spPr>
          <a:xfrm>
            <a:off x="10329111" y="85745"/>
            <a:ext cx="814976" cy="176797"/>
          </a:xfrm>
          <a:prstGeom prst="rect">
            <a:avLst/>
          </a:prstGeom>
        </p:spPr>
        <p:txBody>
          <a:bodyPr vert="horz" lIns="0" tIns="0" rIns="0" bIns="0" rtlCol="0" anchor="b" anchorCtr="0"/>
          <a:lstStyle>
            <a:lvl1pPr algn="r">
              <a:defRPr sz="1000">
                <a:solidFill>
                  <a:srgbClr val="333333"/>
                </a:solidFill>
              </a:defRPr>
            </a:lvl1pPr>
          </a:lstStyle>
          <a:p>
            <a:fld id="{0FFE5DD6-2126-4C5A-ADA9-CF5BE748E714}" type="datetime1">
              <a:rPr lang="en-GB" smtClean="0"/>
              <a:t>09/06/2026</a:t>
            </a:fld>
            <a:endParaRPr lang="en-GB" dirty="0"/>
          </a:p>
        </p:txBody>
      </p:sp>
      <p:pic>
        <p:nvPicPr>
          <p:cNvPr id="7" name="Picture 11">
            <a:extLst>
              <a:ext uri="{FF2B5EF4-FFF2-40B4-BE49-F238E27FC236}">
                <a16:creationId xmlns:a16="http://schemas.microsoft.com/office/drawing/2014/main" id="{2B48C9BE-CCF6-3266-2B8E-D27C7F011C9B}"/>
              </a:ext>
            </a:extLst>
          </p:cNvPr>
          <p:cNvPicPr>
            <a:picLocks noChangeAspect="1"/>
          </p:cNvPicPr>
          <p:nvPr userDrawn="1"/>
        </p:nvPicPr>
        <p:blipFill rotWithShape="1">
          <a:blip r:embed="rId32"/>
          <a:srcRect l="12043" t="11448" r="17199" b="13844"/>
          <a:stretch/>
        </p:blipFill>
        <p:spPr>
          <a:xfrm>
            <a:off x="335534" y="63578"/>
            <a:ext cx="166516" cy="211296"/>
          </a:xfrm>
          <a:prstGeom prst="rect">
            <a:avLst/>
          </a:prstGeom>
        </p:spPr>
      </p:pic>
      <p:pic>
        <p:nvPicPr>
          <p:cNvPr id="13" name="Picture 27">
            <a:extLst>
              <a:ext uri="{FF2B5EF4-FFF2-40B4-BE49-F238E27FC236}">
                <a16:creationId xmlns:a16="http://schemas.microsoft.com/office/drawing/2014/main" id="{863DD73D-5725-327E-8366-645E99E26ECD}"/>
              </a:ext>
            </a:extLst>
          </p:cNvPr>
          <p:cNvPicPr>
            <a:picLocks noChangeAspect="1"/>
          </p:cNvPicPr>
          <p:nvPr userDrawn="1"/>
        </p:nvPicPr>
        <p:blipFill>
          <a:blip r:embed="rId33" cstate="print">
            <a:extLst>
              <a:ext uri="{28A0092B-C50C-407E-A947-70E740481C1C}">
                <a14:useLocalDpi xmlns:a14="http://schemas.microsoft.com/office/drawing/2010/main" val="0"/>
              </a:ext>
            </a:extLst>
          </a:blip>
          <a:stretch>
            <a:fillRect/>
          </a:stretch>
        </p:blipFill>
        <p:spPr>
          <a:xfrm>
            <a:off x="561694" y="96467"/>
            <a:ext cx="2332648" cy="159521"/>
          </a:xfrm>
          <a:prstGeom prst="rect">
            <a:avLst/>
          </a:prstGeom>
        </p:spPr>
      </p:pic>
    </p:spTree>
    <p:extLst>
      <p:ext uri="{BB962C8B-B14F-4D97-AF65-F5344CB8AC3E}">
        <p14:creationId xmlns:p14="http://schemas.microsoft.com/office/powerpoint/2010/main" val="1203620196"/>
      </p:ext>
    </p:extLst>
  </p:cSld>
  <p:clrMap bg1="lt1" tx1="dk1" bg2="lt2" tx2="dk2" accent1="accent1" accent2="accent2" accent3="accent3" accent4="accent4" accent5="accent5" accent6="accent6" hlink="hlink" folHlink="folHlink"/>
  <p:sldLayoutIdLst>
    <p:sldLayoutId id="2147483672" r:id="rId1"/>
    <p:sldLayoutId id="2147483659" r:id="rId2"/>
    <p:sldLayoutId id="2147483671" r:id="rId3"/>
    <p:sldLayoutId id="2147483701" r:id="rId4"/>
    <p:sldLayoutId id="2147483674" r:id="rId5"/>
    <p:sldLayoutId id="2147483670" r:id="rId6"/>
    <p:sldLayoutId id="2147483660" r:id="rId7"/>
    <p:sldLayoutId id="2147483662" r:id="rId8"/>
    <p:sldLayoutId id="2147483684" r:id="rId9"/>
    <p:sldLayoutId id="2147483685" r:id="rId10"/>
    <p:sldLayoutId id="2147483664" r:id="rId11"/>
    <p:sldLayoutId id="2147483665" r:id="rId12"/>
    <p:sldLayoutId id="2147483689" r:id="rId13"/>
    <p:sldLayoutId id="2147483702" r:id="rId14"/>
    <p:sldLayoutId id="2147483703" r:id="rId15"/>
    <p:sldLayoutId id="2147483694" r:id="rId16"/>
    <p:sldLayoutId id="2147483692" r:id="rId17"/>
    <p:sldLayoutId id="2147483691" r:id="rId18"/>
    <p:sldLayoutId id="2147483697" r:id="rId19"/>
    <p:sldLayoutId id="2147483704" r:id="rId20"/>
    <p:sldLayoutId id="2147483705" r:id="rId21"/>
    <p:sldLayoutId id="2147483695" r:id="rId22"/>
    <p:sldLayoutId id="2147483698" r:id="rId23"/>
    <p:sldLayoutId id="2147483706" r:id="rId24"/>
    <p:sldLayoutId id="2147483707" r:id="rId25"/>
    <p:sldLayoutId id="2147483708" r:id="rId26"/>
    <p:sldLayoutId id="2147483709" r:id="rId27"/>
    <p:sldLayoutId id="2147483710" r:id="rId28"/>
    <p:sldLayoutId id="2147483693" r:id="rId29"/>
    <p:sldLayoutId id="2147483688" r:id="rId30"/>
  </p:sldLayoutIdLst>
  <p:hf hdr="0" ftr="0"/>
  <p:txStyles>
    <p:titleStyle>
      <a:lvl1pPr algn="l" defTabSz="914400" rtl="0" eaLnBrk="1" latinLnBrk="0" hangingPunct="1">
        <a:lnSpc>
          <a:spcPct val="100000"/>
        </a:lnSpc>
        <a:spcBef>
          <a:spcPct val="0"/>
        </a:spcBef>
        <a:buNone/>
        <a:defRPr sz="3000" b="0" i="0" kern="1200" spc="60" baseline="0">
          <a:solidFill>
            <a:schemeClr val="accent1"/>
          </a:solidFill>
          <a:latin typeface="+mj-lt"/>
          <a:ea typeface="Open Sans Extrabold" panose="020B0606030504020204" pitchFamily="34" charset="0"/>
          <a:cs typeface="Microsoft New Tai Lue" panose="020B0502040204020203" pitchFamily="34" charset="0"/>
        </a:defRPr>
      </a:lvl1pPr>
    </p:titleStyle>
    <p:body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1" userDrawn="1">
          <p15:clr>
            <a:srgbClr val="F26B43"/>
          </p15:clr>
        </p15:guide>
        <p15:guide id="4" orient="horz" pos="935" userDrawn="1">
          <p15:clr>
            <a:srgbClr val="F26B43"/>
          </p15:clr>
        </p15:guide>
        <p15:guide id="5" pos="371" userDrawn="1">
          <p15:clr>
            <a:srgbClr val="F26B43"/>
          </p15:clr>
        </p15:guide>
        <p15:guide id="6" pos="7308" userDrawn="1">
          <p15:clr>
            <a:srgbClr val="F26B43"/>
          </p15:clr>
        </p15:guide>
        <p15:guide id="7" orient="horz" pos="1026" userDrawn="1">
          <p15:clr>
            <a:srgbClr val="F26B43"/>
          </p15:clr>
        </p15:guide>
        <p15:guide id="8" orient="horz" pos="397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Investigating Methods for Polymicrogyria Classification</a:t>
            </a:r>
          </a:p>
        </p:txBody>
      </p:sp>
      <p:sp>
        <p:nvSpPr>
          <p:cNvPr id="3" name="Text Placeholder 2"/>
          <p:cNvSpPr>
            <a:spLocks noGrp="1"/>
          </p:cNvSpPr>
          <p:nvPr>
            <p:ph type="body" sz="quarter" idx="14"/>
          </p:nvPr>
        </p:nvSpPr>
        <p:spPr/>
        <p:txBody>
          <a:bodyPr/>
          <a:lstStyle/>
          <a:p>
            <a:r>
              <a:rPr lang="da-DK" sz="3000" dirty="0" err="1"/>
              <a:t>Investigating</a:t>
            </a:r>
            <a:r>
              <a:rPr lang="da-DK" sz="3000" dirty="0"/>
              <a:t> Methods for </a:t>
            </a:r>
            <a:r>
              <a:rPr lang="da-DK" sz="3000" dirty="0" err="1"/>
              <a:t>Polymicrogyria</a:t>
            </a:r>
            <a:endParaRPr lang="da-DK" sz="3000" dirty="0"/>
          </a:p>
          <a:p>
            <a:r>
              <a:rPr lang="da-DK" sz="3000" dirty="0" err="1"/>
              <a:t>Classification</a:t>
            </a:r>
            <a:endParaRPr sz="3000" dirty="0"/>
          </a:p>
        </p:txBody>
      </p:sp>
      <p:sp>
        <p:nvSpPr>
          <p:cNvPr id="4" name="Subtitle 3"/>
          <p:cNvSpPr>
            <a:spLocks noGrp="1"/>
          </p:cNvSpPr>
          <p:nvPr>
            <p:ph type="subTitle" idx="1"/>
          </p:nvPr>
        </p:nvSpPr>
        <p:spPr>
          <a:xfrm>
            <a:off x="587376" y="2514916"/>
            <a:ext cx="4946648" cy="726435"/>
          </a:xfrm>
        </p:spPr>
        <p:txBody>
          <a:bodyPr/>
          <a:lstStyle/>
          <a:p>
            <a:r>
              <a:rPr sz="2000" dirty="0"/>
              <a:t>A </a:t>
            </a:r>
            <a:r>
              <a:rPr sz="2000" dirty="0" err="1"/>
              <a:t>replication</a:t>
            </a:r>
            <a:r>
              <a:rPr sz="2000" dirty="0"/>
              <a:t> of </a:t>
            </a:r>
            <a:r>
              <a:rPr sz="2000" dirty="0" err="1"/>
              <a:t>Guha</a:t>
            </a:r>
            <a:r>
              <a:rPr sz="2000" dirty="0"/>
              <a:t> et al. </a:t>
            </a:r>
          </a:p>
          <a:p>
            <a:r>
              <a:rPr sz="2000" dirty="0"/>
              <a:t>“Automated </a:t>
            </a:r>
            <a:r>
              <a:rPr sz="2000" dirty="0" err="1"/>
              <a:t>detection</a:t>
            </a:r>
            <a:r>
              <a:rPr sz="2000" dirty="0"/>
              <a:t> of </a:t>
            </a:r>
            <a:r>
              <a:rPr sz="2000" dirty="0" err="1"/>
              <a:t>polymicrogyria</a:t>
            </a:r>
            <a:r>
              <a:rPr sz="2000" dirty="0"/>
              <a:t> in </a:t>
            </a:r>
            <a:r>
              <a:rPr sz="2000" dirty="0" err="1"/>
              <a:t>pediatric</a:t>
            </a:r>
            <a:r>
              <a:rPr sz="2000" dirty="0"/>
              <a:t> patients </a:t>
            </a:r>
            <a:r>
              <a:rPr sz="2000" dirty="0" err="1"/>
              <a:t>using</a:t>
            </a:r>
            <a:r>
              <a:rPr sz="2000" dirty="0"/>
              <a:t> </a:t>
            </a:r>
            <a:r>
              <a:rPr sz="2000" dirty="0" err="1"/>
              <a:t>deep</a:t>
            </a:r>
            <a:r>
              <a:rPr sz="2000" dirty="0"/>
              <a:t>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B2C22-58CE-1F13-1101-DDE6AC818D85}"/>
            </a:ext>
          </a:extLst>
        </p:cNvPr>
        <p:cNvGrpSpPr/>
        <p:nvPr/>
      </p:nvGrpSpPr>
      <p:grpSpPr>
        <a:xfrm>
          <a:off x="0" y="0"/>
          <a:ext cx="0" cy="0"/>
          <a:chOff x="0" y="0"/>
          <a:chExt cx="0" cy="0"/>
        </a:xfrm>
      </p:grpSpPr>
      <p:pic>
        <p:nvPicPr>
          <p:cNvPr id="4" name="Billede 3">
            <a:extLst>
              <a:ext uri="{FF2B5EF4-FFF2-40B4-BE49-F238E27FC236}">
                <a16:creationId xmlns:a16="http://schemas.microsoft.com/office/drawing/2014/main" id="{B60A8AAF-3899-4C9F-2CBC-73D58E38BFCE}"/>
              </a:ext>
            </a:extLst>
          </p:cNvPr>
          <p:cNvPicPr>
            <a:picLocks noChangeAspect="1"/>
          </p:cNvPicPr>
          <p:nvPr/>
        </p:nvPicPr>
        <p:blipFill>
          <a:blip r:embed="rId3"/>
          <a:srcRect l="3846" r="3550"/>
          <a:stretch>
            <a:fillRect/>
          </a:stretch>
        </p:blipFill>
        <p:spPr>
          <a:xfrm>
            <a:off x="5105400" y="1556050"/>
            <a:ext cx="3537860" cy="4372730"/>
          </a:xfrm>
          <a:prstGeom prst="rect">
            <a:avLst/>
          </a:prstGeom>
        </p:spPr>
      </p:pic>
      <p:sp>
        <p:nvSpPr>
          <p:cNvPr id="2" name="Title 1">
            <a:extLst>
              <a:ext uri="{FF2B5EF4-FFF2-40B4-BE49-F238E27FC236}">
                <a16:creationId xmlns:a16="http://schemas.microsoft.com/office/drawing/2014/main" id="{07DE9595-9E97-B4A5-06BB-BB64862078FA}"/>
              </a:ext>
            </a:extLst>
          </p:cNvPr>
          <p:cNvSpPr>
            <a:spLocks noGrp="1"/>
          </p:cNvSpPr>
          <p:nvPr>
            <p:ph type="title"/>
          </p:nvPr>
        </p:nvSpPr>
        <p:spPr/>
        <p:txBody>
          <a:bodyPr/>
          <a:lstStyle/>
          <a:p>
            <a:r>
              <a:rPr lang="da-DK" dirty="0" err="1"/>
              <a:t>Polymicrogyria</a:t>
            </a:r>
            <a:r>
              <a:rPr lang="da-DK" dirty="0"/>
              <a:t> (PMG)</a:t>
            </a:r>
            <a:endParaRPr dirty="0"/>
          </a:p>
        </p:txBody>
      </p:sp>
      <p:sp>
        <p:nvSpPr>
          <p:cNvPr id="3" name="Content Placeholder 2">
            <a:extLst>
              <a:ext uri="{FF2B5EF4-FFF2-40B4-BE49-F238E27FC236}">
                <a16:creationId xmlns:a16="http://schemas.microsoft.com/office/drawing/2014/main" id="{B1DF72E1-6D07-BBBF-B607-887878CAEA9C}"/>
              </a:ext>
            </a:extLst>
          </p:cNvPr>
          <p:cNvSpPr>
            <a:spLocks noGrp="1"/>
          </p:cNvSpPr>
          <p:nvPr>
            <p:ph idx="1"/>
          </p:nvPr>
        </p:nvSpPr>
        <p:spPr/>
        <p:txBody>
          <a:bodyPr/>
          <a:lstStyle/>
          <a:p>
            <a:r>
              <a:rPr lang="en-GB" sz="1800" noProof="1"/>
              <a:t>Malformation of the developing brain </a:t>
            </a:r>
          </a:p>
          <a:p>
            <a:r>
              <a:rPr lang="en-GB" sz="1800" noProof="1"/>
              <a:t>Appears heterogenuous</a:t>
            </a:r>
          </a:p>
          <a:p>
            <a:r>
              <a:rPr lang="en-GB" sz="1800" noProof="1"/>
              <a:t>High coocurence with epilepsy [1]</a:t>
            </a:r>
          </a:p>
          <a:p>
            <a:r>
              <a:rPr lang="en-GB" sz="1800" noProof="1"/>
              <a:t>Diffucult to diagnose</a:t>
            </a:r>
          </a:p>
          <a:p>
            <a:r>
              <a:rPr lang="en-GB" sz="1800" noProof="1"/>
              <a:t>Deep learning could reduce </a:t>
            </a:r>
            <a:br>
              <a:rPr lang="en-GB" sz="1800" noProof="1"/>
            </a:br>
            <a:r>
              <a:rPr lang="en-GB" sz="1800" noProof="1"/>
              <a:t>diagnostic burden and enable earlier </a:t>
            </a:r>
            <a:br>
              <a:rPr lang="en-GB" sz="1800" noProof="1"/>
            </a:br>
            <a:r>
              <a:rPr lang="en-GB" sz="1800" noProof="1"/>
              <a:t>identification of </a:t>
            </a:r>
            <a:r>
              <a:rPr sz="1800" dirty="0"/>
              <a:t>the </a:t>
            </a:r>
            <a:r>
              <a:rPr sz="1800" dirty="0" err="1"/>
              <a:t>condition</a:t>
            </a:r>
            <a:endParaRPr sz="1800" dirty="0"/>
          </a:p>
        </p:txBody>
      </p:sp>
      <p:pic>
        <p:nvPicPr>
          <p:cNvPr id="5" name="Billede 4">
            <a:extLst>
              <a:ext uri="{FF2B5EF4-FFF2-40B4-BE49-F238E27FC236}">
                <a16:creationId xmlns:a16="http://schemas.microsoft.com/office/drawing/2014/main" id="{5F21B1C3-8734-AC5F-B379-85544A7C261B}"/>
              </a:ext>
            </a:extLst>
          </p:cNvPr>
          <p:cNvPicPr>
            <a:picLocks noChangeAspect="1"/>
          </p:cNvPicPr>
          <p:nvPr/>
        </p:nvPicPr>
        <p:blipFill>
          <a:blip r:embed="rId4"/>
          <a:srcRect l="6614" t="6040" r="7435" b="10805"/>
          <a:stretch>
            <a:fillRect/>
          </a:stretch>
        </p:blipFill>
        <p:spPr>
          <a:xfrm>
            <a:off x="8507664" y="1556050"/>
            <a:ext cx="3672318" cy="4372730"/>
          </a:xfrm>
          <a:prstGeom prst="rect">
            <a:avLst/>
          </a:prstGeom>
        </p:spPr>
      </p:pic>
      <p:sp>
        <p:nvSpPr>
          <p:cNvPr id="7" name="Tekstfelt 6">
            <a:extLst>
              <a:ext uri="{FF2B5EF4-FFF2-40B4-BE49-F238E27FC236}">
                <a16:creationId xmlns:a16="http://schemas.microsoft.com/office/drawing/2014/main" id="{E09DB1AF-378B-BCBE-0F64-E09A1E8918A9}"/>
              </a:ext>
            </a:extLst>
          </p:cNvPr>
          <p:cNvSpPr txBox="1"/>
          <p:nvPr/>
        </p:nvSpPr>
        <p:spPr>
          <a:xfrm>
            <a:off x="5794717" y="6302375"/>
            <a:ext cx="6096000" cy="461665"/>
          </a:xfrm>
          <a:prstGeom prst="rect">
            <a:avLst/>
          </a:prstGeom>
          <a:noFill/>
        </p:spPr>
        <p:txBody>
          <a:bodyPr wrap="square">
            <a:spAutoFit/>
          </a:bodyPr>
          <a:lstStyle/>
          <a:p>
            <a:r>
              <a:rPr lang="da-DK" sz="800" dirty="0"/>
              <a:t>[1] </a:t>
            </a:r>
            <a:r>
              <a:rPr lang="da-DK" sz="800" dirty="0" err="1"/>
              <a:t>Kolbjer</a:t>
            </a:r>
            <a:r>
              <a:rPr lang="da-DK" sz="800" dirty="0"/>
              <a:t> S, </a:t>
            </a:r>
            <a:r>
              <a:rPr lang="da-DK" sz="800" dirty="0" err="1"/>
              <a:t>Martín</a:t>
            </a:r>
            <a:r>
              <a:rPr lang="da-DK" sz="800" dirty="0"/>
              <a:t> </a:t>
            </a:r>
            <a:r>
              <a:rPr lang="da-DK" sz="800" dirty="0" err="1"/>
              <a:t>Muñoz</a:t>
            </a:r>
            <a:r>
              <a:rPr lang="da-DK" sz="800" dirty="0"/>
              <a:t> DA, </a:t>
            </a:r>
            <a:r>
              <a:rPr lang="da-DK" sz="800" dirty="0" err="1"/>
              <a:t>Örtqvist</a:t>
            </a:r>
            <a:r>
              <a:rPr lang="da-DK" sz="800" dirty="0"/>
              <a:t> AK, Pettersson M, </a:t>
            </a:r>
            <a:r>
              <a:rPr lang="da-DK" sz="800" dirty="0" err="1"/>
              <a:t>Hammarsjö</a:t>
            </a:r>
            <a:r>
              <a:rPr lang="da-DK" sz="800" dirty="0"/>
              <a:t> A, Anderlid B-M, Dahlin M. </a:t>
            </a:r>
            <a:r>
              <a:rPr lang="da-DK" sz="800" dirty="0" err="1"/>
              <a:t>Polymicrogyria</a:t>
            </a:r>
            <a:r>
              <a:rPr lang="da-DK" sz="800" dirty="0"/>
              <a:t>: </a:t>
            </a:r>
            <a:r>
              <a:rPr lang="da-DK" sz="800" dirty="0" err="1"/>
              <a:t>epidemiology</a:t>
            </a:r>
            <a:r>
              <a:rPr lang="da-DK" sz="800" dirty="0"/>
              <a:t>, </a:t>
            </a:r>
            <a:r>
              <a:rPr lang="da-DK" sz="800" dirty="0" err="1"/>
              <a:t>imaging</a:t>
            </a:r>
            <a:r>
              <a:rPr lang="da-DK" sz="800" dirty="0"/>
              <a:t>, and </a:t>
            </a:r>
            <a:r>
              <a:rPr lang="da-DK" sz="800" dirty="0" err="1"/>
              <a:t>clinical</a:t>
            </a:r>
            <a:r>
              <a:rPr lang="da-DK" sz="800" dirty="0"/>
              <a:t> </a:t>
            </a:r>
            <a:r>
              <a:rPr lang="da-DK" sz="800" dirty="0" err="1"/>
              <a:t>aspects</a:t>
            </a:r>
            <a:r>
              <a:rPr lang="da-DK" sz="800" dirty="0"/>
              <a:t> in a population-</a:t>
            </a:r>
            <a:r>
              <a:rPr lang="da-DK" sz="800" dirty="0" err="1"/>
              <a:t>based</a:t>
            </a:r>
            <a:r>
              <a:rPr lang="da-DK" sz="800" dirty="0"/>
              <a:t> </a:t>
            </a:r>
            <a:r>
              <a:rPr lang="da-DK" sz="800" dirty="0" err="1"/>
              <a:t>cohort</a:t>
            </a:r>
            <a:r>
              <a:rPr lang="da-DK" sz="800" dirty="0"/>
              <a:t>. Brain Communications.</a:t>
            </a:r>
          </a:p>
          <a:p>
            <a:r>
              <a:rPr lang="da-DK" sz="800" dirty="0"/>
              <a:t>2023;5(4):fcad213. </a:t>
            </a:r>
            <a:r>
              <a:rPr lang="da-DK" sz="800" dirty="0" err="1"/>
              <a:t>https</a:t>
            </a:r>
            <a:r>
              <a:rPr lang="da-DK" sz="800" dirty="0"/>
              <a:t>://</a:t>
            </a:r>
            <a:r>
              <a:rPr lang="da-DK" sz="800" dirty="0" err="1"/>
              <a:t>doi.org</a:t>
            </a:r>
            <a:r>
              <a:rPr lang="da-DK" sz="800" dirty="0"/>
              <a:t>/10.1093/</a:t>
            </a:r>
            <a:r>
              <a:rPr lang="da-DK" sz="800" dirty="0" err="1"/>
              <a:t>braincomms</a:t>
            </a:r>
            <a:r>
              <a:rPr lang="da-DK" sz="800" dirty="0"/>
              <a:t>/fcad213</a:t>
            </a:r>
          </a:p>
        </p:txBody>
      </p:sp>
    </p:spTree>
    <p:extLst>
      <p:ext uri="{BB962C8B-B14F-4D97-AF65-F5344CB8AC3E}">
        <p14:creationId xmlns:p14="http://schemas.microsoft.com/office/powerpoint/2010/main" val="2180858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did Guha et al. do?</a:t>
            </a:r>
          </a:p>
        </p:txBody>
      </p:sp>
      <p:pic>
        <p:nvPicPr>
          <p:cNvPr id="4" name="Picture 3" descr="slide_img_0.png"/>
          <p:cNvPicPr>
            <a:picLocks noChangeAspect="1"/>
          </p:cNvPicPr>
          <p:nvPr/>
        </p:nvPicPr>
        <p:blipFill>
          <a:blip r:embed="rId3"/>
          <a:stretch>
            <a:fillRect/>
          </a:stretch>
        </p:blipFill>
        <p:spPr>
          <a:xfrm>
            <a:off x="1539895" y="4649134"/>
            <a:ext cx="9138050" cy="2208866"/>
          </a:xfrm>
          <a:prstGeom prst="rect">
            <a:avLst/>
          </a:prstGeom>
        </p:spPr>
      </p:pic>
      <p:sp>
        <p:nvSpPr>
          <p:cNvPr id="5" name="Tekstfelt 4">
            <a:extLst>
              <a:ext uri="{FF2B5EF4-FFF2-40B4-BE49-F238E27FC236}">
                <a16:creationId xmlns:a16="http://schemas.microsoft.com/office/drawing/2014/main" id="{EF4BA92D-4902-B687-F9B8-ADC3AA007C12}"/>
              </a:ext>
            </a:extLst>
          </p:cNvPr>
          <p:cNvSpPr txBox="1"/>
          <p:nvPr/>
        </p:nvSpPr>
        <p:spPr>
          <a:xfrm>
            <a:off x="713679" y="1299647"/>
            <a:ext cx="4550926" cy="3323987"/>
          </a:xfrm>
          <a:prstGeom prst="rect">
            <a:avLst/>
          </a:prstGeom>
        </p:spPr>
        <p:txBody>
          <a:bodyPr vert="horz" wrap="none" lIns="0" tIns="0" rIns="0" bIns="0" rtlCol="0" anchor="t" anchorCtr="0">
            <a:spAutoFit/>
          </a:bodyPr>
          <a:lstStyle/>
          <a:p>
            <a:pPr marR="0" algn="l" defTabSz="914400" rtl="0" eaLnBrk="1" fontAlgn="auto" latinLnBrk="0" hangingPunct="1">
              <a:lnSpc>
                <a:spcPct val="100000"/>
              </a:lnSpc>
              <a:spcBef>
                <a:spcPct val="0"/>
              </a:spcBef>
              <a:spcAft>
                <a:spcPts val="0"/>
              </a:spcAft>
              <a:buClrTx/>
              <a:buSzTx/>
              <a:tabLst/>
            </a:pPr>
            <a:r>
              <a:rPr lang="da-DK" sz="2400" b="0" dirty="0">
                <a:solidFill>
                  <a:schemeClr val="tx1"/>
                </a:solidFill>
                <a:latin typeface="+mn-lt"/>
              </a:rPr>
              <a:t>PPMR dataset [2]</a:t>
            </a:r>
          </a:p>
          <a:p>
            <a:pPr marL="800100" lvl="1" indent="-342900">
              <a:spcBef>
                <a:spcPct val="0"/>
              </a:spcBef>
              <a:buFont typeface="Arial" panose="020B0604020202020204" pitchFamily="34" charset="0"/>
              <a:buChar char="•"/>
            </a:pPr>
            <a:r>
              <a:rPr lang="da-DK" sz="2400" dirty="0"/>
              <a:t>23 PMG patients (n = 4517)</a:t>
            </a:r>
          </a:p>
          <a:p>
            <a:pPr marL="800100" lvl="1" indent="-342900">
              <a:spcBef>
                <a:spcPct val="0"/>
              </a:spcBef>
              <a:buFont typeface="Arial" panose="020B0604020202020204" pitchFamily="34" charset="0"/>
              <a:buChar char="•"/>
            </a:pPr>
            <a:r>
              <a:rPr lang="da-DK" sz="2400" dirty="0"/>
              <a:t>69 </a:t>
            </a:r>
            <a:r>
              <a:rPr lang="da-DK" sz="2400" dirty="0" err="1"/>
              <a:t>controls</a:t>
            </a:r>
            <a:r>
              <a:rPr lang="da-DK" sz="2400" dirty="0"/>
              <a:t>  (n = 10539)</a:t>
            </a:r>
          </a:p>
          <a:p>
            <a:pPr marR="0" algn="l" defTabSz="914400" rtl="0" eaLnBrk="1" fontAlgn="auto" latinLnBrk="0" hangingPunct="1">
              <a:lnSpc>
                <a:spcPct val="100000"/>
              </a:lnSpc>
              <a:spcBef>
                <a:spcPct val="0"/>
              </a:spcBef>
              <a:spcAft>
                <a:spcPts val="0"/>
              </a:spcAft>
              <a:buClrTx/>
              <a:buSzTx/>
              <a:tabLst/>
            </a:pPr>
            <a:r>
              <a:rPr lang="da-DK" sz="2400" dirty="0"/>
              <a:t>PMG </a:t>
            </a:r>
            <a:r>
              <a:rPr lang="da-DK" sz="2400" dirty="0" err="1"/>
              <a:t>cohort</a:t>
            </a:r>
            <a:r>
              <a:rPr lang="da-DK" sz="2400" dirty="0"/>
              <a:t> labels</a:t>
            </a:r>
          </a:p>
          <a:p>
            <a:pPr marL="800100" lvl="1" indent="-342900">
              <a:spcBef>
                <a:spcPct val="0"/>
              </a:spcBef>
              <a:buFont typeface="Arial" panose="020B0604020202020204" pitchFamily="34" charset="0"/>
              <a:buChar char="•"/>
            </a:pPr>
            <a:r>
              <a:rPr lang="da-DK" sz="2400" dirty="0"/>
              <a:t>1 = PMG-positive</a:t>
            </a:r>
          </a:p>
          <a:p>
            <a:pPr marL="800100" lvl="1" indent="-342900">
              <a:spcBef>
                <a:spcPct val="0"/>
              </a:spcBef>
              <a:buFont typeface="Arial" panose="020B0604020202020204" pitchFamily="34" charset="0"/>
              <a:buChar char="•"/>
            </a:pPr>
            <a:r>
              <a:rPr lang="da-DK" sz="2400" dirty="0"/>
              <a:t>2 = PMG-negative</a:t>
            </a:r>
          </a:p>
          <a:p>
            <a:pPr marL="800100" lvl="1" indent="-342900">
              <a:spcBef>
                <a:spcPct val="0"/>
              </a:spcBef>
              <a:buFont typeface="Arial" panose="020B0604020202020204" pitchFamily="34" charset="0"/>
              <a:buChar char="•"/>
            </a:pPr>
            <a:r>
              <a:rPr lang="da-DK" sz="2400" dirty="0"/>
              <a:t>3 = </a:t>
            </a:r>
            <a:r>
              <a:rPr lang="da-DK" sz="2400" dirty="0" err="1"/>
              <a:t>Uncertain</a:t>
            </a:r>
            <a:endParaRPr lang="da-DK" sz="2400" dirty="0"/>
          </a:p>
          <a:p>
            <a:pPr marR="0" algn="l" defTabSz="914400" rtl="0" eaLnBrk="1" fontAlgn="auto" latinLnBrk="0" hangingPunct="1">
              <a:lnSpc>
                <a:spcPct val="100000"/>
              </a:lnSpc>
              <a:spcBef>
                <a:spcPct val="0"/>
              </a:spcBef>
              <a:spcAft>
                <a:spcPts val="0"/>
              </a:spcAft>
              <a:buClrTx/>
              <a:buSzTx/>
              <a:tabLst/>
            </a:pPr>
            <a:endParaRPr lang="da-DK" sz="2400" dirty="0"/>
          </a:p>
          <a:p>
            <a:pPr marR="0" algn="l" defTabSz="914400" rtl="0" eaLnBrk="1" fontAlgn="auto" latinLnBrk="0" hangingPunct="1">
              <a:lnSpc>
                <a:spcPct val="100000"/>
              </a:lnSpc>
              <a:spcBef>
                <a:spcPct val="0"/>
              </a:spcBef>
              <a:spcAft>
                <a:spcPts val="0"/>
              </a:spcAft>
              <a:buClrTx/>
              <a:buSzTx/>
              <a:tabLst/>
            </a:pPr>
            <a:r>
              <a:rPr lang="da-DK" sz="2400" b="0" dirty="0">
                <a:solidFill>
                  <a:schemeClr val="tx1"/>
                </a:solidFill>
                <a:latin typeface="+mn-lt"/>
              </a:rPr>
              <a:t>	</a:t>
            </a:r>
          </a:p>
        </p:txBody>
      </p:sp>
      <p:sp>
        <p:nvSpPr>
          <p:cNvPr id="7" name="Tekstfelt 6">
            <a:extLst>
              <a:ext uri="{FF2B5EF4-FFF2-40B4-BE49-F238E27FC236}">
                <a16:creationId xmlns:a16="http://schemas.microsoft.com/office/drawing/2014/main" id="{8B3B9F20-D92E-FE4F-5F31-795AEE6B544F}"/>
              </a:ext>
            </a:extLst>
          </p:cNvPr>
          <p:cNvSpPr txBox="1"/>
          <p:nvPr/>
        </p:nvSpPr>
        <p:spPr>
          <a:xfrm>
            <a:off x="5564459" y="1245907"/>
            <a:ext cx="5156861" cy="2215991"/>
          </a:xfrm>
          <a:prstGeom prst="rect">
            <a:avLst/>
          </a:prstGeom>
        </p:spPr>
        <p:txBody>
          <a:bodyPr vert="horz" wrap="none" lIns="0" tIns="0" rIns="0" bIns="0" rtlCol="0" anchor="t" anchorCtr="0">
            <a:spAutoFit/>
          </a:bodyPr>
          <a:lstStyle/>
          <a:p>
            <a:pPr>
              <a:spcBef>
                <a:spcPct val="0"/>
              </a:spcBef>
            </a:pPr>
            <a:r>
              <a:rPr lang="da-DK" sz="2400" dirty="0" err="1"/>
              <a:t>Guha</a:t>
            </a:r>
            <a:r>
              <a:rPr lang="da-DK" sz="2400" dirty="0"/>
              <a:t> et al. Labels [3]</a:t>
            </a:r>
          </a:p>
          <a:p>
            <a:pPr marL="800100" lvl="1" indent="-342900">
              <a:spcBef>
                <a:spcPct val="0"/>
              </a:spcBef>
              <a:buFont typeface="Arial" panose="020B0604020202020204" pitchFamily="34" charset="0"/>
              <a:buChar char="•"/>
            </a:pPr>
            <a:r>
              <a:rPr lang="da-DK" sz="2400" dirty="0" err="1"/>
              <a:t>Treat</a:t>
            </a:r>
            <a:r>
              <a:rPr lang="da-DK" sz="2400" dirty="0"/>
              <a:t> all PMG slices as Label = 1</a:t>
            </a:r>
          </a:p>
          <a:p>
            <a:pPr marL="800100" lvl="1" indent="-342900">
              <a:spcBef>
                <a:spcPct val="0"/>
              </a:spcBef>
              <a:buFont typeface="Arial" panose="020B0604020202020204" pitchFamily="34" charset="0"/>
              <a:buChar char="•"/>
            </a:pPr>
            <a:r>
              <a:rPr lang="da-DK" sz="2400" b="0" dirty="0">
                <a:solidFill>
                  <a:schemeClr val="tx1"/>
                </a:solidFill>
                <a:latin typeface="+mn-lt"/>
              </a:rPr>
              <a:t>5 step </a:t>
            </a:r>
            <a:r>
              <a:rPr lang="da-DK" sz="2400" b="0" dirty="0" err="1">
                <a:solidFill>
                  <a:schemeClr val="tx1"/>
                </a:solidFill>
                <a:latin typeface="+mn-lt"/>
              </a:rPr>
              <a:t>preprocessing</a:t>
            </a:r>
            <a:r>
              <a:rPr lang="da-DK" sz="2400" b="0" dirty="0">
                <a:solidFill>
                  <a:schemeClr val="tx1"/>
                </a:solidFill>
                <a:latin typeface="+mn-lt"/>
              </a:rPr>
              <a:t> pipeline</a:t>
            </a:r>
          </a:p>
          <a:p>
            <a:pPr marL="800100" lvl="1" indent="-342900">
              <a:spcBef>
                <a:spcPct val="0"/>
              </a:spcBef>
              <a:buFont typeface="Arial" panose="020B0604020202020204" pitchFamily="34" charset="0"/>
              <a:buChar char="•"/>
            </a:pPr>
            <a:r>
              <a:rPr lang="da-DK" sz="2400" dirty="0" err="1"/>
              <a:t>Evaluate</a:t>
            </a:r>
            <a:r>
              <a:rPr lang="da-DK" sz="2400" dirty="0"/>
              <a:t> model </a:t>
            </a:r>
          </a:p>
          <a:p>
            <a:pPr marL="800100" lvl="1" indent="-342900">
              <a:spcBef>
                <a:spcPct val="0"/>
              </a:spcBef>
              <a:buFont typeface="Arial" panose="020B0604020202020204" pitchFamily="34" charset="0"/>
              <a:buChar char="•"/>
            </a:pPr>
            <a:r>
              <a:rPr lang="da-DK" sz="2400" dirty="0" err="1"/>
              <a:t>Classification</a:t>
            </a:r>
            <a:r>
              <a:rPr lang="da-DK" sz="2400" dirty="0"/>
              <a:t> head</a:t>
            </a:r>
          </a:p>
          <a:p>
            <a:pPr marL="800100" lvl="1" indent="-342900">
              <a:spcBef>
                <a:spcPct val="0"/>
              </a:spcBef>
              <a:buFont typeface="Arial" panose="020B0604020202020204" pitchFamily="34" charset="0"/>
              <a:buChar char="•"/>
            </a:pPr>
            <a:r>
              <a:rPr lang="da-DK" sz="2400" dirty="0" err="1"/>
              <a:t>Resized</a:t>
            </a:r>
            <a:r>
              <a:rPr lang="da-DK" sz="2400" dirty="0"/>
              <a:t> to 224x224 </a:t>
            </a:r>
          </a:p>
        </p:txBody>
      </p:sp>
      <p:sp>
        <p:nvSpPr>
          <p:cNvPr id="10" name="Tekstfelt 9">
            <a:extLst>
              <a:ext uri="{FF2B5EF4-FFF2-40B4-BE49-F238E27FC236}">
                <a16:creationId xmlns:a16="http://schemas.microsoft.com/office/drawing/2014/main" id="{4EC0795F-81EB-F394-F474-6E2820021F29}"/>
              </a:ext>
            </a:extLst>
          </p:cNvPr>
          <p:cNvSpPr txBox="1"/>
          <p:nvPr/>
        </p:nvSpPr>
        <p:spPr>
          <a:xfrm>
            <a:off x="6469539" y="2676058"/>
            <a:ext cx="2306722" cy="1846659"/>
          </a:xfrm>
          <a:prstGeom prst="rect">
            <a:avLst/>
          </a:prstGeom>
        </p:spPr>
        <p:txBody>
          <a:bodyPr vert="horz" wrap="none" lIns="0" tIns="0" rIns="0" bIns="0" rtlCol="0" anchor="t" anchorCtr="0">
            <a:spAutoFit/>
          </a:bodyPr>
          <a:lstStyle/>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da-DK" sz="2400" dirty="0"/>
              <a:t>ResNet-50</a:t>
            </a:r>
          </a:p>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da-DK" sz="2400" b="0" dirty="0">
                <a:latin typeface="+mn-lt"/>
              </a:rPr>
              <a:t>ResNet-101</a:t>
            </a:r>
          </a:p>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da-DK" sz="2400" dirty="0"/>
              <a:t>VGG-16</a:t>
            </a:r>
          </a:p>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da-DK" sz="2400" dirty="0"/>
              <a:t>DenseNet-201</a:t>
            </a:r>
          </a:p>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da-DK" sz="2400" b="0" dirty="0">
                <a:latin typeface="+mn-lt"/>
              </a:rPr>
              <a:t>MobileNetV2</a:t>
            </a:r>
          </a:p>
        </p:txBody>
      </p:sp>
      <p:graphicFrame>
        <p:nvGraphicFramePr>
          <p:cNvPr id="3" name="Tabel 2">
            <a:extLst>
              <a:ext uri="{FF2B5EF4-FFF2-40B4-BE49-F238E27FC236}">
                <a16:creationId xmlns:a16="http://schemas.microsoft.com/office/drawing/2014/main" id="{861BC0AA-C2F8-E476-777B-9D82F3F91679}"/>
              </a:ext>
            </a:extLst>
          </p:cNvPr>
          <p:cNvGraphicFramePr>
            <a:graphicFrameLocks noGrp="1"/>
          </p:cNvGraphicFramePr>
          <p:nvPr>
            <p:extLst>
              <p:ext uri="{D42A27DB-BD31-4B8C-83A1-F6EECF244321}">
                <p14:modId xmlns:p14="http://schemas.microsoft.com/office/powerpoint/2010/main" val="2599263534"/>
              </p:ext>
            </p:extLst>
          </p:nvPr>
        </p:nvGraphicFramePr>
        <p:xfrm>
          <a:off x="1052525" y="4968913"/>
          <a:ext cx="10085364" cy="1692931"/>
        </p:xfrm>
        <a:graphic>
          <a:graphicData uri="http://schemas.openxmlformats.org/drawingml/2006/table">
            <a:tbl>
              <a:tblPr firstRow="1" bandRow="1">
                <a:tableStyleId>{5C22544A-7EE6-4342-B048-85BDC9FD1C3A}</a:tableStyleId>
              </a:tblPr>
              <a:tblGrid>
                <a:gridCol w="3765456">
                  <a:extLst>
                    <a:ext uri="{9D8B030D-6E8A-4147-A177-3AD203B41FA5}">
                      <a16:colId xmlns:a16="http://schemas.microsoft.com/office/drawing/2014/main" val="2582654925"/>
                    </a:ext>
                  </a:extLst>
                </a:gridCol>
                <a:gridCol w="2106636">
                  <a:extLst>
                    <a:ext uri="{9D8B030D-6E8A-4147-A177-3AD203B41FA5}">
                      <a16:colId xmlns:a16="http://schemas.microsoft.com/office/drawing/2014/main" val="2621011126"/>
                    </a:ext>
                  </a:extLst>
                </a:gridCol>
                <a:gridCol w="2106636">
                  <a:extLst>
                    <a:ext uri="{9D8B030D-6E8A-4147-A177-3AD203B41FA5}">
                      <a16:colId xmlns:a16="http://schemas.microsoft.com/office/drawing/2014/main" val="2609602496"/>
                    </a:ext>
                  </a:extLst>
                </a:gridCol>
                <a:gridCol w="2106636">
                  <a:extLst>
                    <a:ext uri="{9D8B030D-6E8A-4147-A177-3AD203B41FA5}">
                      <a16:colId xmlns:a16="http://schemas.microsoft.com/office/drawing/2014/main" val="792038058"/>
                    </a:ext>
                  </a:extLst>
                </a:gridCol>
              </a:tblGrid>
              <a:tr h="534691">
                <a:tc>
                  <a:txBody>
                    <a:bodyPr/>
                    <a:lstStyle/>
                    <a:p>
                      <a:pPr algn="ctr"/>
                      <a:r>
                        <a:rPr lang="da-DK" sz="1600" b="1" dirty="0" err="1">
                          <a:solidFill>
                            <a:srgbClr val="FFFFFF"/>
                          </a:solidFill>
                        </a:rPr>
                        <a:t>Results</a:t>
                      </a:r>
                      <a:r>
                        <a:rPr lang="da-DK" sz="1600" b="1" dirty="0">
                          <a:solidFill>
                            <a:srgbClr val="FFFFFF"/>
                          </a:solidFill>
                        </a:rPr>
                        <a:t>\</a:t>
                      </a:r>
                      <a:r>
                        <a:rPr lang="da-DK" sz="1600" b="1" dirty="0" err="1">
                          <a:solidFill>
                            <a:srgbClr val="FFFFFF"/>
                          </a:solidFill>
                        </a:rPr>
                        <a:t>Metrics</a:t>
                      </a:r>
                      <a:endParaRPr sz="1600" b="1" dirty="0">
                        <a:solidFill>
                          <a:srgbClr val="FFFFFF"/>
                        </a:solidFill>
                      </a:endParaRPr>
                    </a:p>
                  </a:txBody>
                  <a:tcPr>
                    <a:solidFill>
                      <a:srgbClr val="1F77B4"/>
                    </a:solidFill>
                  </a:tcPr>
                </a:tc>
                <a:tc>
                  <a:txBody>
                    <a:bodyPr/>
                    <a:lstStyle/>
                    <a:p>
                      <a:pPr algn="ctr"/>
                      <a:r>
                        <a:rPr sz="1600" b="1" dirty="0">
                          <a:solidFill>
                            <a:srgbClr val="FFFFFF"/>
                          </a:solidFill>
                        </a:rPr>
                        <a:t>Accuracy</a:t>
                      </a:r>
                    </a:p>
                  </a:txBody>
                  <a:tcPr>
                    <a:solidFill>
                      <a:srgbClr val="1F77B4"/>
                    </a:solidFill>
                  </a:tcPr>
                </a:tc>
                <a:tc>
                  <a:txBody>
                    <a:bodyPr/>
                    <a:lstStyle/>
                    <a:p>
                      <a:pPr algn="ctr"/>
                      <a:r>
                        <a:rPr sz="1600" b="1" dirty="0">
                          <a:solidFill>
                            <a:srgbClr val="FFFFFF"/>
                          </a:solidFill>
                        </a:rPr>
                        <a:t>Precision</a:t>
                      </a:r>
                    </a:p>
                  </a:txBody>
                  <a:tcPr>
                    <a:solidFill>
                      <a:srgbClr val="1F77B4"/>
                    </a:solidFill>
                  </a:tcPr>
                </a:tc>
                <a:tc>
                  <a:txBody>
                    <a:bodyPr/>
                    <a:lstStyle/>
                    <a:p>
                      <a:pPr algn="ctr"/>
                      <a:r>
                        <a:rPr sz="1600" b="1">
                          <a:solidFill>
                            <a:srgbClr val="FFFFFF"/>
                          </a:solidFill>
                        </a:rPr>
                        <a:t>Recall</a:t>
                      </a:r>
                    </a:p>
                  </a:txBody>
                  <a:tcPr>
                    <a:solidFill>
                      <a:srgbClr val="1F77B4"/>
                    </a:solidFill>
                  </a:tcPr>
                </a:tc>
                <a:extLst>
                  <a:ext uri="{0D108BD9-81ED-4DB2-BD59-A6C34878D82A}">
                    <a16:rowId xmlns:a16="http://schemas.microsoft.com/office/drawing/2014/main" val="3282122275"/>
                  </a:ext>
                </a:extLst>
              </a:tr>
              <a:tr h="534691">
                <a:tc>
                  <a:txBody>
                    <a:bodyPr/>
                    <a:lstStyle/>
                    <a:p>
                      <a:pPr algn="l"/>
                      <a:r>
                        <a:rPr lang="da-DK" sz="1600" b="0" dirty="0">
                          <a:solidFill>
                            <a:schemeClr val="tx1"/>
                          </a:solidFill>
                        </a:rPr>
                        <a:t>Best </a:t>
                      </a:r>
                      <a:r>
                        <a:rPr lang="da-DK" sz="1600" b="0" dirty="0" err="1">
                          <a:solidFill>
                            <a:schemeClr val="tx1"/>
                          </a:solidFill>
                        </a:rPr>
                        <a:t>result</a:t>
                      </a:r>
                      <a:r>
                        <a:rPr lang="da-DK" sz="1600" b="0" dirty="0">
                          <a:solidFill>
                            <a:schemeClr val="tx1"/>
                          </a:solidFill>
                        </a:rPr>
                        <a:t> </a:t>
                      </a:r>
                      <a:r>
                        <a:rPr lang="da-DK" sz="1600" b="0" dirty="0" err="1">
                          <a:solidFill>
                            <a:schemeClr val="tx1"/>
                          </a:solidFill>
                        </a:rPr>
                        <a:t>after</a:t>
                      </a:r>
                      <a:r>
                        <a:rPr lang="da-DK" sz="1600" b="0" dirty="0">
                          <a:solidFill>
                            <a:schemeClr val="tx1"/>
                          </a:solidFill>
                        </a:rPr>
                        <a:t> </a:t>
                      </a:r>
                      <a:r>
                        <a:rPr lang="da-DK" sz="1600" b="0" dirty="0" err="1">
                          <a:solidFill>
                            <a:schemeClr val="tx1"/>
                          </a:solidFill>
                        </a:rPr>
                        <a:t>preprocessing</a:t>
                      </a:r>
                      <a:r>
                        <a:rPr lang="da-DK" sz="1600" b="0" dirty="0">
                          <a:solidFill>
                            <a:schemeClr val="tx1"/>
                          </a:solidFill>
                        </a:rPr>
                        <a:t>: DenseNet-201</a:t>
                      </a:r>
                      <a:endParaRPr sz="1600" b="0" dirty="0">
                        <a:solidFill>
                          <a:schemeClr val="tx1"/>
                        </a:solidFill>
                      </a:endParaRPr>
                    </a:p>
                  </a:txBody>
                  <a:tcPr>
                    <a:solidFill>
                      <a:srgbClr val="1E77B4"/>
                    </a:solidFill>
                  </a:tcPr>
                </a:tc>
                <a:tc>
                  <a:txBody>
                    <a:bodyPr/>
                    <a:lstStyle/>
                    <a:p>
                      <a:pPr algn="ctr"/>
                      <a:r>
                        <a:rPr sz="1600" b="0" dirty="0">
                          <a:solidFill>
                            <a:srgbClr val="1A1A1A"/>
                          </a:solidFill>
                        </a:rPr>
                        <a:t>0.</a:t>
                      </a:r>
                      <a:r>
                        <a:rPr lang="da-DK" sz="1600" b="0" dirty="0">
                          <a:solidFill>
                            <a:srgbClr val="1A1A1A"/>
                          </a:solidFill>
                        </a:rPr>
                        <a:t>982</a:t>
                      </a:r>
                      <a:r>
                        <a:rPr sz="1600" b="0" dirty="0">
                          <a:solidFill>
                            <a:srgbClr val="1A1A1A"/>
                          </a:solidFill>
                        </a:rPr>
                        <a:t> ± 0.</a:t>
                      </a:r>
                      <a:r>
                        <a:rPr lang="da-DK" sz="1600" b="0" dirty="0">
                          <a:solidFill>
                            <a:srgbClr val="1A1A1A"/>
                          </a:solidFill>
                        </a:rPr>
                        <a:t>034</a:t>
                      </a:r>
                      <a:endParaRPr sz="1600" b="0" dirty="0">
                        <a:solidFill>
                          <a:srgbClr val="1A1A1A"/>
                        </a:solidFill>
                      </a:endParaRPr>
                    </a:p>
                  </a:txBody>
                  <a:tcPr/>
                </a:tc>
                <a:tc>
                  <a:txBody>
                    <a:bodyPr/>
                    <a:lstStyle/>
                    <a:p>
                      <a:pPr algn="ctr"/>
                      <a:r>
                        <a:rPr lang="da-DK" sz="1600" b="0" dirty="0">
                          <a:solidFill>
                            <a:srgbClr val="1A1A1A"/>
                          </a:solidFill>
                        </a:rPr>
                        <a:t>0.995 ± 0.005</a:t>
                      </a:r>
                      <a:endParaRPr sz="1600" b="0" dirty="0">
                        <a:solidFill>
                          <a:srgbClr val="1A1A1A"/>
                        </a:solidFill>
                      </a:endParaRPr>
                    </a:p>
                  </a:txBody>
                  <a:tcPr/>
                </a:tc>
                <a:tc>
                  <a:txBody>
                    <a:bodyPr/>
                    <a:lstStyle/>
                    <a:p>
                      <a:pPr algn="ctr"/>
                      <a:r>
                        <a:rPr sz="1600" b="0" dirty="0">
                          <a:solidFill>
                            <a:srgbClr val="1A1A1A"/>
                          </a:solidFill>
                        </a:rPr>
                        <a:t>0.</a:t>
                      </a:r>
                      <a:r>
                        <a:rPr lang="da-DK" sz="1600" b="0" dirty="0">
                          <a:solidFill>
                            <a:srgbClr val="1A1A1A"/>
                          </a:solidFill>
                        </a:rPr>
                        <a:t>947</a:t>
                      </a:r>
                      <a:r>
                        <a:rPr sz="1600" b="0" dirty="0">
                          <a:solidFill>
                            <a:srgbClr val="1A1A1A"/>
                          </a:solidFill>
                        </a:rPr>
                        <a:t> ± 0</a:t>
                      </a:r>
                      <a:r>
                        <a:rPr lang="da-DK" sz="1600" b="0" dirty="0">
                          <a:solidFill>
                            <a:srgbClr val="1A1A1A"/>
                          </a:solidFill>
                        </a:rPr>
                        <a:t>.110</a:t>
                      </a:r>
                      <a:endParaRPr sz="1600" b="0" dirty="0">
                        <a:solidFill>
                          <a:srgbClr val="1A1A1A"/>
                        </a:solidFill>
                      </a:endParaRPr>
                    </a:p>
                  </a:txBody>
                  <a:tcPr/>
                </a:tc>
                <a:extLst>
                  <a:ext uri="{0D108BD9-81ED-4DB2-BD59-A6C34878D82A}">
                    <a16:rowId xmlns:a16="http://schemas.microsoft.com/office/drawing/2014/main" val="1600761151"/>
                  </a:ext>
                </a:extLst>
              </a:tr>
              <a:tr h="534691">
                <a:tc>
                  <a:txBody>
                    <a:bodyPr/>
                    <a:lstStyle/>
                    <a:p>
                      <a:pPr algn="l"/>
                      <a:r>
                        <a:rPr lang="da-DK" sz="1600" b="0" dirty="0" err="1">
                          <a:solidFill>
                            <a:schemeClr val="tx1"/>
                          </a:solidFill>
                        </a:rPr>
                        <a:t>Highest</a:t>
                      </a:r>
                      <a:r>
                        <a:rPr lang="da-DK" sz="1600" b="0" dirty="0">
                          <a:solidFill>
                            <a:schemeClr val="tx1"/>
                          </a:solidFill>
                        </a:rPr>
                        <a:t> </a:t>
                      </a:r>
                      <a:r>
                        <a:rPr lang="da-DK" sz="1600" b="0" dirty="0" err="1">
                          <a:solidFill>
                            <a:schemeClr val="tx1"/>
                          </a:solidFill>
                        </a:rPr>
                        <a:t>preprocessing</a:t>
                      </a:r>
                      <a:r>
                        <a:rPr lang="da-DK" sz="1600" b="0" dirty="0">
                          <a:solidFill>
                            <a:schemeClr val="tx1"/>
                          </a:solidFill>
                        </a:rPr>
                        <a:t> </a:t>
                      </a:r>
                      <a:r>
                        <a:rPr lang="da-DK" sz="1600" b="0" dirty="0" err="1">
                          <a:solidFill>
                            <a:schemeClr val="tx1"/>
                          </a:solidFill>
                        </a:rPr>
                        <a:t>impact</a:t>
                      </a:r>
                      <a:r>
                        <a:rPr lang="da-DK" sz="1600" b="0" dirty="0">
                          <a:solidFill>
                            <a:schemeClr val="tx1"/>
                          </a:solidFill>
                        </a:rPr>
                        <a:t>: ResNet-101</a:t>
                      </a:r>
                      <a:endParaRPr sz="1600" b="0" dirty="0">
                        <a:solidFill>
                          <a:schemeClr val="tx1"/>
                        </a:solidFill>
                      </a:endParaRPr>
                    </a:p>
                  </a:txBody>
                  <a:tcPr>
                    <a:solidFill>
                      <a:srgbClr val="1E77B4"/>
                    </a:solidFill>
                  </a:tcPr>
                </a:tc>
                <a:tc>
                  <a:txBody>
                    <a:bodyPr/>
                    <a:lstStyle/>
                    <a:p>
                      <a:pPr algn="ctr"/>
                      <a:r>
                        <a:rPr lang="da-DK" sz="1600" b="0" dirty="0">
                          <a:solidFill>
                            <a:srgbClr val="1A1A1A"/>
                          </a:solidFill>
                        </a:rPr>
                        <a:t>0.850 → 0.980</a:t>
                      </a:r>
                      <a:endParaRPr sz="1600" b="0" dirty="0">
                        <a:solidFill>
                          <a:srgbClr val="1A1A1A"/>
                        </a:solidFill>
                      </a:endParaRPr>
                    </a:p>
                  </a:txBody>
                  <a:tcPr/>
                </a:tc>
                <a:tc>
                  <a:txBody>
                    <a:bodyPr/>
                    <a:lstStyle/>
                    <a:p>
                      <a:pPr algn="ctr"/>
                      <a:r>
                        <a:rPr lang="da-DK" sz="1600" b="0" dirty="0">
                          <a:solidFill>
                            <a:srgbClr val="1A1A1A"/>
                          </a:solidFill>
                        </a:rPr>
                        <a:t>0.849 → 0.991</a:t>
                      </a:r>
                      <a:endParaRPr sz="1600" b="0" dirty="0">
                        <a:solidFill>
                          <a:srgbClr val="1A1A1A"/>
                        </a:solidFill>
                      </a:endParaRPr>
                    </a:p>
                  </a:txBody>
                  <a:tcPr/>
                </a:tc>
                <a:tc>
                  <a:txBody>
                    <a:bodyPr/>
                    <a:lstStyle/>
                    <a:p>
                      <a:pPr algn="ctr"/>
                      <a:r>
                        <a:rPr lang="da-DK" sz="1600" b="0" dirty="0">
                          <a:solidFill>
                            <a:srgbClr val="1A1A1A"/>
                          </a:solidFill>
                        </a:rPr>
                        <a:t>0.621 → 0.945</a:t>
                      </a:r>
                      <a:endParaRPr sz="1600" b="0" dirty="0">
                        <a:solidFill>
                          <a:srgbClr val="1A1A1A"/>
                        </a:solidFill>
                      </a:endParaRPr>
                    </a:p>
                  </a:txBody>
                  <a:tcPr/>
                </a:tc>
                <a:extLst>
                  <a:ext uri="{0D108BD9-81ED-4DB2-BD59-A6C34878D82A}">
                    <a16:rowId xmlns:a16="http://schemas.microsoft.com/office/drawing/2014/main" val="3932166484"/>
                  </a:ext>
                </a:extLst>
              </a:tr>
            </a:tbl>
          </a:graphicData>
        </a:graphic>
      </p:graphicFrame>
      <p:sp>
        <p:nvSpPr>
          <p:cNvPr id="6" name="Tekstfelt 5">
            <a:extLst>
              <a:ext uri="{FF2B5EF4-FFF2-40B4-BE49-F238E27FC236}">
                <a16:creationId xmlns:a16="http://schemas.microsoft.com/office/drawing/2014/main" id="{C0B9C3DE-3607-1F3E-17A0-E7C570806D18}"/>
              </a:ext>
            </a:extLst>
          </p:cNvPr>
          <p:cNvSpPr txBox="1"/>
          <p:nvPr/>
        </p:nvSpPr>
        <p:spPr>
          <a:xfrm>
            <a:off x="7402227" y="393324"/>
            <a:ext cx="4682372" cy="553998"/>
          </a:xfrm>
          <a:prstGeom prst="rect">
            <a:avLst/>
          </a:prstGeom>
        </p:spPr>
        <p:txBody>
          <a:bodyPr vert="horz" wrap="none" lIns="0" tIns="0" rIns="0" bIns="0" rtlCol="0" anchor="t" anchorCtr="0">
            <a:spAutoFit/>
          </a:bodyPr>
          <a:lstStyle/>
          <a:p>
            <a:pPr>
              <a:spcBef>
                <a:spcPct val="0"/>
              </a:spcBef>
            </a:pPr>
            <a:r>
              <a:rPr lang="da-DK" sz="600" dirty="0"/>
              <a:t>[2] PPMR dataset </a:t>
            </a:r>
          </a:p>
          <a:p>
            <a:pPr>
              <a:spcBef>
                <a:spcPct val="0"/>
              </a:spcBef>
            </a:pPr>
            <a:r>
              <a:rPr lang="da-DK" sz="600" dirty="0"/>
              <a:t>Zhang, L., </a:t>
            </a:r>
            <a:r>
              <a:rPr lang="da-DK" sz="600" dirty="0" err="1"/>
              <a:t>Abdeen</a:t>
            </a:r>
            <a:r>
              <a:rPr lang="da-DK" sz="600" dirty="0"/>
              <a:t>, N., &amp; Lang, J. (2024). A </a:t>
            </a:r>
            <a:r>
              <a:rPr lang="da-DK" sz="600" dirty="0" err="1"/>
              <a:t>novel</a:t>
            </a:r>
            <a:r>
              <a:rPr lang="da-DK" sz="600" dirty="0"/>
              <a:t> center-</a:t>
            </a:r>
            <a:r>
              <a:rPr lang="da-DK" sz="600" dirty="0" err="1"/>
              <a:t>based</a:t>
            </a:r>
            <a:r>
              <a:rPr lang="da-DK" sz="600" dirty="0"/>
              <a:t> </a:t>
            </a:r>
            <a:r>
              <a:rPr lang="da-DK" sz="600" dirty="0" err="1"/>
              <a:t>deep</a:t>
            </a:r>
            <a:r>
              <a:rPr lang="da-DK" sz="600" dirty="0"/>
              <a:t> </a:t>
            </a:r>
            <a:r>
              <a:rPr lang="da-DK" sz="600" dirty="0" err="1"/>
              <a:t>contrastive</a:t>
            </a:r>
            <a:r>
              <a:rPr lang="da-DK" sz="600" dirty="0"/>
              <a:t> </a:t>
            </a:r>
            <a:r>
              <a:rPr lang="da-DK" sz="600" dirty="0" err="1"/>
              <a:t>metric</a:t>
            </a:r>
            <a:r>
              <a:rPr lang="da-DK" sz="600" dirty="0"/>
              <a:t> learning </a:t>
            </a:r>
            <a:r>
              <a:rPr lang="da-DK" sz="600" dirty="0" err="1"/>
              <a:t>method</a:t>
            </a:r>
            <a:r>
              <a:rPr lang="da-DK" sz="600" dirty="0"/>
              <a:t> for the </a:t>
            </a:r>
            <a:r>
              <a:rPr lang="da-DK" sz="600" dirty="0" err="1"/>
              <a:t>detection</a:t>
            </a:r>
            <a:r>
              <a:rPr lang="da-DK" sz="600" dirty="0"/>
              <a:t> of </a:t>
            </a:r>
            <a:r>
              <a:rPr lang="da-DK" sz="600" dirty="0" err="1"/>
              <a:t>polymicrogyria</a:t>
            </a:r>
            <a:r>
              <a:rPr lang="da-DK" sz="600" dirty="0"/>
              <a:t> </a:t>
            </a:r>
            <a:br>
              <a:rPr lang="da-DK" sz="600" dirty="0"/>
            </a:br>
            <a:r>
              <a:rPr lang="da-DK" sz="600" dirty="0"/>
              <a:t>in </a:t>
            </a:r>
            <a:r>
              <a:rPr lang="da-DK" sz="600" dirty="0" err="1"/>
              <a:t>pediatric</a:t>
            </a:r>
            <a:r>
              <a:rPr lang="da-DK" sz="600" dirty="0"/>
              <a:t> </a:t>
            </a:r>
            <a:r>
              <a:rPr lang="da-DK" sz="600" dirty="0" err="1"/>
              <a:t>brain</a:t>
            </a:r>
            <a:r>
              <a:rPr lang="da-DK" sz="600" dirty="0"/>
              <a:t> MRI. </a:t>
            </a:r>
            <a:r>
              <a:rPr lang="da-DK" sz="600" dirty="0" err="1"/>
              <a:t>Computerized</a:t>
            </a:r>
            <a:r>
              <a:rPr lang="da-DK" sz="600" dirty="0"/>
              <a:t> Medical Imaging and Graphics, 114, 102373.</a:t>
            </a:r>
          </a:p>
          <a:p>
            <a:pPr>
              <a:spcBef>
                <a:spcPct val="0"/>
              </a:spcBef>
            </a:pPr>
            <a:r>
              <a:rPr lang="da-DK" sz="600" dirty="0"/>
              <a:t>[3] </a:t>
            </a:r>
            <a:r>
              <a:rPr lang="da-DK" sz="600" dirty="0" err="1"/>
              <a:t>Guha</a:t>
            </a:r>
            <a:r>
              <a:rPr lang="da-DK" sz="600" dirty="0"/>
              <a:t> et al.</a:t>
            </a:r>
          </a:p>
          <a:p>
            <a:pPr>
              <a:spcBef>
                <a:spcPct val="0"/>
              </a:spcBef>
            </a:pPr>
            <a:r>
              <a:rPr lang="da-DK" sz="600" dirty="0" err="1"/>
              <a:t>Guha</a:t>
            </a:r>
            <a:r>
              <a:rPr lang="da-DK" sz="600" dirty="0"/>
              <a:t>, S., </a:t>
            </a:r>
            <a:r>
              <a:rPr lang="da-DK" sz="600" dirty="0" err="1"/>
              <a:t>Bhandage</a:t>
            </a:r>
            <a:r>
              <a:rPr lang="da-DK" sz="600" dirty="0"/>
              <a:t>, V., &amp; </a:t>
            </a:r>
            <a:r>
              <a:rPr lang="da-DK" sz="600" dirty="0" err="1"/>
              <a:t>Agarwal</a:t>
            </a:r>
            <a:r>
              <a:rPr lang="da-DK" sz="600" dirty="0"/>
              <a:t>, A. (2025). </a:t>
            </a:r>
          </a:p>
          <a:p>
            <a:pPr>
              <a:spcBef>
                <a:spcPct val="0"/>
              </a:spcBef>
            </a:pPr>
            <a:r>
              <a:rPr lang="da-DK" sz="600" dirty="0"/>
              <a:t>Automated </a:t>
            </a:r>
            <a:r>
              <a:rPr lang="da-DK" sz="600" dirty="0" err="1"/>
              <a:t>detection</a:t>
            </a:r>
            <a:r>
              <a:rPr lang="da-DK" sz="600" dirty="0"/>
              <a:t> of </a:t>
            </a:r>
            <a:r>
              <a:rPr lang="da-DK" sz="600" dirty="0" err="1"/>
              <a:t>polymicrogyria</a:t>
            </a:r>
            <a:r>
              <a:rPr lang="da-DK" sz="600" dirty="0"/>
              <a:t> in </a:t>
            </a:r>
            <a:r>
              <a:rPr lang="da-DK" sz="600" dirty="0" err="1"/>
              <a:t>pediatric</a:t>
            </a:r>
            <a:r>
              <a:rPr lang="da-DK" sz="600" dirty="0"/>
              <a:t> patients </a:t>
            </a:r>
            <a:r>
              <a:rPr lang="da-DK" sz="600" dirty="0" err="1"/>
              <a:t>using</a:t>
            </a:r>
            <a:r>
              <a:rPr lang="da-DK" sz="600" dirty="0"/>
              <a:t> </a:t>
            </a:r>
            <a:r>
              <a:rPr lang="da-DK" sz="600" dirty="0" err="1"/>
              <a:t>deep</a:t>
            </a:r>
            <a:r>
              <a:rPr lang="da-DK" sz="600" dirty="0"/>
              <a:t> learning. Scientific Reports, 15(1), 41662.</a:t>
            </a:r>
          </a:p>
        </p:txBody>
      </p:sp>
      <p:sp>
        <p:nvSpPr>
          <p:cNvPr id="8" name="Tekstfelt 7">
            <a:extLst>
              <a:ext uri="{FF2B5EF4-FFF2-40B4-BE49-F238E27FC236}">
                <a16:creationId xmlns:a16="http://schemas.microsoft.com/office/drawing/2014/main" id="{408277AD-5A34-CE91-AEE5-F9890297B394}"/>
              </a:ext>
            </a:extLst>
          </p:cNvPr>
          <p:cNvSpPr txBox="1"/>
          <p:nvPr/>
        </p:nvSpPr>
        <p:spPr>
          <a:xfrm>
            <a:off x="17092246" y="2514600"/>
            <a:ext cx="65" cy="369332"/>
          </a:xfrm>
          <a:prstGeom prst="rect">
            <a:avLst/>
          </a:prstGeom>
        </p:spPr>
        <p:txBody>
          <a:bodyPr vert="horz" wrap="none" lIns="0" tIns="0" rIns="0" bIns="0" rtlCol="0" anchor="t" anchorCtr="0">
            <a:sp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da-DK" sz="2400" b="0" dirty="0">
              <a:solidFill>
                <a:schemeClr val="tx1"/>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0"/>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4"/>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0"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Methodological Errors in Guha et al.</a:t>
            </a:r>
          </a:p>
        </p:txBody>
      </p:sp>
      <p:sp>
        <p:nvSpPr>
          <p:cNvPr id="3" name="Content Placeholder 2"/>
          <p:cNvSpPr>
            <a:spLocks noGrp="1"/>
          </p:cNvSpPr>
          <p:nvPr>
            <p:ph idx="1"/>
          </p:nvPr>
        </p:nvSpPr>
        <p:spPr>
          <a:xfrm>
            <a:off x="588963" y="1205029"/>
            <a:ext cx="11012488" cy="4673600"/>
          </a:xfrm>
        </p:spPr>
        <p:txBody>
          <a:bodyPr/>
          <a:lstStyle/>
          <a:p>
            <a:r>
              <a:rPr lang="da-DK" dirty="0"/>
              <a:t>1 — Resolution </a:t>
            </a:r>
            <a:r>
              <a:rPr lang="da-DK" dirty="0" err="1"/>
              <a:t>confound</a:t>
            </a:r>
            <a:endParaRPr lang="da-DK" dirty="0"/>
          </a:p>
          <a:p>
            <a:r>
              <a:rPr lang="da-DK" dirty="0"/>
              <a:t>2 — </a:t>
            </a:r>
            <a:r>
              <a:rPr lang="da-DK" dirty="0" err="1"/>
              <a:t>Mislabeling</a:t>
            </a:r>
            <a:endParaRPr lang="da-DK" dirty="0"/>
          </a:p>
          <a:p>
            <a:r>
              <a:rPr lang="da-DK" dirty="0"/>
              <a:t>3 — Downsampling </a:t>
            </a:r>
            <a:r>
              <a:rPr lang="da-DK" dirty="0" err="1"/>
              <a:t>pre</a:t>
            </a:r>
            <a:r>
              <a:rPr lang="da-DK" dirty="0"/>
              <a:t>-splits</a:t>
            </a:r>
          </a:p>
        </p:txBody>
      </p:sp>
      <p:pic>
        <p:nvPicPr>
          <p:cNvPr id="6" name="Grafik 5">
            <a:extLst>
              <a:ext uri="{FF2B5EF4-FFF2-40B4-BE49-F238E27FC236}">
                <a16:creationId xmlns:a16="http://schemas.microsoft.com/office/drawing/2014/main" id="{7262C257-8636-B673-4B45-81B3696DA1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29437" y="1662545"/>
            <a:ext cx="7462563" cy="5195455"/>
          </a:xfrm>
          <a:prstGeom prst="rect">
            <a:avLst/>
          </a:prstGeom>
        </p:spPr>
      </p:pic>
      <p:pic>
        <p:nvPicPr>
          <p:cNvPr id="7" name="Grafik 6">
            <a:extLst>
              <a:ext uri="{FF2B5EF4-FFF2-40B4-BE49-F238E27FC236}">
                <a16:creationId xmlns:a16="http://schemas.microsoft.com/office/drawing/2014/main" id="{3C8B5729-1A5E-36DA-F0A1-16C76BEA50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18909" y="344630"/>
            <a:ext cx="6296891" cy="6520185"/>
          </a:xfrm>
          <a:prstGeom prst="rect">
            <a:avLst/>
          </a:prstGeom>
        </p:spPr>
      </p:pic>
      <p:pic>
        <p:nvPicPr>
          <p:cNvPr id="8" name="Grafik 7">
            <a:extLst>
              <a:ext uri="{FF2B5EF4-FFF2-40B4-BE49-F238E27FC236}">
                <a16:creationId xmlns:a16="http://schemas.microsoft.com/office/drawing/2014/main" id="{1ABDF714-5C8A-47E3-1F09-775FF8877D3A}"/>
              </a:ext>
            </a:extLst>
          </p:cNvPr>
          <p:cNvPicPr>
            <a:picLocks noChangeAspect="1"/>
          </p:cNvPicPr>
          <p:nvPr/>
        </p:nvPicPr>
        <p:blipFill>
          <a:blip>
            <a:extLst>
              <a:ext uri="{96DAC541-7B7A-43D3-8B79-37D633B846F1}">
                <asvg:svgBlip xmlns:asvg="http://schemas.microsoft.com/office/drawing/2016/SVG/main" r:embed="rId5"/>
              </a:ext>
            </a:extLst>
          </a:blip>
          <a:srcRect l="35096" t="56728" r="26800" b="185"/>
          <a:stretch>
            <a:fillRect/>
          </a:stretch>
        </p:blipFill>
        <p:spPr>
          <a:xfrm>
            <a:off x="5856898" y="2276408"/>
            <a:ext cx="6333516" cy="4581592"/>
          </a:xfrm>
          <a:prstGeom prst="rect">
            <a:avLst/>
          </a:prstGeom>
        </p:spPr>
      </p:pic>
      <p:pic>
        <p:nvPicPr>
          <p:cNvPr id="9" name="Grafik 8">
            <a:extLst>
              <a:ext uri="{FF2B5EF4-FFF2-40B4-BE49-F238E27FC236}">
                <a16:creationId xmlns:a16="http://schemas.microsoft.com/office/drawing/2014/main" id="{856DACC2-0707-DC12-63B9-15E9A426C700}"/>
              </a:ext>
            </a:extLst>
          </p:cNvPr>
          <p:cNvPicPr>
            <a:picLocks noChangeAspect="1"/>
          </p:cNvPicPr>
          <p:nvPr/>
        </p:nvPicPr>
        <p:blipFill>
          <a:blip>
            <a:extLst>
              <a:ext uri="{96DAC541-7B7A-43D3-8B79-37D633B846F1}">
                <asvg:svgBlip xmlns:asvg="http://schemas.microsoft.com/office/drawing/2016/SVG/main" r:embed="rId6"/>
              </a:ext>
            </a:extLst>
          </a:blip>
          <a:srcRect t="8085" r="61208" b="13237"/>
          <a:stretch>
            <a:fillRect/>
          </a:stretch>
        </p:blipFill>
        <p:spPr>
          <a:xfrm>
            <a:off x="667385" y="2276408"/>
            <a:ext cx="5187928" cy="4591815"/>
          </a:xfrm>
          <a:prstGeom prst="rect">
            <a:avLst/>
          </a:prstGeom>
        </p:spPr>
      </p:pic>
      <p:pic>
        <p:nvPicPr>
          <p:cNvPr id="5" name="Grafik 4">
            <a:extLst>
              <a:ext uri="{FF2B5EF4-FFF2-40B4-BE49-F238E27FC236}">
                <a16:creationId xmlns:a16="http://schemas.microsoft.com/office/drawing/2014/main" id="{7053F87D-B375-88C6-8639-C80C98B7E040}"/>
              </a:ext>
            </a:extLst>
          </p:cNvPr>
          <p:cNvPicPr>
            <a:picLocks noChangeAspect="1"/>
          </p:cNvPicPr>
          <p:nvPr/>
        </p:nvPicPr>
        <p:blipFill>
          <a:blip>
            <a:extLst>
              <a:ext uri="{96DAC541-7B7A-43D3-8B79-37D633B846F1}">
                <asvg:svgBlip xmlns:asvg="http://schemas.microsoft.com/office/drawing/2016/SVG/main" r:embed="rId7"/>
              </a:ext>
            </a:extLst>
          </a:blip>
          <a:srcRect l="-1762" t="15648" r="64382" b="13133"/>
          <a:stretch>
            <a:fillRect/>
          </a:stretch>
        </p:blipFill>
        <p:spPr>
          <a:xfrm>
            <a:off x="5559524" y="2279516"/>
            <a:ext cx="5171015" cy="45815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7"/>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8"/>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9"/>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Replication — What We Did</a:t>
            </a:r>
          </a:p>
        </p:txBody>
      </p:sp>
      <p:pic>
        <p:nvPicPr>
          <p:cNvPr id="5" name="Billede 4">
            <a:extLst>
              <a:ext uri="{FF2B5EF4-FFF2-40B4-BE49-F238E27FC236}">
                <a16:creationId xmlns:a16="http://schemas.microsoft.com/office/drawing/2014/main" id="{FB0FC446-0333-1093-D6E0-F2599EEFCE5A}"/>
              </a:ext>
            </a:extLst>
          </p:cNvPr>
          <p:cNvPicPr>
            <a:picLocks noChangeAspect="1"/>
          </p:cNvPicPr>
          <p:nvPr/>
        </p:nvPicPr>
        <p:blipFill>
          <a:blip r:embed="rId3"/>
          <a:stretch>
            <a:fillRect/>
          </a:stretch>
        </p:blipFill>
        <p:spPr>
          <a:xfrm>
            <a:off x="3329609" y="2404649"/>
            <a:ext cx="8862391" cy="4453351"/>
          </a:xfrm>
          <a:prstGeom prst="rect">
            <a:avLst/>
          </a:prstGeom>
        </p:spPr>
      </p:pic>
      <p:sp>
        <p:nvSpPr>
          <p:cNvPr id="6" name="Tekstfelt 5">
            <a:extLst>
              <a:ext uri="{FF2B5EF4-FFF2-40B4-BE49-F238E27FC236}">
                <a16:creationId xmlns:a16="http://schemas.microsoft.com/office/drawing/2014/main" id="{3722A235-6E78-6E27-90B6-422CAD1D490C}"/>
              </a:ext>
            </a:extLst>
          </p:cNvPr>
          <p:cNvSpPr txBox="1"/>
          <p:nvPr/>
        </p:nvSpPr>
        <p:spPr>
          <a:xfrm>
            <a:off x="588963" y="1484313"/>
            <a:ext cx="6463308" cy="3693319"/>
          </a:xfrm>
          <a:prstGeom prst="rect">
            <a:avLst/>
          </a:prstGeom>
        </p:spPr>
        <p:txBody>
          <a:bodyPr vert="horz" wrap="none" lIns="0" tIns="0" rIns="0" bIns="0" rtlCol="0" anchor="t" anchorCtr="0">
            <a:spAutoFit/>
          </a:bodyPr>
          <a:lstStyle/>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da-DK" sz="2400" b="0" dirty="0" err="1">
                <a:solidFill>
                  <a:schemeClr val="tx1"/>
                </a:solidFill>
                <a:latin typeface="+mn-lt"/>
              </a:rPr>
              <a:t>Replicated</a:t>
            </a:r>
            <a:r>
              <a:rPr lang="da-DK" sz="2400" b="0" dirty="0">
                <a:solidFill>
                  <a:schemeClr val="tx1"/>
                </a:solidFill>
                <a:latin typeface="+mn-lt"/>
              </a:rPr>
              <a:t> </a:t>
            </a:r>
            <a:r>
              <a:rPr lang="da-DK" sz="2400" b="0" dirty="0" err="1">
                <a:solidFill>
                  <a:schemeClr val="tx1"/>
                </a:solidFill>
                <a:latin typeface="+mn-lt"/>
              </a:rPr>
              <a:t>Guha</a:t>
            </a:r>
            <a:r>
              <a:rPr lang="da-DK" sz="2400" b="0" dirty="0">
                <a:solidFill>
                  <a:schemeClr val="tx1"/>
                </a:solidFill>
                <a:latin typeface="+mn-lt"/>
              </a:rPr>
              <a:t> et al. </a:t>
            </a:r>
            <a:r>
              <a:rPr lang="da-DK" sz="2400" b="0" dirty="0" err="1">
                <a:solidFill>
                  <a:schemeClr val="tx1"/>
                </a:solidFill>
                <a:latin typeface="+mn-lt"/>
              </a:rPr>
              <a:t>Preprocessing</a:t>
            </a:r>
            <a:r>
              <a:rPr lang="da-DK" sz="2400" b="0" dirty="0">
                <a:solidFill>
                  <a:schemeClr val="tx1"/>
                </a:solidFill>
                <a:latin typeface="+mn-lt"/>
              </a:rPr>
              <a:t> pipeline</a:t>
            </a:r>
          </a:p>
          <a:p>
            <a:pPr marL="342900" indent="-342900">
              <a:spcBef>
                <a:spcPct val="0"/>
              </a:spcBef>
              <a:buFont typeface="Arial" panose="020B0604020202020204" pitchFamily="34" charset="0"/>
              <a:buChar char="•"/>
            </a:pPr>
            <a:r>
              <a:rPr lang="da-DK" sz="2400" dirty="0" err="1"/>
              <a:t>Experimental</a:t>
            </a:r>
            <a:r>
              <a:rPr lang="da-DK" sz="2400" dirty="0"/>
              <a:t> </a:t>
            </a:r>
            <a:r>
              <a:rPr lang="da-DK" sz="2400" dirty="0" err="1"/>
              <a:t>setup</a:t>
            </a:r>
            <a:endParaRPr lang="da-DK" sz="2400" dirty="0"/>
          </a:p>
          <a:p>
            <a:pPr marL="800100" lvl="1" indent="-342900">
              <a:spcBef>
                <a:spcPct val="0"/>
              </a:spcBef>
              <a:buFont typeface="Arial" panose="020B0604020202020204" pitchFamily="34" charset="0"/>
              <a:buChar char="•"/>
            </a:pPr>
            <a:r>
              <a:rPr lang="da-DK" sz="2400" dirty="0"/>
              <a:t>7 </a:t>
            </a:r>
            <a:r>
              <a:rPr lang="da-DK" sz="2400" dirty="0" err="1"/>
              <a:t>conditions</a:t>
            </a:r>
            <a:endParaRPr lang="da-DK" sz="2400" dirty="0"/>
          </a:p>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da-DK" sz="2400" dirty="0"/>
              <a:t>5-fold cross </a:t>
            </a:r>
            <a:r>
              <a:rPr lang="da-DK" sz="2400" dirty="0" err="1"/>
              <a:t>validation</a:t>
            </a:r>
            <a:endParaRPr lang="da-DK" sz="2400" dirty="0"/>
          </a:p>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da-DK" sz="2400" dirty="0"/>
              <a:t>Model:</a:t>
            </a:r>
          </a:p>
          <a:p>
            <a:pPr marL="800100" lvl="1" indent="-342900">
              <a:spcBef>
                <a:spcPct val="0"/>
              </a:spcBef>
              <a:buFont typeface="Arial" panose="020B0604020202020204" pitchFamily="34" charset="0"/>
              <a:buChar char="•"/>
            </a:pPr>
            <a:r>
              <a:rPr lang="da-DK" sz="2400" dirty="0"/>
              <a:t>Resnet-101</a:t>
            </a:r>
          </a:p>
          <a:p>
            <a:pPr marL="800100" lvl="1" indent="-342900">
              <a:spcBef>
                <a:spcPct val="0"/>
              </a:spcBef>
              <a:buFont typeface="Arial" panose="020B0604020202020204" pitchFamily="34" charset="0"/>
              <a:buChar char="•"/>
            </a:pPr>
            <a:r>
              <a:rPr lang="da-DK" sz="2400" dirty="0"/>
              <a:t>DenseNet-201</a:t>
            </a:r>
          </a:p>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da-DK" sz="2400" dirty="0"/>
              <a:t>Training </a:t>
            </a:r>
          </a:p>
          <a:p>
            <a:pPr marL="800100" lvl="1" indent="-342900">
              <a:spcBef>
                <a:spcPct val="0"/>
              </a:spcBef>
              <a:buFont typeface="Arial" panose="020B0604020202020204" pitchFamily="34" charset="0"/>
              <a:buChar char="•"/>
            </a:pPr>
            <a:r>
              <a:rPr lang="da-DK" sz="2400" dirty="0"/>
              <a:t>20 </a:t>
            </a:r>
            <a:r>
              <a:rPr lang="da-DK" sz="2400" dirty="0" err="1"/>
              <a:t>epochs</a:t>
            </a:r>
            <a:r>
              <a:rPr lang="da-DK" sz="2400" dirty="0"/>
              <a:t> </a:t>
            </a:r>
          </a:p>
          <a:p>
            <a:pPr marL="800100" lvl="1" indent="-342900">
              <a:spcBef>
                <a:spcPct val="0"/>
              </a:spcBef>
              <a:buFont typeface="Arial" panose="020B0604020202020204" pitchFamily="34" charset="0"/>
              <a:buChar char="•"/>
            </a:pPr>
            <a:r>
              <a:rPr lang="da-DK" sz="2400" dirty="0" err="1"/>
              <a:t>Fixed</a:t>
            </a:r>
            <a:r>
              <a:rPr lang="da-DK" sz="2400" dirty="0"/>
              <a:t> backbone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 1">
            <a:extLst>
              <a:ext uri="{FF2B5EF4-FFF2-40B4-BE49-F238E27FC236}">
                <a16:creationId xmlns:a16="http://schemas.microsoft.com/office/drawing/2014/main" id="{7AF40383-EE14-6427-9DD3-8FE80889E3F8}"/>
              </a:ext>
            </a:extLst>
          </p:cNvPr>
          <p:cNvGraphicFramePr>
            <a:graphicFrameLocks noGrp="1"/>
          </p:cNvGraphicFramePr>
          <p:nvPr>
            <p:extLst>
              <p:ext uri="{D42A27DB-BD31-4B8C-83A1-F6EECF244321}">
                <p14:modId xmlns:p14="http://schemas.microsoft.com/office/powerpoint/2010/main" val="2039712124"/>
              </p:ext>
            </p:extLst>
          </p:nvPr>
        </p:nvGraphicFramePr>
        <p:xfrm>
          <a:off x="0" y="332258"/>
          <a:ext cx="12192000" cy="6525743"/>
        </p:xfrm>
        <a:graphic>
          <a:graphicData uri="http://schemas.openxmlformats.org/drawingml/2006/table">
            <a:tbl>
              <a:tblPr firstRow="1" bandRow="1">
                <a:tableStyleId>{5C22544A-7EE6-4342-B048-85BDC9FD1C3A}</a:tableStyleId>
              </a:tblPr>
              <a:tblGrid>
                <a:gridCol w="4481838">
                  <a:extLst>
                    <a:ext uri="{9D8B030D-6E8A-4147-A177-3AD203B41FA5}">
                      <a16:colId xmlns:a16="http://schemas.microsoft.com/office/drawing/2014/main" val="3487893085"/>
                    </a:ext>
                  </a:extLst>
                </a:gridCol>
                <a:gridCol w="2570054">
                  <a:extLst>
                    <a:ext uri="{9D8B030D-6E8A-4147-A177-3AD203B41FA5}">
                      <a16:colId xmlns:a16="http://schemas.microsoft.com/office/drawing/2014/main" val="3897540636"/>
                    </a:ext>
                  </a:extLst>
                </a:gridCol>
                <a:gridCol w="2570054">
                  <a:extLst>
                    <a:ext uri="{9D8B030D-6E8A-4147-A177-3AD203B41FA5}">
                      <a16:colId xmlns:a16="http://schemas.microsoft.com/office/drawing/2014/main" val="4005609914"/>
                    </a:ext>
                  </a:extLst>
                </a:gridCol>
                <a:gridCol w="2570054">
                  <a:extLst>
                    <a:ext uri="{9D8B030D-6E8A-4147-A177-3AD203B41FA5}">
                      <a16:colId xmlns:a16="http://schemas.microsoft.com/office/drawing/2014/main" val="3879242077"/>
                    </a:ext>
                  </a:extLst>
                </a:gridCol>
              </a:tblGrid>
              <a:tr h="723746">
                <a:tc>
                  <a:txBody>
                    <a:bodyPr/>
                    <a:lstStyle/>
                    <a:p>
                      <a:pPr algn="ctr">
                        <a:defRPr sz="1200" b="1">
                          <a:solidFill>
                            <a:srgbClr val="000000"/>
                          </a:solidFill>
                        </a:defRPr>
                      </a:pPr>
                      <a:r>
                        <a:rPr lang="da-DK" sz="2000" b="1" dirty="0"/>
                        <a:t>Setup\</a:t>
                      </a:r>
                      <a:r>
                        <a:rPr lang="da-DK" sz="2000" b="1" dirty="0" err="1"/>
                        <a:t>Metrics</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200" b="1">
                          <a:solidFill>
                            <a:srgbClr val="000000"/>
                          </a:solidFill>
                        </a:defRPr>
                      </a:pPr>
                      <a:r>
                        <a:rPr sz="2000" dirty="0"/>
                        <a:t>Accuracy</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200" b="1">
                          <a:solidFill>
                            <a:srgbClr val="000000"/>
                          </a:solidFill>
                        </a:defRPr>
                      </a:pPr>
                      <a:r>
                        <a:rPr sz="2000" dirty="0"/>
                        <a:t>Precision</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200" b="1">
                          <a:solidFill>
                            <a:srgbClr val="000000"/>
                          </a:solidFill>
                        </a:defRPr>
                      </a:pPr>
                      <a:r>
                        <a:rPr sz="2000" dirty="0"/>
                        <a:t>Recall</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extLst>
                  <a:ext uri="{0D108BD9-81ED-4DB2-BD59-A6C34878D82A}">
                    <a16:rowId xmlns:a16="http://schemas.microsoft.com/office/drawing/2014/main" val="1611989558"/>
                  </a:ext>
                </a:extLst>
              </a:tr>
              <a:tr h="7237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ResNet-101  |  Paper + </a:t>
                      </a:r>
                      <a:r>
                        <a:rPr lang="da-DK" sz="2000" b="1" dirty="0" err="1"/>
                        <a:t>Raw</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0.850 ± 0.042</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0.849 ± 0.054</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0.621 ± 0.131</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655904156"/>
                  </a:ext>
                </a:extLst>
              </a:tr>
              <a:tr h="7237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ResNet-101  |  </a:t>
                      </a:r>
                      <a:r>
                        <a:rPr lang="da-DK" sz="2000" b="1" dirty="0" err="1"/>
                        <a:t>Correct</a:t>
                      </a:r>
                      <a:r>
                        <a:rPr lang="da-DK" sz="2000" b="1" dirty="0"/>
                        <a:t> + </a:t>
                      </a:r>
                      <a:r>
                        <a:rPr lang="da-DK" sz="2000" b="1" dirty="0" err="1"/>
                        <a:t>Raw</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0.839 ± 0.020</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0.515 ± 0.100</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0.206 ± 0.097</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3529584861"/>
                  </a:ext>
                </a:extLst>
              </a:tr>
              <a:tr h="7237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ResNet-101  |  Paper + </a:t>
                      </a:r>
                      <a:r>
                        <a:rPr lang="da-DK" sz="2000" b="1" dirty="0" err="1"/>
                        <a:t>Preproc</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0.980 ± 0.032</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0.991 ± 0.006</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0.945 ± 0.103</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941335573"/>
                  </a:ext>
                </a:extLst>
              </a:tr>
              <a:tr h="7237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ResNet-101  |  </a:t>
                      </a:r>
                      <a:r>
                        <a:rPr lang="da-DK" sz="2000" b="1" dirty="0" err="1"/>
                        <a:t>Correct</a:t>
                      </a:r>
                      <a:r>
                        <a:rPr lang="da-DK" sz="2000" b="1" dirty="0"/>
                        <a:t> + </a:t>
                      </a:r>
                      <a:r>
                        <a:rPr lang="da-DK" sz="2000" b="1" dirty="0" err="1"/>
                        <a:t>Preproc</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0.917 ± 0.034</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0.755 ± 0.096</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0.711 ± 0.143</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3089155032"/>
                  </a:ext>
                </a:extLst>
              </a:tr>
              <a:tr h="100704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ResNet-101  |  Paper  + </a:t>
                      </a:r>
                    </a:p>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err="1"/>
                        <a:t>Pre</a:t>
                      </a:r>
                      <a:r>
                        <a:rPr lang="da-DK" sz="2000" b="1" dirty="0"/>
                        <a:t>-split + </a:t>
                      </a:r>
                      <a:r>
                        <a:rPr lang="da-DK" sz="2000" b="1" dirty="0" err="1"/>
                        <a:t>Preproc</a:t>
                      </a:r>
                      <a:endParaRPr lang="da-DK" sz="2000" b="1" dirty="0"/>
                    </a:p>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a:t>
                      </a:r>
                      <a:r>
                        <a:rPr lang="da-DK" sz="2000" b="1" dirty="0" err="1"/>
                        <a:t>Guha</a:t>
                      </a:r>
                      <a:r>
                        <a:rPr lang="da-DK" sz="2000" b="1" dirty="0"/>
                        <a:t> et al.)</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0.972 ± 0.050</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1CDCC"/>
                    </a:solidFill>
                  </a:tcPr>
                </a:tc>
                <a:tc>
                  <a:txBody>
                    <a:bodyPr/>
                    <a:lstStyle/>
                    <a:p>
                      <a:pPr algn="ctr">
                        <a:defRPr sz="1100">
                          <a:solidFill>
                            <a:srgbClr val="000000"/>
                          </a:solidFill>
                        </a:defRPr>
                      </a:pPr>
                      <a:r>
                        <a:rPr sz="2000" dirty="0"/>
                        <a:t>0.994 ± 0.006</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1CDCC"/>
                    </a:solidFill>
                  </a:tcPr>
                </a:tc>
                <a:tc>
                  <a:txBody>
                    <a:bodyPr/>
                    <a:lstStyle/>
                    <a:p>
                      <a:pPr algn="ctr">
                        <a:defRPr sz="1100">
                          <a:solidFill>
                            <a:srgbClr val="000000"/>
                          </a:solidFill>
                        </a:defRPr>
                      </a:pPr>
                      <a:r>
                        <a:rPr sz="2000" dirty="0"/>
                        <a:t>0.952 ± 0.098</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1CDCC"/>
                    </a:solidFill>
                  </a:tcPr>
                </a:tc>
                <a:extLst>
                  <a:ext uri="{0D108BD9-81ED-4DB2-BD59-A6C34878D82A}">
                    <a16:rowId xmlns:a16="http://schemas.microsoft.com/office/drawing/2014/main" val="1755616896"/>
                  </a:ext>
                </a:extLst>
              </a:tr>
              <a:tr h="8929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ResNet-101  |  </a:t>
                      </a:r>
                      <a:r>
                        <a:rPr lang="da-DK" sz="2000" b="1" dirty="0" err="1"/>
                        <a:t>Correct</a:t>
                      </a:r>
                      <a:r>
                        <a:rPr lang="da-DK" sz="2000" b="1" dirty="0"/>
                        <a:t> + </a:t>
                      </a:r>
                    </a:p>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err="1"/>
                        <a:t>Pre</a:t>
                      </a:r>
                      <a:r>
                        <a:rPr lang="da-DK" sz="2000" b="1" dirty="0"/>
                        <a:t>-split + </a:t>
                      </a:r>
                      <a:r>
                        <a:rPr lang="da-DK" sz="2000" b="1" dirty="0" err="1"/>
                        <a:t>Preproc</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0.881 ± 0.078</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0.915 ± 0.038</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0.835 ± 0.149</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217118132"/>
                  </a:ext>
                </a:extLst>
              </a:tr>
              <a:tr h="100704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ResNet-101  |  </a:t>
                      </a:r>
                      <a:r>
                        <a:rPr lang="da-DK" sz="2000" b="1" dirty="0" err="1"/>
                        <a:t>Correct</a:t>
                      </a:r>
                      <a:r>
                        <a:rPr lang="da-DK" sz="2000" b="1" dirty="0"/>
                        <a:t> </a:t>
                      </a:r>
                      <a:r>
                        <a:rPr lang="da-DK" sz="2000" b="1" dirty="0" err="1"/>
                        <a:t>setup</a:t>
                      </a:r>
                      <a:r>
                        <a:rPr lang="da-DK" sz="2000" b="1" dirty="0"/>
                        <a:t> + Post-split + </a:t>
                      </a:r>
                      <a:r>
                        <a:rPr lang="da-DK" sz="2000" b="1" dirty="0" err="1"/>
                        <a:t>Raw</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buNone/>
                      </a:pPr>
                      <a:r>
                        <a:rPr lang="da-DK" sz="2000" dirty="0">
                          <a:solidFill>
                            <a:schemeClr val="tx1"/>
                          </a:solidFill>
                          <a:effectLst/>
                        </a:rPr>
                        <a:t>0.806 ± 0.041</a:t>
                      </a:r>
                    </a:p>
                  </a:txBody>
                  <a:tcPr marL="76200" marR="76200" marT="38100" marB="381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2CECC"/>
                    </a:solidFill>
                  </a:tcPr>
                </a:tc>
                <a:tc>
                  <a:txBody>
                    <a:bodyPr/>
                    <a:lstStyle/>
                    <a:p>
                      <a:pPr algn="ctr">
                        <a:buNone/>
                      </a:pPr>
                      <a:r>
                        <a:rPr lang="da-DK" sz="2000" dirty="0">
                          <a:solidFill>
                            <a:schemeClr val="tx1"/>
                          </a:solidFill>
                          <a:effectLst/>
                        </a:rPr>
                        <a:t>0.424 ± 0.049</a:t>
                      </a:r>
                    </a:p>
                  </a:txBody>
                  <a:tcPr marL="76200" marR="76200" marT="38100" marB="381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2CECC"/>
                    </a:solidFill>
                  </a:tcPr>
                </a:tc>
                <a:tc>
                  <a:txBody>
                    <a:bodyPr/>
                    <a:lstStyle/>
                    <a:p>
                      <a:pPr algn="ctr">
                        <a:buNone/>
                      </a:pPr>
                      <a:r>
                        <a:rPr lang="da-DK" sz="2000" dirty="0">
                          <a:solidFill>
                            <a:schemeClr val="tx1"/>
                          </a:solidFill>
                          <a:effectLst/>
                        </a:rPr>
                        <a:t>0.520 ± 0.170</a:t>
                      </a:r>
                    </a:p>
                  </a:txBody>
                  <a:tcPr marL="76200" marR="76200" marT="38100" marB="381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2CECC"/>
                    </a:solidFill>
                  </a:tcPr>
                </a:tc>
                <a:extLst>
                  <a:ext uri="{0D108BD9-81ED-4DB2-BD59-A6C34878D82A}">
                    <a16:rowId xmlns:a16="http://schemas.microsoft.com/office/drawing/2014/main" val="3796292336"/>
                  </a:ext>
                </a:extLst>
              </a:tr>
            </a:tbl>
          </a:graphicData>
        </a:graphic>
      </p:graphicFrame>
      <p:graphicFrame>
        <p:nvGraphicFramePr>
          <p:cNvPr id="3" name="Tabel 2">
            <a:extLst>
              <a:ext uri="{FF2B5EF4-FFF2-40B4-BE49-F238E27FC236}">
                <a16:creationId xmlns:a16="http://schemas.microsoft.com/office/drawing/2014/main" id="{B4373336-9BC4-A2AD-C703-50F91D3B8B10}"/>
              </a:ext>
            </a:extLst>
          </p:cNvPr>
          <p:cNvGraphicFramePr>
            <a:graphicFrameLocks noGrp="1"/>
          </p:cNvGraphicFramePr>
          <p:nvPr>
            <p:extLst>
              <p:ext uri="{D42A27DB-BD31-4B8C-83A1-F6EECF244321}">
                <p14:modId xmlns:p14="http://schemas.microsoft.com/office/powerpoint/2010/main" val="4085596886"/>
              </p:ext>
            </p:extLst>
          </p:nvPr>
        </p:nvGraphicFramePr>
        <p:xfrm>
          <a:off x="0" y="332257"/>
          <a:ext cx="12192000" cy="6525743"/>
        </p:xfrm>
        <a:graphic>
          <a:graphicData uri="http://schemas.openxmlformats.org/drawingml/2006/table">
            <a:tbl>
              <a:tblPr firstRow="1" bandRow="1">
                <a:tableStyleId>{5C22544A-7EE6-4342-B048-85BDC9FD1C3A}</a:tableStyleId>
              </a:tblPr>
              <a:tblGrid>
                <a:gridCol w="4481838">
                  <a:extLst>
                    <a:ext uri="{9D8B030D-6E8A-4147-A177-3AD203B41FA5}">
                      <a16:colId xmlns:a16="http://schemas.microsoft.com/office/drawing/2014/main" val="1076915041"/>
                    </a:ext>
                  </a:extLst>
                </a:gridCol>
                <a:gridCol w="2570054">
                  <a:extLst>
                    <a:ext uri="{9D8B030D-6E8A-4147-A177-3AD203B41FA5}">
                      <a16:colId xmlns:a16="http://schemas.microsoft.com/office/drawing/2014/main" val="1611378766"/>
                    </a:ext>
                  </a:extLst>
                </a:gridCol>
                <a:gridCol w="2570054">
                  <a:extLst>
                    <a:ext uri="{9D8B030D-6E8A-4147-A177-3AD203B41FA5}">
                      <a16:colId xmlns:a16="http://schemas.microsoft.com/office/drawing/2014/main" val="3770294398"/>
                    </a:ext>
                  </a:extLst>
                </a:gridCol>
                <a:gridCol w="2570054">
                  <a:extLst>
                    <a:ext uri="{9D8B030D-6E8A-4147-A177-3AD203B41FA5}">
                      <a16:colId xmlns:a16="http://schemas.microsoft.com/office/drawing/2014/main" val="720232204"/>
                    </a:ext>
                  </a:extLst>
                </a:gridCol>
              </a:tblGrid>
              <a:tr h="723746">
                <a:tc>
                  <a:txBody>
                    <a:bodyPr/>
                    <a:lstStyle/>
                    <a:p>
                      <a:pPr algn="ctr">
                        <a:defRPr sz="1200" b="1">
                          <a:solidFill>
                            <a:srgbClr val="000000"/>
                          </a:solidFill>
                        </a:defRPr>
                      </a:pPr>
                      <a:r>
                        <a:rPr lang="da-DK" sz="2000" b="1" dirty="0"/>
                        <a:t>Setup\</a:t>
                      </a:r>
                      <a:r>
                        <a:rPr lang="da-DK" sz="2000" b="1" dirty="0" err="1"/>
                        <a:t>Metrics</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200" b="1">
                          <a:solidFill>
                            <a:srgbClr val="000000"/>
                          </a:solidFill>
                        </a:defRPr>
                      </a:pPr>
                      <a:r>
                        <a:rPr sz="2000" dirty="0"/>
                        <a:t>Accuracy</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200" b="1">
                          <a:solidFill>
                            <a:srgbClr val="000000"/>
                          </a:solidFill>
                        </a:defRPr>
                      </a:pPr>
                      <a:r>
                        <a:rPr sz="2000" dirty="0"/>
                        <a:t>Precision</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200" b="1">
                          <a:solidFill>
                            <a:srgbClr val="000000"/>
                          </a:solidFill>
                        </a:defRPr>
                      </a:pPr>
                      <a:r>
                        <a:rPr sz="2000" dirty="0"/>
                        <a:t>Recall</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extLst>
                  <a:ext uri="{0D108BD9-81ED-4DB2-BD59-A6C34878D82A}">
                    <a16:rowId xmlns:a16="http://schemas.microsoft.com/office/drawing/2014/main" val="3376520571"/>
                  </a:ext>
                </a:extLst>
              </a:tr>
              <a:tr h="7237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ResNet-101  |  Paper + </a:t>
                      </a:r>
                      <a:r>
                        <a:rPr lang="da-DK" sz="2000" b="1" dirty="0" err="1"/>
                        <a:t>Raw</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0.850 ± 0.042</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0.849 ± 0.054</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0.621 ± 0.131</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928738620"/>
                  </a:ext>
                </a:extLst>
              </a:tr>
              <a:tr h="7237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ResNet-101  |  </a:t>
                      </a:r>
                      <a:r>
                        <a:rPr lang="da-DK" sz="2000" b="1" dirty="0" err="1"/>
                        <a:t>Correct</a:t>
                      </a:r>
                      <a:r>
                        <a:rPr lang="da-DK" sz="2000" b="1" dirty="0"/>
                        <a:t> + </a:t>
                      </a:r>
                      <a:r>
                        <a:rPr lang="da-DK" sz="2000" b="1" dirty="0" err="1"/>
                        <a:t>Raw</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0.839 ± 0.020</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0.515 ± 0.100</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0.206 ± 0.097</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273942159"/>
                  </a:ext>
                </a:extLst>
              </a:tr>
              <a:tr h="7237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ResNet-101  |  Paper + </a:t>
                      </a:r>
                      <a:r>
                        <a:rPr lang="da-DK" sz="2000" b="1" dirty="0" err="1"/>
                        <a:t>Preproc</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0.980 ± 0.032</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0.991 ± 0.006</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0.945 ± 0.103</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466120371"/>
                  </a:ext>
                </a:extLst>
              </a:tr>
              <a:tr h="7237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ResNet-101  |  </a:t>
                      </a:r>
                      <a:r>
                        <a:rPr lang="da-DK" sz="2000" b="1" dirty="0" err="1"/>
                        <a:t>Correct</a:t>
                      </a:r>
                      <a:r>
                        <a:rPr lang="da-DK" sz="2000" b="1" dirty="0"/>
                        <a:t> + </a:t>
                      </a:r>
                      <a:r>
                        <a:rPr lang="da-DK" sz="2000" b="1" dirty="0" err="1"/>
                        <a:t>Preproc</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0.917 ± 0.034</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0.755 ± 0.096</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0.711 ± 0.143</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3425821702"/>
                  </a:ext>
                </a:extLst>
              </a:tr>
              <a:tr h="100704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ResNet-101  |  Paper  + </a:t>
                      </a:r>
                    </a:p>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err="1"/>
                        <a:t>Pre</a:t>
                      </a:r>
                      <a:r>
                        <a:rPr lang="da-DK" sz="2000" b="1" dirty="0"/>
                        <a:t>-split + </a:t>
                      </a:r>
                      <a:r>
                        <a:rPr lang="da-DK" sz="2000" b="1" dirty="0" err="1"/>
                        <a:t>Preproc</a:t>
                      </a:r>
                      <a:endParaRPr lang="da-DK" sz="2000" b="1" dirty="0"/>
                    </a:p>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a:t>
                      </a:r>
                      <a:r>
                        <a:rPr lang="da-DK" sz="2000" b="1" dirty="0" err="1"/>
                        <a:t>Guha</a:t>
                      </a:r>
                      <a:r>
                        <a:rPr lang="da-DK" sz="2000" b="1" dirty="0"/>
                        <a:t> et al.)</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0.972 ± 0.050</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C000"/>
                    </a:solidFill>
                  </a:tcPr>
                </a:tc>
                <a:tc>
                  <a:txBody>
                    <a:bodyPr/>
                    <a:lstStyle/>
                    <a:p>
                      <a:pPr algn="ctr">
                        <a:defRPr sz="1100">
                          <a:solidFill>
                            <a:srgbClr val="000000"/>
                          </a:solidFill>
                        </a:defRPr>
                      </a:pPr>
                      <a:r>
                        <a:rPr sz="2000" dirty="0"/>
                        <a:t>0.994 ± 0.006</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C000"/>
                    </a:solidFill>
                  </a:tcPr>
                </a:tc>
                <a:tc>
                  <a:txBody>
                    <a:bodyPr/>
                    <a:lstStyle/>
                    <a:p>
                      <a:pPr algn="ctr">
                        <a:defRPr sz="1100">
                          <a:solidFill>
                            <a:srgbClr val="000000"/>
                          </a:solidFill>
                        </a:defRPr>
                      </a:pPr>
                      <a:r>
                        <a:rPr sz="2000" dirty="0"/>
                        <a:t>0.952 ± 0.098</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337285766"/>
                  </a:ext>
                </a:extLst>
              </a:tr>
              <a:tr h="8929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ResNet-101  |  </a:t>
                      </a:r>
                      <a:r>
                        <a:rPr lang="da-DK" sz="2000" b="1" dirty="0" err="1"/>
                        <a:t>Correct</a:t>
                      </a:r>
                      <a:r>
                        <a:rPr lang="da-DK" sz="2000" b="1" dirty="0"/>
                        <a:t> + </a:t>
                      </a:r>
                    </a:p>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err="1"/>
                        <a:t>Pre</a:t>
                      </a:r>
                      <a:r>
                        <a:rPr lang="da-DK" sz="2000" b="1" dirty="0"/>
                        <a:t>-split + </a:t>
                      </a:r>
                      <a:r>
                        <a:rPr lang="da-DK" sz="2000" b="1" dirty="0" err="1"/>
                        <a:t>Preproc</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0.881 ± 0.078</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0.915 ± 0.038</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0.835 ± 0.149</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14859319"/>
                  </a:ext>
                </a:extLst>
              </a:tr>
              <a:tr h="100704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ResNet-101  |  </a:t>
                      </a:r>
                      <a:r>
                        <a:rPr lang="da-DK" sz="2000" b="1" dirty="0" err="1"/>
                        <a:t>Correct</a:t>
                      </a:r>
                      <a:r>
                        <a:rPr lang="da-DK" sz="2000" b="1" dirty="0"/>
                        <a:t> </a:t>
                      </a:r>
                      <a:r>
                        <a:rPr lang="da-DK" sz="2000" b="1" dirty="0" err="1"/>
                        <a:t>setup</a:t>
                      </a:r>
                      <a:r>
                        <a:rPr lang="da-DK" sz="2000" b="1" dirty="0"/>
                        <a:t> + Post-split +</a:t>
                      </a:r>
                      <a:r>
                        <a:rPr lang="da-DK" sz="2000" b="1" dirty="0" err="1"/>
                        <a:t>Raw</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buNone/>
                      </a:pPr>
                      <a:r>
                        <a:rPr lang="da-DK" sz="2000" dirty="0">
                          <a:solidFill>
                            <a:schemeClr val="tx1"/>
                          </a:solidFill>
                          <a:effectLst/>
                        </a:rPr>
                        <a:t>0.806 ± 0.041</a:t>
                      </a:r>
                    </a:p>
                  </a:txBody>
                  <a:tcPr marL="76200" marR="76200" marT="38100" marB="381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2D050"/>
                    </a:solidFill>
                  </a:tcPr>
                </a:tc>
                <a:tc>
                  <a:txBody>
                    <a:bodyPr/>
                    <a:lstStyle/>
                    <a:p>
                      <a:pPr algn="ctr">
                        <a:buNone/>
                      </a:pPr>
                      <a:r>
                        <a:rPr lang="da-DK" sz="2000" dirty="0">
                          <a:solidFill>
                            <a:schemeClr val="tx1"/>
                          </a:solidFill>
                          <a:effectLst/>
                        </a:rPr>
                        <a:t>0.424 ± 0.049</a:t>
                      </a:r>
                    </a:p>
                  </a:txBody>
                  <a:tcPr marL="76200" marR="76200" marT="38100" marB="381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2D050"/>
                    </a:solidFill>
                  </a:tcPr>
                </a:tc>
                <a:tc>
                  <a:txBody>
                    <a:bodyPr/>
                    <a:lstStyle/>
                    <a:p>
                      <a:pPr algn="ctr">
                        <a:buNone/>
                      </a:pPr>
                      <a:r>
                        <a:rPr lang="da-DK" sz="2000" dirty="0">
                          <a:solidFill>
                            <a:schemeClr val="tx1"/>
                          </a:solidFill>
                          <a:effectLst/>
                        </a:rPr>
                        <a:t>0.520 ± 0.170</a:t>
                      </a:r>
                    </a:p>
                  </a:txBody>
                  <a:tcPr marL="76200" marR="76200" marT="38100" marB="381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3868179709"/>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BF73B-04D7-9B96-CD9B-0401783F2189}"/>
            </a:ext>
          </a:extLst>
        </p:cNvPr>
        <p:cNvGrpSpPr/>
        <p:nvPr/>
      </p:nvGrpSpPr>
      <p:grpSpPr>
        <a:xfrm>
          <a:off x="0" y="0"/>
          <a:ext cx="0" cy="0"/>
          <a:chOff x="0" y="0"/>
          <a:chExt cx="0" cy="0"/>
        </a:xfrm>
      </p:grpSpPr>
      <p:graphicFrame>
        <p:nvGraphicFramePr>
          <p:cNvPr id="2" name="Tabel 1">
            <a:extLst>
              <a:ext uri="{FF2B5EF4-FFF2-40B4-BE49-F238E27FC236}">
                <a16:creationId xmlns:a16="http://schemas.microsoft.com/office/drawing/2014/main" id="{09CECF08-A0F0-6DEB-E027-F0AA2D9656C9}"/>
              </a:ext>
            </a:extLst>
          </p:cNvPr>
          <p:cNvGraphicFramePr>
            <a:graphicFrameLocks noGrp="1"/>
          </p:cNvGraphicFramePr>
          <p:nvPr>
            <p:extLst>
              <p:ext uri="{D42A27DB-BD31-4B8C-83A1-F6EECF244321}">
                <p14:modId xmlns:p14="http://schemas.microsoft.com/office/powerpoint/2010/main" val="4173653471"/>
              </p:ext>
            </p:extLst>
          </p:nvPr>
        </p:nvGraphicFramePr>
        <p:xfrm>
          <a:off x="0" y="332258"/>
          <a:ext cx="12192000" cy="6525740"/>
        </p:xfrm>
        <a:graphic>
          <a:graphicData uri="http://schemas.openxmlformats.org/drawingml/2006/table">
            <a:tbl>
              <a:tblPr firstRow="1" bandRow="1">
                <a:tableStyleId>{5C22544A-7EE6-4342-B048-85BDC9FD1C3A}</a:tableStyleId>
              </a:tblPr>
              <a:tblGrid>
                <a:gridCol w="4481838">
                  <a:extLst>
                    <a:ext uri="{9D8B030D-6E8A-4147-A177-3AD203B41FA5}">
                      <a16:colId xmlns:a16="http://schemas.microsoft.com/office/drawing/2014/main" val="3487893085"/>
                    </a:ext>
                  </a:extLst>
                </a:gridCol>
                <a:gridCol w="2570054">
                  <a:extLst>
                    <a:ext uri="{9D8B030D-6E8A-4147-A177-3AD203B41FA5}">
                      <a16:colId xmlns:a16="http://schemas.microsoft.com/office/drawing/2014/main" val="3897540636"/>
                    </a:ext>
                  </a:extLst>
                </a:gridCol>
                <a:gridCol w="2570054">
                  <a:extLst>
                    <a:ext uri="{9D8B030D-6E8A-4147-A177-3AD203B41FA5}">
                      <a16:colId xmlns:a16="http://schemas.microsoft.com/office/drawing/2014/main" val="4005609914"/>
                    </a:ext>
                  </a:extLst>
                </a:gridCol>
                <a:gridCol w="2570054">
                  <a:extLst>
                    <a:ext uri="{9D8B030D-6E8A-4147-A177-3AD203B41FA5}">
                      <a16:colId xmlns:a16="http://schemas.microsoft.com/office/drawing/2014/main" val="3879242077"/>
                    </a:ext>
                  </a:extLst>
                </a:gridCol>
              </a:tblGrid>
              <a:tr h="623637">
                <a:tc>
                  <a:txBody>
                    <a:bodyPr/>
                    <a:lstStyle/>
                    <a:p>
                      <a:pPr algn="ctr">
                        <a:defRPr sz="1200" b="1">
                          <a:solidFill>
                            <a:srgbClr val="000000"/>
                          </a:solidFill>
                        </a:defRPr>
                      </a:pPr>
                      <a:r>
                        <a:rPr lang="da-DK" sz="2000" b="1" dirty="0"/>
                        <a:t>Setup\</a:t>
                      </a:r>
                      <a:r>
                        <a:rPr lang="da-DK" sz="2000" b="1" dirty="0" err="1"/>
                        <a:t>Metrics</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200" b="1">
                          <a:solidFill>
                            <a:srgbClr val="000000"/>
                          </a:solidFill>
                        </a:defRPr>
                      </a:pPr>
                      <a:r>
                        <a:rPr sz="2000" dirty="0"/>
                        <a:t>Accuracy</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200" b="1">
                          <a:solidFill>
                            <a:srgbClr val="000000"/>
                          </a:solidFill>
                        </a:defRPr>
                      </a:pPr>
                      <a:r>
                        <a:rPr sz="2000" dirty="0"/>
                        <a:t>Precision</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200" b="1">
                          <a:solidFill>
                            <a:srgbClr val="000000"/>
                          </a:solidFill>
                        </a:defRPr>
                      </a:pPr>
                      <a:r>
                        <a:rPr sz="2000" dirty="0"/>
                        <a:t>Recall</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extLst>
                  <a:ext uri="{0D108BD9-81ED-4DB2-BD59-A6C34878D82A}">
                    <a16:rowId xmlns:a16="http://schemas.microsoft.com/office/drawing/2014/main" val="1611989558"/>
                  </a:ext>
                </a:extLst>
              </a:tr>
              <a:tr h="7930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DenseNet-201 |  Paper + </a:t>
                      </a:r>
                      <a:r>
                        <a:rPr lang="da-DK" sz="2000" b="1" dirty="0" err="1"/>
                        <a:t>Raw</a:t>
                      </a:r>
                      <a:endParaRPr lang="da-DK" sz="2000" b="1" dirty="0"/>
                    </a:p>
                    <a:p>
                      <a:pPr algn="ctr">
                        <a:defRPr sz="1100">
                          <a:solidFill>
                            <a:srgbClr val="000000"/>
                          </a:solidFill>
                        </a:defRPr>
                      </a:pP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0.843 ± 0.056</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a:t>0.874 ± 0.044</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a:t>0.567 ± 0.209</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655904156"/>
                  </a:ext>
                </a:extLst>
              </a:tr>
              <a:tr h="6236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DenseNet-201|  </a:t>
                      </a:r>
                      <a:r>
                        <a:rPr lang="da-DK" sz="2000" b="1" dirty="0" err="1"/>
                        <a:t>Correct</a:t>
                      </a:r>
                      <a:r>
                        <a:rPr lang="da-DK" sz="2000" b="1" dirty="0"/>
                        <a:t> + </a:t>
                      </a:r>
                      <a:r>
                        <a:rPr lang="da-DK" sz="2000" b="1" dirty="0" err="1"/>
                        <a:t>Raw</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0.850 ± 0.033</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0.590 ± 0.204</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0.260 ± 0.129</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3529584861"/>
                  </a:ext>
                </a:extLst>
              </a:tr>
              <a:tr h="6236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DenseNet-201|  Paper + </a:t>
                      </a:r>
                      <a:r>
                        <a:rPr lang="da-DK" sz="2000" b="1" dirty="0" err="1"/>
                        <a:t>Preproc</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0.982 ± 0.034</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0.995 ± 0.005</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a:t>0.947 ± 0.110</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941335573"/>
                  </a:ext>
                </a:extLst>
              </a:tr>
              <a:tr h="793045">
                <a:tc>
                  <a:txBody>
                    <a:bodyPr/>
                    <a:lstStyle/>
                    <a:p>
                      <a:pPr algn="ctr">
                        <a:defRPr sz="2000" b="1"/>
                      </a:pPr>
                      <a:r>
                        <a:rPr lang="da-DK" sz="2000" dirty="0"/>
                        <a:t>DenseNet-201  |  </a:t>
                      </a:r>
                      <a:r>
                        <a:rPr lang="da-DK" sz="2000" dirty="0" err="1"/>
                        <a:t>Correct</a:t>
                      </a:r>
                      <a:r>
                        <a:rPr lang="da-DK" sz="2000" dirty="0"/>
                        <a:t> </a:t>
                      </a:r>
                      <a:r>
                        <a:rPr lang="da-DK" sz="2000" dirty="0" err="1"/>
                        <a:t>setup</a:t>
                      </a:r>
                      <a:r>
                        <a:rPr lang="da-DK" sz="2000" dirty="0"/>
                        <a:t> + </a:t>
                      </a:r>
                      <a:r>
                        <a:rPr lang="da-DK" sz="2000" dirty="0" err="1"/>
                        <a:t>Preproc</a:t>
                      </a:r>
                      <a:endParaRPr lang="da-DK" sz="20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0.919 ± 0.033</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0.765 ± 0.080</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0.720 ± 0.118</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3089155032"/>
                  </a:ext>
                </a:extLst>
              </a:tr>
              <a:tr h="1137847">
                <a:tc>
                  <a:txBody>
                    <a:bodyPr/>
                    <a:lstStyle/>
                    <a:p>
                      <a:pPr algn="ctr">
                        <a:defRPr sz="2000" b="1"/>
                      </a:pPr>
                      <a:r>
                        <a:rPr lang="da-DK" sz="2000" dirty="0"/>
                        <a:t>DenseNet-201  |  Paper </a:t>
                      </a:r>
                      <a:r>
                        <a:rPr lang="da-DK" sz="2000" dirty="0" err="1"/>
                        <a:t>setup</a:t>
                      </a:r>
                      <a:r>
                        <a:rPr lang="da-DK" sz="2000" dirty="0"/>
                        <a:t> + </a:t>
                      </a:r>
                      <a:r>
                        <a:rPr lang="da-DK" sz="2000" dirty="0" err="1"/>
                        <a:t>Pre</a:t>
                      </a:r>
                      <a:r>
                        <a:rPr lang="da-DK" sz="2000" dirty="0"/>
                        <a:t>-split </a:t>
                      </a:r>
                      <a:r>
                        <a:rPr lang="da-DK" sz="2000" dirty="0" err="1"/>
                        <a:t>Preproc</a:t>
                      </a:r>
                      <a:br>
                        <a:rPr lang="da-DK" sz="2000" dirty="0"/>
                      </a:br>
                      <a:r>
                        <a:rPr lang="da-DK" sz="2000" dirty="0"/>
                        <a:t>(</a:t>
                      </a:r>
                      <a:r>
                        <a:rPr lang="da-DK" sz="2000" dirty="0" err="1"/>
                        <a:t>Guha</a:t>
                      </a:r>
                      <a:r>
                        <a:rPr lang="da-DK" sz="2000" dirty="0"/>
                        <a:t> et al.)</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0.957 ± 0.058</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1CDCC"/>
                    </a:solidFill>
                  </a:tcPr>
                </a:tc>
                <a:tc>
                  <a:txBody>
                    <a:bodyPr/>
                    <a:lstStyle/>
                    <a:p>
                      <a:pPr algn="ctr">
                        <a:defRPr sz="1100">
                          <a:solidFill>
                            <a:srgbClr val="000000"/>
                          </a:solidFill>
                        </a:defRPr>
                      </a:pPr>
                      <a:r>
                        <a:rPr sz="2000" dirty="0"/>
                        <a:t>0.974 ± 0.050</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1CDCC"/>
                    </a:solidFill>
                  </a:tcPr>
                </a:tc>
                <a:tc>
                  <a:txBody>
                    <a:bodyPr/>
                    <a:lstStyle/>
                    <a:p>
                      <a:pPr algn="ctr">
                        <a:defRPr sz="1100">
                          <a:solidFill>
                            <a:srgbClr val="000000"/>
                          </a:solidFill>
                        </a:defRPr>
                      </a:pPr>
                      <a:r>
                        <a:rPr sz="2000" dirty="0"/>
                        <a:t>0.947 ± 0.112</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1CDCC"/>
                    </a:solidFill>
                  </a:tcPr>
                </a:tc>
                <a:extLst>
                  <a:ext uri="{0D108BD9-81ED-4DB2-BD59-A6C34878D82A}">
                    <a16:rowId xmlns:a16="http://schemas.microsoft.com/office/drawing/2014/main" val="1755616896"/>
                  </a:ext>
                </a:extLst>
              </a:tr>
              <a:tr h="7930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DenseNet-201  |  </a:t>
                      </a:r>
                      <a:r>
                        <a:rPr lang="da-DK" sz="2000" b="1" dirty="0" err="1"/>
                        <a:t>Correct</a:t>
                      </a:r>
                      <a:r>
                        <a:rPr lang="da-DK" sz="2000" b="1" dirty="0"/>
                        <a:t> + </a:t>
                      </a:r>
                    </a:p>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err="1"/>
                        <a:t>Pre</a:t>
                      </a:r>
                      <a:r>
                        <a:rPr lang="da-DK" sz="2000" b="1" dirty="0"/>
                        <a:t>-split + </a:t>
                      </a:r>
                      <a:r>
                        <a:rPr lang="da-DK" sz="2000" b="1" dirty="0" err="1"/>
                        <a:t>Preproc</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0.899 ± 0.085</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0.922 ± 0.020</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0.867 ± 0.166</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217118132"/>
                  </a:ext>
                </a:extLst>
              </a:tr>
              <a:tr h="11378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DenseNet-201 |  </a:t>
                      </a:r>
                      <a:r>
                        <a:rPr lang="da-DK" sz="2000" b="1" dirty="0" err="1"/>
                        <a:t>Correct</a:t>
                      </a:r>
                      <a:r>
                        <a:rPr lang="da-DK" sz="2000" b="1" dirty="0"/>
                        <a:t> </a:t>
                      </a:r>
                      <a:r>
                        <a:rPr lang="da-DK" sz="2000" b="1" dirty="0" err="1"/>
                        <a:t>setup</a:t>
                      </a:r>
                      <a:r>
                        <a:rPr lang="da-DK" sz="2000" b="1" dirty="0"/>
                        <a:t> + Post-split + </a:t>
                      </a:r>
                      <a:r>
                        <a:rPr lang="da-DK" sz="2000" b="1" dirty="0" err="1"/>
                        <a:t>Raw</a:t>
                      </a:r>
                      <a:endParaRPr lang="da-DK" sz="2000" b="1" dirty="0"/>
                    </a:p>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buNone/>
                      </a:pPr>
                      <a:r>
                        <a:rPr lang="da-DK" sz="2000" dirty="0">
                          <a:effectLst/>
                        </a:rPr>
                        <a:t>0.832 ± 0.034</a:t>
                      </a:r>
                    </a:p>
                  </a:txBody>
                  <a:tcPr marL="76200" marR="76200" marT="38100" marB="381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1CDCC"/>
                    </a:solidFill>
                  </a:tcPr>
                </a:tc>
                <a:tc>
                  <a:txBody>
                    <a:bodyPr/>
                    <a:lstStyle/>
                    <a:p>
                      <a:pPr algn="ctr">
                        <a:buNone/>
                      </a:pPr>
                      <a:r>
                        <a:rPr lang="da-DK" sz="2000" dirty="0">
                          <a:effectLst/>
                        </a:rPr>
                        <a:t>0.450 ± 0.169</a:t>
                      </a:r>
                    </a:p>
                  </a:txBody>
                  <a:tcPr marL="76200" marR="76200" marT="38100" marB="381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1CDCC"/>
                    </a:solidFill>
                  </a:tcPr>
                </a:tc>
                <a:tc>
                  <a:txBody>
                    <a:bodyPr/>
                    <a:lstStyle/>
                    <a:p>
                      <a:pPr algn="ctr">
                        <a:buNone/>
                      </a:pPr>
                      <a:r>
                        <a:rPr lang="da-DK" sz="2000" dirty="0">
                          <a:effectLst/>
                        </a:rPr>
                        <a:t>0.408 ± 0.191</a:t>
                      </a:r>
                    </a:p>
                  </a:txBody>
                  <a:tcPr marL="76200" marR="76200" marT="38100" marB="381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1CDCC"/>
                    </a:solidFill>
                  </a:tcPr>
                </a:tc>
                <a:extLst>
                  <a:ext uri="{0D108BD9-81ED-4DB2-BD59-A6C34878D82A}">
                    <a16:rowId xmlns:a16="http://schemas.microsoft.com/office/drawing/2014/main" val="3796292336"/>
                  </a:ext>
                </a:extLst>
              </a:tr>
            </a:tbl>
          </a:graphicData>
        </a:graphic>
      </p:graphicFrame>
      <p:graphicFrame>
        <p:nvGraphicFramePr>
          <p:cNvPr id="3" name="Tabel 2">
            <a:extLst>
              <a:ext uri="{FF2B5EF4-FFF2-40B4-BE49-F238E27FC236}">
                <a16:creationId xmlns:a16="http://schemas.microsoft.com/office/drawing/2014/main" id="{7568F0DF-03F3-E582-FE92-E368733B713B}"/>
              </a:ext>
            </a:extLst>
          </p:cNvPr>
          <p:cNvGraphicFramePr>
            <a:graphicFrameLocks noGrp="1"/>
          </p:cNvGraphicFramePr>
          <p:nvPr>
            <p:extLst>
              <p:ext uri="{D42A27DB-BD31-4B8C-83A1-F6EECF244321}">
                <p14:modId xmlns:p14="http://schemas.microsoft.com/office/powerpoint/2010/main" val="2081013871"/>
              </p:ext>
            </p:extLst>
          </p:nvPr>
        </p:nvGraphicFramePr>
        <p:xfrm>
          <a:off x="0" y="332258"/>
          <a:ext cx="12192000" cy="6525740"/>
        </p:xfrm>
        <a:graphic>
          <a:graphicData uri="http://schemas.openxmlformats.org/drawingml/2006/table">
            <a:tbl>
              <a:tblPr firstRow="1" bandRow="1">
                <a:tableStyleId>{5C22544A-7EE6-4342-B048-85BDC9FD1C3A}</a:tableStyleId>
              </a:tblPr>
              <a:tblGrid>
                <a:gridCol w="4481838">
                  <a:extLst>
                    <a:ext uri="{9D8B030D-6E8A-4147-A177-3AD203B41FA5}">
                      <a16:colId xmlns:a16="http://schemas.microsoft.com/office/drawing/2014/main" val="2442596173"/>
                    </a:ext>
                  </a:extLst>
                </a:gridCol>
                <a:gridCol w="2570054">
                  <a:extLst>
                    <a:ext uri="{9D8B030D-6E8A-4147-A177-3AD203B41FA5}">
                      <a16:colId xmlns:a16="http://schemas.microsoft.com/office/drawing/2014/main" val="2491264003"/>
                    </a:ext>
                  </a:extLst>
                </a:gridCol>
                <a:gridCol w="2570054">
                  <a:extLst>
                    <a:ext uri="{9D8B030D-6E8A-4147-A177-3AD203B41FA5}">
                      <a16:colId xmlns:a16="http://schemas.microsoft.com/office/drawing/2014/main" val="4194993225"/>
                    </a:ext>
                  </a:extLst>
                </a:gridCol>
                <a:gridCol w="2570054">
                  <a:extLst>
                    <a:ext uri="{9D8B030D-6E8A-4147-A177-3AD203B41FA5}">
                      <a16:colId xmlns:a16="http://schemas.microsoft.com/office/drawing/2014/main" val="3337038900"/>
                    </a:ext>
                  </a:extLst>
                </a:gridCol>
              </a:tblGrid>
              <a:tr h="623637">
                <a:tc>
                  <a:txBody>
                    <a:bodyPr/>
                    <a:lstStyle/>
                    <a:p>
                      <a:pPr algn="ctr">
                        <a:defRPr sz="1200" b="1">
                          <a:solidFill>
                            <a:srgbClr val="000000"/>
                          </a:solidFill>
                        </a:defRPr>
                      </a:pPr>
                      <a:r>
                        <a:rPr lang="da-DK" sz="2000" b="1" dirty="0"/>
                        <a:t>Setup\</a:t>
                      </a:r>
                      <a:r>
                        <a:rPr lang="da-DK" sz="2000" b="1" dirty="0" err="1"/>
                        <a:t>Metrics</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200" b="1">
                          <a:solidFill>
                            <a:srgbClr val="000000"/>
                          </a:solidFill>
                        </a:defRPr>
                      </a:pPr>
                      <a:r>
                        <a:rPr sz="2000" dirty="0"/>
                        <a:t>Accuracy</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200" b="1">
                          <a:solidFill>
                            <a:srgbClr val="000000"/>
                          </a:solidFill>
                        </a:defRPr>
                      </a:pPr>
                      <a:r>
                        <a:rPr sz="2000" dirty="0"/>
                        <a:t>Precision</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200" b="1">
                          <a:solidFill>
                            <a:srgbClr val="000000"/>
                          </a:solidFill>
                        </a:defRPr>
                      </a:pPr>
                      <a:r>
                        <a:rPr sz="2000" dirty="0"/>
                        <a:t>Recall</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extLst>
                  <a:ext uri="{0D108BD9-81ED-4DB2-BD59-A6C34878D82A}">
                    <a16:rowId xmlns:a16="http://schemas.microsoft.com/office/drawing/2014/main" val="1520499071"/>
                  </a:ext>
                </a:extLst>
              </a:tr>
              <a:tr h="7930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DenseNet-201 |  Paper + </a:t>
                      </a:r>
                      <a:r>
                        <a:rPr lang="da-DK" sz="2000" b="1" dirty="0" err="1"/>
                        <a:t>Raw</a:t>
                      </a:r>
                      <a:endParaRPr lang="da-DK" sz="2000" b="1" dirty="0"/>
                    </a:p>
                    <a:p>
                      <a:pPr algn="ctr">
                        <a:defRPr sz="1100">
                          <a:solidFill>
                            <a:srgbClr val="000000"/>
                          </a:solidFill>
                        </a:defRPr>
                      </a:pP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0.843 ± 0.056</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a:t>0.874 ± 0.044</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a:t>0.567 ± 0.209</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156631913"/>
                  </a:ext>
                </a:extLst>
              </a:tr>
              <a:tr h="6236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DenseNet-201|  </a:t>
                      </a:r>
                      <a:r>
                        <a:rPr lang="da-DK" sz="2000" b="1" dirty="0" err="1"/>
                        <a:t>Correct</a:t>
                      </a:r>
                      <a:r>
                        <a:rPr lang="da-DK" sz="2000" b="1" dirty="0"/>
                        <a:t> + </a:t>
                      </a:r>
                      <a:r>
                        <a:rPr lang="da-DK" sz="2000" b="1" dirty="0" err="1"/>
                        <a:t>Raw</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0.850 ± 0.033</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0.590 ± 0.204</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0.260 ± 0.129</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283340370"/>
                  </a:ext>
                </a:extLst>
              </a:tr>
              <a:tr h="6236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DenseNet-201|  Paper + </a:t>
                      </a:r>
                      <a:r>
                        <a:rPr lang="da-DK" sz="2000" b="1" dirty="0" err="1"/>
                        <a:t>Preproc</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0.982 ± 0.034</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0.995 ± 0.005</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a:t>0.947 ± 0.110</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611036320"/>
                  </a:ext>
                </a:extLst>
              </a:tr>
              <a:tr h="793045">
                <a:tc>
                  <a:txBody>
                    <a:bodyPr/>
                    <a:lstStyle/>
                    <a:p>
                      <a:pPr algn="ctr">
                        <a:defRPr sz="2000" b="1"/>
                      </a:pPr>
                      <a:r>
                        <a:rPr lang="da-DK" sz="2000" dirty="0"/>
                        <a:t>DenseNet-201  |  </a:t>
                      </a:r>
                      <a:r>
                        <a:rPr lang="da-DK" sz="2000" dirty="0" err="1"/>
                        <a:t>Correct</a:t>
                      </a:r>
                      <a:r>
                        <a:rPr lang="da-DK" sz="2000" dirty="0"/>
                        <a:t> </a:t>
                      </a:r>
                      <a:r>
                        <a:rPr lang="da-DK" sz="2000" dirty="0" err="1"/>
                        <a:t>setup</a:t>
                      </a:r>
                      <a:r>
                        <a:rPr lang="da-DK" sz="2000" dirty="0"/>
                        <a:t> + </a:t>
                      </a:r>
                      <a:r>
                        <a:rPr lang="da-DK" sz="2000" dirty="0" err="1"/>
                        <a:t>Preproc</a:t>
                      </a:r>
                      <a:endParaRPr lang="da-DK" sz="20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0.919 ± 0.033</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0.765 ± 0.080</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0.720 ± 0.118</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6371771"/>
                  </a:ext>
                </a:extLst>
              </a:tr>
              <a:tr h="1137847">
                <a:tc>
                  <a:txBody>
                    <a:bodyPr/>
                    <a:lstStyle/>
                    <a:p>
                      <a:pPr algn="ctr">
                        <a:defRPr sz="2000" b="1"/>
                      </a:pPr>
                      <a:r>
                        <a:rPr lang="da-DK" sz="2000" dirty="0"/>
                        <a:t>DenseNet-201  |  Paper </a:t>
                      </a:r>
                      <a:r>
                        <a:rPr lang="da-DK" sz="2000" dirty="0" err="1"/>
                        <a:t>setup</a:t>
                      </a:r>
                      <a:r>
                        <a:rPr lang="da-DK" sz="2000" dirty="0"/>
                        <a:t> + </a:t>
                      </a:r>
                      <a:r>
                        <a:rPr lang="da-DK" sz="2000" dirty="0" err="1"/>
                        <a:t>Pre</a:t>
                      </a:r>
                      <a:r>
                        <a:rPr lang="da-DK" sz="2000" dirty="0"/>
                        <a:t>-split </a:t>
                      </a:r>
                      <a:r>
                        <a:rPr lang="da-DK" sz="2000" dirty="0" err="1"/>
                        <a:t>Preproc</a:t>
                      </a:r>
                      <a:br>
                        <a:rPr lang="da-DK" sz="2000" dirty="0"/>
                      </a:br>
                      <a:r>
                        <a:rPr lang="da-DK" sz="2000" dirty="0"/>
                        <a:t>(</a:t>
                      </a:r>
                      <a:r>
                        <a:rPr lang="da-DK" sz="2000" dirty="0" err="1"/>
                        <a:t>Guha</a:t>
                      </a:r>
                      <a:r>
                        <a:rPr lang="da-DK" sz="2000" dirty="0"/>
                        <a:t> et al.)</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0.957 ± 0.058</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C000"/>
                    </a:solidFill>
                  </a:tcPr>
                </a:tc>
                <a:tc>
                  <a:txBody>
                    <a:bodyPr/>
                    <a:lstStyle/>
                    <a:p>
                      <a:pPr algn="ctr">
                        <a:defRPr sz="1100">
                          <a:solidFill>
                            <a:srgbClr val="000000"/>
                          </a:solidFill>
                        </a:defRPr>
                      </a:pPr>
                      <a:r>
                        <a:rPr sz="2000" dirty="0"/>
                        <a:t>0.974 ± 0.050</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C000"/>
                    </a:solidFill>
                  </a:tcPr>
                </a:tc>
                <a:tc>
                  <a:txBody>
                    <a:bodyPr/>
                    <a:lstStyle/>
                    <a:p>
                      <a:pPr algn="ctr">
                        <a:defRPr sz="1100">
                          <a:solidFill>
                            <a:srgbClr val="000000"/>
                          </a:solidFill>
                        </a:defRPr>
                      </a:pPr>
                      <a:r>
                        <a:rPr sz="2000" dirty="0"/>
                        <a:t>0.947 ± 0.112</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435690717"/>
                  </a:ext>
                </a:extLst>
              </a:tr>
              <a:tr h="7930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DenseNet-201  |  </a:t>
                      </a:r>
                      <a:r>
                        <a:rPr lang="da-DK" sz="2000" b="1" dirty="0" err="1"/>
                        <a:t>Correct</a:t>
                      </a:r>
                      <a:r>
                        <a:rPr lang="da-DK" sz="2000" b="1" dirty="0"/>
                        <a:t> + </a:t>
                      </a:r>
                    </a:p>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err="1"/>
                        <a:t>Pre</a:t>
                      </a:r>
                      <a:r>
                        <a:rPr lang="da-DK" sz="2000" b="1" dirty="0"/>
                        <a:t>-split + </a:t>
                      </a:r>
                      <a:r>
                        <a:rPr lang="da-DK" sz="2000" b="1" dirty="0" err="1"/>
                        <a:t>Preproc</a:t>
                      </a: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defRPr sz="1100">
                          <a:solidFill>
                            <a:srgbClr val="000000"/>
                          </a:solidFill>
                        </a:defRPr>
                      </a:pPr>
                      <a:r>
                        <a:rPr sz="2000" dirty="0"/>
                        <a:t>0.899 ± 0.085</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0.922 ± 0.020</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defRPr sz="1100">
                          <a:solidFill>
                            <a:srgbClr val="000000"/>
                          </a:solidFill>
                        </a:defRPr>
                      </a:pPr>
                      <a:r>
                        <a:rPr sz="2000" dirty="0"/>
                        <a:t>0.867 ± 0.166</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684824592"/>
                  </a:ext>
                </a:extLst>
              </a:tr>
              <a:tr h="11378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r>
                        <a:rPr lang="da-DK" sz="2000" b="1" dirty="0"/>
                        <a:t>DenseNet-201 |  </a:t>
                      </a:r>
                      <a:r>
                        <a:rPr lang="da-DK" sz="2000" b="1" dirty="0" err="1"/>
                        <a:t>Correct</a:t>
                      </a:r>
                      <a:r>
                        <a:rPr lang="da-DK" sz="2000" b="1" dirty="0"/>
                        <a:t> </a:t>
                      </a:r>
                      <a:r>
                        <a:rPr lang="da-DK" sz="2000" b="1" dirty="0" err="1"/>
                        <a:t>setup</a:t>
                      </a:r>
                      <a:r>
                        <a:rPr lang="da-DK" sz="2000" b="1" dirty="0"/>
                        <a:t> + Post-split + </a:t>
                      </a:r>
                      <a:r>
                        <a:rPr lang="da-DK" sz="2000" b="1" dirty="0" err="1"/>
                        <a:t>Raw</a:t>
                      </a:r>
                      <a:endParaRPr lang="da-DK" sz="2000" b="1" dirty="0"/>
                    </a:p>
                    <a:p>
                      <a:pPr marL="0" marR="0" lvl="0" indent="0" algn="ctr" defTabSz="914400" rtl="0" eaLnBrk="1" fontAlgn="auto" latinLnBrk="0" hangingPunct="1">
                        <a:lnSpc>
                          <a:spcPct val="100000"/>
                        </a:lnSpc>
                        <a:spcBef>
                          <a:spcPts val="0"/>
                        </a:spcBef>
                        <a:spcAft>
                          <a:spcPts val="0"/>
                        </a:spcAft>
                        <a:buClrTx/>
                        <a:buSzTx/>
                        <a:buFontTx/>
                        <a:buNone/>
                        <a:tabLst/>
                        <a:defRPr sz="1100">
                          <a:solidFill>
                            <a:srgbClr val="000000"/>
                          </a:solidFill>
                        </a:defRPr>
                      </a:pPr>
                      <a:endParaRPr lang="da-DK" sz="20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01A1E"/>
                    </a:solidFill>
                  </a:tcPr>
                </a:tc>
                <a:tc>
                  <a:txBody>
                    <a:bodyPr/>
                    <a:lstStyle/>
                    <a:p>
                      <a:pPr algn="ctr">
                        <a:buNone/>
                      </a:pPr>
                      <a:r>
                        <a:rPr lang="da-DK" sz="2000" dirty="0">
                          <a:effectLst/>
                        </a:rPr>
                        <a:t>0.832 ± 0.034</a:t>
                      </a:r>
                    </a:p>
                  </a:txBody>
                  <a:tcPr marL="76200" marR="76200" marT="38100" marB="381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2D050"/>
                    </a:solidFill>
                  </a:tcPr>
                </a:tc>
                <a:tc>
                  <a:txBody>
                    <a:bodyPr/>
                    <a:lstStyle/>
                    <a:p>
                      <a:pPr algn="ctr">
                        <a:buNone/>
                      </a:pPr>
                      <a:r>
                        <a:rPr lang="da-DK" sz="2000" dirty="0">
                          <a:effectLst/>
                        </a:rPr>
                        <a:t>0.450 ± 0.169</a:t>
                      </a:r>
                    </a:p>
                  </a:txBody>
                  <a:tcPr marL="76200" marR="76200" marT="38100" marB="381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2D050"/>
                    </a:solidFill>
                  </a:tcPr>
                </a:tc>
                <a:tc>
                  <a:txBody>
                    <a:bodyPr/>
                    <a:lstStyle/>
                    <a:p>
                      <a:pPr algn="ctr">
                        <a:buNone/>
                      </a:pPr>
                      <a:r>
                        <a:rPr lang="da-DK" sz="2000" dirty="0">
                          <a:effectLst/>
                        </a:rPr>
                        <a:t>0.408 ± 0.191</a:t>
                      </a:r>
                    </a:p>
                  </a:txBody>
                  <a:tcPr marL="76200" marR="76200" marT="38100" marB="381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2100739431"/>
                  </a:ext>
                </a:extLst>
              </a:tr>
            </a:tbl>
          </a:graphicData>
        </a:graphic>
      </p:graphicFrame>
    </p:spTree>
    <p:extLst>
      <p:ext uri="{BB962C8B-B14F-4D97-AF65-F5344CB8AC3E}">
        <p14:creationId xmlns:p14="http://schemas.microsoft.com/office/powerpoint/2010/main" val="1309031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4D2C1-64B5-994A-9651-BF88A1F5B2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3FAE4-3E2C-C85A-1F88-FA26F9DC518A}"/>
              </a:ext>
            </a:extLst>
          </p:cNvPr>
          <p:cNvSpPr>
            <a:spLocks noGrp="1"/>
          </p:cNvSpPr>
          <p:nvPr>
            <p:ph type="title"/>
          </p:nvPr>
        </p:nvSpPr>
        <p:spPr/>
        <p:txBody>
          <a:bodyPr/>
          <a:lstStyle/>
          <a:p>
            <a:r>
              <a:rPr lang="da-DK" dirty="0"/>
              <a:t>Ablation </a:t>
            </a:r>
            <a:r>
              <a:rPr lang="da-DK" dirty="0" err="1"/>
              <a:t>study</a:t>
            </a:r>
            <a:endParaRPr dirty="0"/>
          </a:p>
        </p:txBody>
      </p:sp>
      <p:graphicFrame>
        <p:nvGraphicFramePr>
          <p:cNvPr id="4" name="Table 3"/>
          <p:cNvGraphicFramePr>
            <a:graphicFrameLocks noGrp="1"/>
          </p:cNvGraphicFramePr>
          <p:nvPr>
            <p:extLst>
              <p:ext uri="{D42A27DB-BD31-4B8C-83A1-F6EECF244321}">
                <p14:modId xmlns:p14="http://schemas.microsoft.com/office/powerpoint/2010/main" val="928725810"/>
              </p:ext>
            </p:extLst>
          </p:nvPr>
        </p:nvGraphicFramePr>
        <p:xfrm>
          <a:off x="0" y="3519149"/>
          <a:ext cx="12191999" cy="3338851"/>
        </p:xfrm>
        <a:graphic>
          <a:graphicData uri="http://schemas.openxmlformats.org/drawingml/2006/table">
            <a:tbl>
              <a:tblPr firstRow="1" bandRow="1">
                <a:tableStyleId>{5C22544A-7EE6-4342-B048-85BDC9FD1C3A}</a:tableStyleId>
              </a:tblPr>
              <a:tblGrid>
                <a:gridCol w="4551986">
                  <a:extLst>
                    <a:ext uri="{9D8B030D-6E8A-4147-A177-3AD203B41FA5}">
                      <a16:colId xmlns:a16="http://schemas.microsoft.com/office/drawing/2014/main" val="20000"/>
                    </a:ext>
                  </a:extLst>
                </a:gridCol>
                <a:gridCol w="2546671">
                  <a:extLst>
                    <a:ext uri="{9D8B030D-6E8A-4147-A177-3AD203B41FA5}">
                      <a16:colId xmlns:a16="http://schemas.microsoft.com/office/drawing/2014/main" val="20001"/>
                    </a:ext>
                  </a:extLst>
                </a:gridCol>
                <a:gridCol w="2546671">
                  <a:extLst>
                    <a:ext uri="{9D8B030D-6E8A-4147-A177-3AD203B41FA5}">
                      <a16:colId xmlns:a16="http://schemas.microsoft.com/office/drawing/2014/main" val="20002"/>
                    </a:ext>
                  </a:extLst>
                </a:gridCol>
                <a:gridCol w="2546671">
                  <a:extLst>
                    <a:ext uri="{9D8B030D-6E8A-4147-A177-3AD203B41FA5}">
                      <a16:colId xmlns:a16="http://schemas.microsoft.com/office/drawing/2014/main" val="20003"/>
                    </a:ext>
                  </a:extLst>
                </a:gridCol>
              </a:tblGrid>
              <a:tr h="534691">
                <a:tc>
                  <a:txBody>
                    <a:bodyPr/>
                    <a:lstStyle/>
                    <a:p>
                      <a:pPr algn="ctr"/>
                      <a:r>
                        <a:rPr sz="2000" b="1" dirty="0">
                          <a:solidFill>
                            <a:srgbClr val="FFFFFF"/>
                          </a:solidFill>
                        </a:rPr>
                        <a:t>Condition</a:t>
                      </a:r>
                    </a:p>
                  </a:txBody>
                  <a:tcPr>
                    <a:solidFill>
                      <a:srgbClr val="1F77B4"/>
                    </a:solidFill>
                  </a:tcPr>
                </a:tc>
                <a:tc>
                  <a:txBody>
                    <a:bodyPr/>
                    <a:lstStyle/>
                    <a:p>
                      <a:pPr algn="ctr"/>
                      <a:r>
                        <a:rPr sz="2000" b="1">
                          <a:solidFill>
                            <a:srgbClr val="FFFFFF"/>
                          </a:solidFill>
                        </a:rPr>
                        <a:t>Accuracy</a:t>
                      </a:r>
                    </a:p>
                  </a:txBody>
                  <a:tcPr>
                    <a:solidFill>
                      <a:srgbClr val="1F77B4"/>
                    </a:solidFill>
                  </a:tcPr>
                </a:tc>
                <a:tc>
                  <a:txBody>
                    <a:bodyPr/>
                    <a:lstStyle/>
                    <a:p>
                      <a:pPr algn="ctr"/>
                      <a:r>
                        <a:rPr sz="2000" b="1">
                          <a:solidFill>
                            <a:srgbClr val="FFFFFF"/>
                          </a:solidFill>
                        </a:rPr>
                        <a:t>Precision</a:t>
                      </a:r>
                    </a:p>
                  </a:txBody>
                  <a:tcPr>
                    <a:solidFill>
                      <a:srgbClr val="1F77B4"/>
                    </a:solidFill>
                  </a:tcPr>
                </a:tc>
                <a:tc>
                  <a:txBody>
                    <a:bodyPr/>
                    <a:lstStyle/>
                    <a:p>
                      <a:pPr algn="ctr"/>
                      <a:r>
                        <a:rPr sz="2000" b="1">
                          <a:solidFill>
                            <a:srgbClr val="FFFFFF"/>
                          </a:solidFill>
                        </a:rPr>
                        <a:t>Recall</a:t>
                      </a:r>
                    </a:p>
                  </a:txBody>
                  <a:tcPr>
                    <a:solidFill>
                      <a:srgbClr val="1F77B4"/>
                    </a:solidFill>
                  </a:tcPr>
                </a:tc>
                <a:extLst>
                  <a:ext uri="{0D108BD9-81ED-4DB2-BD59-A6C34878D82A}">
                    <a16:rowId xmlns:a16="http://schemas.microsoft.com/office/drawing/2014/main" val="10000"/>
                  </a:ext>
                </a:extLst>
              </a:tr>
              <a:tr h="534691">
                <a:tc>
                  <a:txBody>
                    <a:bodyPr/>
                    <a:lstStyle/>
                    <a:p>
                      <a:pPr algn="l"/>
                      <a:r>
                        <a:rPr sz="2000" b="0" dirty="0">
                          <a:solidFill>
                            <a:schemeClr val="tx1"/>
                          </a:solidFill>
                        </a:rPr>
                        <a:t>DenseNet-201 | Raw
Corrected | Post-split</a:t>
                      </a:r>
                    </a:p>
                  </a:txBody>
                  <a:tcPr>
                    <a:solidFill>
                      <a:srgbClr val="1E77B4"/>
                    </a:solidFill>
                  </a:tcPr>
                </a:tc>
                <a:tc>
                  <a:txBody>
                    <a:bodyPr/>
                    <a:lstStyle/>
                    <a:p>
                      <a:pPr algn="ctr"/>
                      <a:r>
                        <a:rPr sz="2000" b="0" dirty="0">
                          <a:solidFill>
                            <a:srgbClr val="1A1A1A"/>
                          </a:solidFill>
                        </a:rPr>
                        <a:t>0.686 ± 0.269</a:t>
                      </a:r>
                    </a:p>
                  </a:txBody>
                  <a:tcPr/>
                </a:tc>
                <a:tc>
                  <a:txBody>
                    <a:bodyPr/>
                    <a:lstStyle/>
                    <a:p>
                      <a:pPr algn="ctr"/>
                      <a:r>
                        <a:rPr sz="2000" b="0" dirty="0">
                          <a:solidFill>
                            <a:srgbClr val="1A1A1A"/>
                          </a:solidFill>
                        </a:rPr>
                        <a:t>0.755 ± 0.041</a:t>
                      </a:r>
                    </a:p>
                  </a:txBody>
                  <a:tcPr/>
                </a:tc>
                <a:tc>
                  <a:txBody>
                    <a:bodyPr/>
                    <a:lstStyle/>
                    <a:p>
                      <a:pPr algn="ctr"/>
                      <a:r>
                        <a:rPr sz="2000" b="0" dirty="0">
                          <a:solidFill>
                            <a:srgbClr val="1A1A1A"/>
                          </a:solidFill>
                        </a:rPr>
                        <a:t>0.686 ± 0.269</a:t>
                      </a:r>
                    </a:p>
                  </a:txBody>
                  <a:tcPr/>
                </a:tc>
                <a:extLst>
                  <a:ext uri="{0D108BD9-81ED-4DB2-BD59-A6C34878D82A}">
                    <a16:rowId xmlns:a16="http://schemas.microsoft.com/office/drawing/2014/main" val="3463713515"/>
                  </a:ext>
                </a:extLst>
              </a:tr>
              <a:tr h="534691">
                <a:tc>
                  <a:txBody>
                    <a:bodyPr/>
                    <a:lstStyle/>
                    <a:p>
                      <a:pPr algn="l"/>
                      <a:r>
                        <a:rPr sz="2000" b="0" dirty="0">
                          <a:solidFill>
                            <a:schemeClr val="tx1"/>
                          </a:solidFill>
                        </a:rPr>
                        <a:t>DenseNet-201 | Preprocessed
Paper | Pre-split</a:t>
                      </a:r>
                    </a:p>
                  </a:txBody>
                  <a:tcPr>
                    <a:solidFill>
                      <a:srgbClr val="1E77B4"/>
                    </a:solidFill>
                  </a:tcPr>
                </a:tc>
                <a:tc>
                  <a:txBody>
                    <a:bodyPr/>
                    <a:lstStyle/>
                    <a:p>
                      <a:pPr algn="ctr"/>
                      <a:r>
                        <a:rPr sz="2000" b="0" dirty="0">
                          <a:solidFill>
                            <a:srgbClr val="1A1A1A"/>
                          </a:solidFill>
                        </a:rPr>
                        <a:t>0.797 ± 0.093</a:t>
                      </a:r>
                    </a:p>
                  </a:txBody>
                  <a:tcPr/>
                </a:tc>
                <a:tc>
                  <a:txBody>
                    <a:bodyPr/>
                    <a:lstStyle/>
                    <a:p>
                      <a:pPr algn="ctr"/>
                      <a:r>
                        <a:rPr sz="2000" b="0" dirty="0">
                          <a:solidFill>
                            <a:srgbClr val="1A1A1A"/>
                          </a:solidFill>
                        </a:rPr>
                        <a:t>0.833 ± 0.025</a:t>
                      </a:r>
                    </a:p>
                  </a:txBody>
                  <a:tcPr/>
                </a:tc>
                <a:tc>
                  <a:txBody>
                    <a:bodyPr/>
                    <a:lstStyle/>
                    <a:p>
                      <a:pPr algn="ctr"/>
                      <a:r>
                        <a:rPr sz="2000" b="0" dirty="0">
                          <a:solidFill>
                            <a:srgbClr val="1A1A1A"/>
                          </a:solidFill>
                        </a:rPr>
                        <a:t>0.797 ± 0.093</a:t>
                      </a:r>
                    </a:p>
                  </a:txBody>
                  <a:tcPr/>
                </a:tc>
                <a:extLst>
                  <a:ext uri="{0D108BD9-81ED-4DB2-BD59-A6C34878D82A}">
                    <a16:rowId xmlns:a16="http://schemas.microsoft.com/office/drawing/2014/main" val="4202830546"/>
                  </a:ext>
                </a:extLst>
              </a:tr>
              <a:tr h="534691">
                <a:tc>
                  <a:txBody>
                    <a:bodyPr/>
                    <a:lstStyle/>
                    <a:p>
                      <a:pPr algn="l"/>
                      <a:r>
                        <a:rPr sz="2000" b="0" dirty="0">
                          <a:solidFill>
                            <a:schemeClr val="tx1"/>
                          </a:solidFill>
                        </a:rPr>
                        <a:t>ResNet-101 | Raw
Corrected | Post-split</a:t>
                      </a:r>
                    </a:p>
                  </a:txBody>
                  <a:tcPr>
                    <a:solidFill>
                      <a:srgbClr val="1E77B4"/>
                    </a:solidFill>
                  </a:tcPr>
                </a:tc>
                <a:tc>
                  <a:txBody>
                    <a:bodyPr/>
                    <a:lstStyle/>
                    <a:p>
                      <a:pPr algn="ctr"/>
                      <a:r>
                        <a:rPr sz="2000" b="0" dirty="0">
                          <a:solidFill>
                            <a:srgbClr val="1A1A1A"/>
                          </a:solidFill>
                        </a:rPr>
                        <a:t>0.868 ± 0.006</a:t>
                      </a:r>
                    </a:p>
                  </a:txBody>
                  <a:tcPr/>
                </a:tc>
                <a:tc>
                  <a:txBody>
                    <a:bodyPr/>
                    <a:lstStyle/>
                    <a:p>
                      <a:pPr algn="ctr"/>
                      <a:r>
                        <a:rPr sz="2000" b="0" dirty="0">
                          <a:solidFill>
                            <a:srgbClr val="1A1A1A"/>
                          </a:solidFill>
                        </a:rPr>
                        <a:t>0.826 ± 0.017</a:t>
                      </a:r>
                    </a:p>
                  </a:txBody>
                  <a:tcPr/>
                </a:tc>
                <a:tc>
                  <a:txBody>
                    <a:bodyPr/>
                    <a:lstStyle/>
                    <a:p>
                      <a:pPr algn="ctr"/>
                      <a:r>
                        <a:rPr sz="2000" b="0" dirty="0">
                          <a:solidFill>
                            <a:srgbClr val="1A1A1A"/>
                          </a:solidFill>
                        </a:rPr>
                        <a:t>0.868 ± 0.006</a:t>
                      </a:r>
                    </a:p>
                  </a:txBody>
                  <a:tcPr/>
                </a:tc>
                <a:extLst>
                  <a:ext uri="{0D108BD9-81ED-4DB2-BD59-A6C34878D82A}">
                    <a16:rowId xmlns:a16="http://schemas.microsoft.com/office/drawing/2014/main" val="3760824357"/>
                  </a:ext>
                </a:extLst>
              </a:tr>
              <a:tr h="534691">
                <a:tc>
                  <a:txBody>
                    <a:bodyPr/>
                    <a:lstStyle/>
                    <a:p>
                      <a:pPr algn="l"/>
                      <a:r>
                        <a:rPr sz="2000" b="0" dirty="0">
                          <a:solidFill>
                            <a:schemeClr val="tx1"/>
                          </a:solidFill>
                        </a:rPr>
                        <a:t>ResNet-101 | Preprocessed
Paper | Pre-split</a:t>
                      </a:r>
                    </a:p>
                  </a:txBody>
                  <a:tcPr>
                    <a:solidFill>
                      <a:srgbClr val="1E77B4"/>
                    </a:solidFill>
                  </a:tcPr>
                </a:tc>
                <a:tc>
                  <a:txBody>
                    <a:bodyPr/>
                    <a:lstStyle/>
                    <a:p>
                      <a:pPr algn="ctr"/>
                      <a:r>
                        <a:rPr sz="2000" b="0" dirty="0">
                          <a:solidFill>
                            <a:srgbClr val="1A1A1A"/>
                          </a:solidFill>
                        </a:rPr>
                        <a:t>0.878 ± 0.007</a:t>
                      </a:r>
                    </a:p>
                  </a:txBody>
                  <a:tcPr/>
                </a:tc>
                <a:tc>
                  <a:txBody>
                    <a:bodyPr/>
                    <a:lstStyle/>
                    <a:p>
                      <a:pPr algn="ctr"/>
                      <a:r>
                        <a:rPr sz="2000" b="0" dirty="0">
                          <a:solidFill>
                            <a:srgbClr val="1A1A1A"/>
                          </a:solidFill>
                        </a:rPr>
                        <a:t>0.881 ± 0.020</a:t>
                      </a:r>
                    </a:p>
                  </a:txBody>
                  <a:tcPr/>
                </a:tc>
                <a:tc>
                  <a:txBody>
                    <a:bodyPr/>
                    <a:lstStyle/>
                    <a:p>
                      <a:pPr algn="ctr"/>
                      <a:r>
                        <a:rPr sz="2000" b="0" dirty="0">
                          <a:solidFill>
                            <a:srgbClr val="1A1A1A"/>
                          </a:solidFill>
                        </a:rPr>
                        <a:t>0.878 ± 0.007</a:t>
                      </a:r>
                    </a:p>
                  </a:txBody>
                  <a:tcPr/>
                </a:tc>
                <a:extLst>
                  <a:ext uri="{0D108BD9-81ED-4DB2-BD59-A6C34878D82A}">
                    <a16:rowId xmlns:a16="http://schemas.microsoft.com/office/drawing/2014/main" val="10001"/>
                  </a:ext>
                </a:extLst>
              </a:tr>
            </a:tbl>
          </a:graphicData>
        </a:graphic>
      </p:graphicFrame>
      <p:sp>
        <p:nvSpPr>
          <p:cNvPr id="5" name="Tekstfelt 4">
            <a:extLst>
              <a:ext uri="{FF2B5EF4-FFF2-40B4-BE49-F238E27FC236}">
                <a16:creationId xmlns:a16="http://schemas.microsoft.com/office/drawing/2014/main" id="{3057A85A-1F02-BD6C-3F25-0C058BB9B343}"/>
              </a:ext>
            </a:extLst>
          </p:cNvPr>
          <p:cNvSpPr txBox="1"/>
          <p:nvPr/>
        </p:nvSpPr>
        <p:spPr>
          <a:xfrm>
            <a:off x="588963" y="1484313"/>
            <a:ext cx="8718733" cy="1107996"/>
          </a:xfrm>
          <a:prstGeom prst="rect">
            <a:avLst/>
          </a:prstGeom>
        </p:spPr>
        <p:txBody>
          <a:bodyPr vert="horz" wrap="none" lIns="0" tIns="0" rIns="0" bIns="0" rtlCol="0" anchor="t" anchorCtr="0">
            <a:spAutoFit/>
          </a:bodyPr>
          <a:lstStyle/>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da-DK" sz="2400" b="0" dirty="0">
                <a:solidFill>
                  <a:schemeClr val="tx1"/>
                </a:solidFill>
                <a:latin typeface="+mn-lt"/>
              </a:rPr>
              <a:t>Test model performance on </a:t>
            </a:r>
            <a:r>
              <a:rPr lang="da-DK" sz="2400" b="0" dirty="0" err="1">
                <a:solidFill>
                  <a:schemeClr val="tx1"/>
                </a:solidFill>
                <a:latin typeface="+mn-lt"/>
              </a:rPr>
              <a:t>occluded</a:t>
            </a:r>
            <a:r>
              <a:rPr lang="da-DK" sz="2400" b="0" dirty="0">
                <a:solidFill>
                  <a:schemeClr val="tx1"/>
                </a:solidFill>
                <a:latin typeface="+mn-lt"/>
              </a:rPr>
              <a:t> data</a:t>
            </a:r>
          </a:p>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da-DK" sz="2400" dirty="0"/>
              <a:t>Performance drop → model </a:t>
            </a:r>
            <a:r>
              <a:rPr lang="da-DK" sz="2400" dirty="0" err="1"/>
              <a:t>learn</a:t>
            </a:r>
            <a:r>
              <a:rPr lang="da-DK" sz="2400" dirty="0"/>
              <a:t> </a:t>
            </a:r>
            <a:r>
              <a:rPr lang="da-DK" sz="2400" dirty="0" err="1"/>
              <a:t>pathology</a:t>
            </a:r>
            <a:r>
              <a:rPr lang="da-DK" sz="2400" dirty="0"/>
              <a:t> features</a:t>
            </a:r>
          </a:p>
          <a:p>
            <a:pPr marL="342900" indent="-342900">
              <a:spcBef>
                <a:spcPct val="0"/>
              </a:spcBef>
              <a:buFont typeface="Arial" panose="020B0604020202020204" pitchFamily="34" charset="0"/>
              <a:buChar char="•"/>
            </a:pPr>
            <a:r>
              <a:rPr lang="da-DK" sz="2400" dirty="0"/>
              <a:t>Negligible performance drop or no drop → </a:t>
            </a:r>
            <a:r>
              <a:rPr lang="da-DK" sz="2400" dirty="0" err="1"/>
              <a:t>shortcut</a:t>
            </a:r>
            <a:r>
              <a:rPr lang="da-DK" sz="2400" dirty="0"/>
              <a:t> learning</a:t>
            </a:r>
            <a:endParaRPr lang="da-DK" sz="2400" b="0" dirty="0">
              <a:solidFill>
                <a:schemeClr val="tx1"/>
              </a:solidFill>
              <a:latin typeface="+mn-lt"/>
            </a:endParaRPr>
          </a:p>
        </p:txBody>
      </p:sp>
    </p:spTree>
    <p:extLst>
      <p:ext uri="{BB962C8B-B14F-4D97-AF65-F5344CB8AC3E}">
        <p14:creationId xmlns:p14="http://schemas.microsoft.com/office/powerpoint/2010/main" val="842855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55DC94-62C6-73F2-BF19-685066663F0B}"/>
              </a:ext>
            </a:extLst>
          </p:cNvPr>
          <p:cNvSpPr>
            <a:spLocks noGrp="1"/>
          </p:cNvSpPr>
          <p:nvPr>
            <p:ph type="title"/>
          </p:nvPr>
        </p:nvSpPr>
        <p:spPr/>
        <p:txBody>
          <a:bodyPr/>
          <a:lstStyle/>
          <a:p>
            <a:r>
              <a:rPr lang="da-DK" dirty="0" err="1"/>
              <a:t>Conclusion</a:t>
            </a:r>
            <a:endParaRPr lang="da-DK" dirty="0"/>
          </a:p>
        </p:txBody>
      </p:sp>
      <p:sp>
        <p:nvSpPr>
          <p:cNvPr id="4" name="Pladsholder til dato 3">
            <a:extLst>
              <a:ext uri="{FF2B5EF4-FFF2-40B4-BE49-F238E27FC236}">
                <a16:creationId xmlns:a16="http://schemas.microsoft.com/office/drawing/2014/main" id="{C7825CEF-6E77-A5C7-5A11-C1B29EF814EE}"/>
              </a:ext>
            </a:extLst>
          </p:cNvPr>
          <p:cNvSpPr>
            <a:spLocks noGrp="1"/>
          </p:cNvSpPr>
          <p:nvPr>
            <p:ph type="dt" sz="half" idx="10"/>
          </p:nvPr>
        </p:nvSpPr>
        <p:spPr/>
        <p:txBody>
          <a:bodyPr/>
          <a:lstStyle/>
          <a:p>
            <a:fld id="{833ABE37-F289-4BB8-B1E0-101EB4AC95E3}" type="datetime1">
              <a:rPr lang="en-GB" smtClean="0"/>
              <a:t>09/06/2026</a:t>
            </a:fld>
            <a:endParaRPr lang="en-GB" dirty="0"/>
          </a:p>
        </p:txBody>
      </p:sp>
      <p:sp>
        <p:nvSpPr>
          <p:cNvPr id="5" name="Pladsholder til slidenummer 4">
            <a:extLst>
              <a:ext uri="{FF2B5EF4-FFF2-40B4-BE49-F238E27FC236}">
                <a16:creationId xmlns:a16="http://schemas.microsoft.com/office/drawing/2014/main" id="{A6169F4F-853F-9FC5-F544-7269D7D8EF9F}"/>
              </a:ext>
            </a:extLst>
          </p:cNvPr>
          <p:cNvSpPr>
            <a:spLocks noGrp="1"/>
          </p:cNvSpPr>
          <p:nvPr>
            <p:ph type="sldNum" sz="quarter" idx="12"/>
          </p:nvPr>
        </p:nvSpPr>
        <p:spPr/>
        <p:txBody>
          <a:bodyPr/>
          <a:lstStyle/>
          <a:p>
            <a:fld id="{091A926C-488A-4E3E-9C21-57CAA120E114}" type="slidenum">
              <a:rPr lang="en-GB" smtClean="0"/>
              <a:t>9</a:t>
            </a:fld>
            <a:endParaRPr lang="en-GB" dirty="0"/>
          </a:p>
        </p:txBody>
      </p:sp>
      <p:sp>
        <p:nvSpPr>
          <p:cNvPr id="6" name="Tekstfelt 5">
            <a:extLst>
              <a:ext uri="{FF2B5EF4-FFF2-40B4-BE49-F238E27FC236}">
                <a16:creationId xmlns:a16="http://schemas.microsoft.com/office/drawing/2014/main" id="{1026CAE5-72EA-B48B-3670-7C30ECC7C27B}"/>
              </a:ext>
            </a:extLst>
          </p:cNvPr>
          <p:cNvSpPr txBox="1"/>
          <p:nvPr/>
        </p:nvSpPr>
        <p:spPr>
          <a:xfrm>
            <a:off x="1545021" y="2081048"/>
            <a:ext cx="65" cy="369332"/>
          </a:xfrm>
          <a:prstGeom prst="rect">
            <a:avLst/>
          </a:prstGeom>
        </p:spPr>
        <p:txBody>
          <a:bodyPr vert="horz" wrap="none" lIns="0" tIns="0" rIns="0" bIns="0" rtlCol="0" anchor="t" anchorCtr="0">
            <a:sp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da-DK" sz="2400" b="0" dirty="0">
              <a:solidFill>
                <a:schemeClr val="tx1"/>
              </a:solidFill>
              <a:latin typeface="+mn-lt"/>
            </a:endParaRPr>
          </a:p>
        </p:txBody>
      </p:sp>
      <p:sp>
        <p:nvSpPr>
          <p:cNvPr id="10" name="Tekstfelt 9">
            <a:extLst>
              <a:ext uri="{FF2B5EF4-FFF2-40B4-BE49-F238E27FC236}">
                <a16:creationId xmlns:a16="http://schemas.microsoft.com/office/drawing/2014/main" id="{E4465E82-AE36-CF71-4E23-B39072E39DD2}"/>
              </a:ext>
            </a:extLst>
          </p:cNvPr>
          <p:cNvSpPr txBox="1"/>
          <p:nvPr/>
        </p:nvSpPr>
        <p:spPr>
          <a:xfrm>
            <a:off x="588963" y="1302563"/>
            <a:ext cx="10555124" cy="5170646"/>
          </a:xfrm>
          <a:prstGeom prst="rect">
            <a:avLst/>
          </a:prstGeom>
        </p:spPr>
        <p:txBody>
          <a:bodyPr vert="horz" wrap="square" lIns="0" tIns="0" rIns="0" bIns="0" rtlCol="0" anchor="t" anchorCtr="0">
            <a:spAutoFit/>
          </a:bodyPr>
          <a:lstStyle/>
          <a:p>
            <a:pPr>
              <a:spcBef>
                <a:spcPct val="0"/>
              </a:spcBef>
            </a:pPr>
            <a:r>
              <a:rPr lang="da-DK" sz="2400" dirty="0" err="1"/>
              <a:t>Methodological</a:t>
            </a:r>
            <a:r>
              <a:rPr lang="da-DK" sz="2400" dirty="0"/>
              <a:t> </a:t>
            </a:r>
            <a:r>
              <a:rPr lang="da-DK" sz="2400" dirty="0" err="1"/>
              <a:t>errors</a:t>
            </a:r>
            <a:r>
              <a:rPr lang="da-DK" sz="2400" dirty="0"/>
              <a:t> </a:t>
            </a:r>
            <a:r>
              <a:rPr lang="da-DK" sz="2400" dirty="0" err="1"/>
              <a:t>inflate</a:t>
            </a:r>
            <a:r>
              <a:rPr lang="da-DK" sz="2400" dirty="0"/>
              <a:t> </a:t>
            </a:r>
            <a:r>
              <a:rPr lang="da-DK" sz="2400" dirty="0" err="1"/>
              <a:t>Guha</a:t>
            </a:r>
            <a:r>
              <a:rPr lang="da-DK" sz="2400" dirty="0"/>
              <a:t> et </a:t>
            </a:r>
            <a:r>
              <a:rPr lang="da-DK" sz="2400" dirty="0" err="1"/>
              <a:t>al.’s</a:t>
            </a:r>
            <a:r>
              <a:rPr lang="da-DK" sz="2400" dirty="0"/>
              <a:t> model performance on test </a:t>
            </a:r>
          </a:p>
          <a:p>
            <a:pPr>
              <a:spcBef>
                <a:spcPct val="0"/>
              </a:spcBef>
            </a:pPr>
            <a:r>
              <a:rPr lang="da-DK" sz="2400" dirty="0"/>
              <a:t>→ Resolution </a:t>
            </a:r>
            <a:r>
              <a:rPr lang="da-DK" sz="2400" dirty="0" err="1"/>
              <a:t>confound</a:t>
            </a:r>
            <a:r>
              <a:rPr lang="da-DK" sz="2400" dirty="0"/>
              <a:t> </a:t>
            </a:r>
          </a:p>
          <a:p>
            <a:pPr>
              <a:spcBef>
                <a:spcPct val="0"/>
              </a:spcBef>
            </a:pPr>
            <a:r>
              <a:rPr lang="da-DK" sz="2400" dirty="0"/>
              <a:t>	→ </a:t>
            </a:r>
            <a:r>
              <a:rPr lang="da-DK" sz="2400" dirty="0" err="1"/>
              <a:t>Preprocessing</a:t>
            </a:r>
            <a:r>
              <a:rPr lang="da-DK" sz="2400" dirty="0"/>
              <a:t> </a:t>
            </a:r>
          </a:p>
          <a:p>
            <a:pPr>
              <a:spcBef>
                <a:spcPct val="0"/>
              </a:spcBef>
            </a:pPr>
            <a:r>
              <a:rPr lang="da-DK" sz="2400" dirty="0"/>
              <a:t>	→ </a:t>
            </a:r>
            <a:r>
              <a:rPr lang="da-DK" sz="2400" dirty="0" err="1"/>
              <a:t>Mislabelling</a:t>
            </a:r>
            <a:endParaRPr lang="da-DK" sz="2400" dirty="0"/>
          </a:p>
          <a:p>
            <a:pPr>
              <a:spcBef>
                <a:spcPct val="0"/>
              </a:spcBef>
            </a:pPr>
            <a:r>
              <a:rPr lang="da-DK" sz="2400" dirty="0"/>
              <a:t>→ </a:t>
            </a:r>
            <a:r>
              <a:rPr lang="da-DK" sz="2400" dirty="0" err="1"/>
              <a:t>Pre</a:t>
            </a:r>
            <a:r>
              <a:rPr lang="da-DK" sz="2400" dirty="0"/>
              <a:t>-split downsampling </a:t>
            </a:r>
          </a:p>
          <a:p>
            <a:pPr>
              <a:spcBef>
                <a:spcPct val="0"/>
              </a:spcBef>
            </a:pPr>
            <a:r>
              <a:rPr lang="da-DK" sz="2400" dirty="0"/>
              <a:t>	→ </a:t>
            </a:r>
            <a:r>
              <a:rPr lang="da-DK" sz="2400" dirty="0" err="1"/>
              <a:t>biased</a:t>
            </a:r>
            <a:r>
              <a:rPr lang="da-DK" sz="2400" dirty="0"/>
              <a:t> </a:t>
            </a:r>
            <a:r>
              <a:rPr lang="da-DK" sz="2400" dirty="0" err="1"/>
              <a:t>evaluation</a:t>
            </a:r>
            <a:r>
              <a:rPr lang="da-DK" sz="2400" dirty="0"/>
              <a:t> sets</a:t>
            </a:r>
          </a:p>
          <a:p>
            <a:pPr>
              <a:spcBef>
                <a:spcPct val="0"/>
              </a:spcBef>
            </a:pPr>
            <a:endParaRPr lang="da-DK" sz="2400" dirty="0"/>
          </a:p>
          <a:p>
            <a:pPr marL="342900" indent="-342900">
              <a:spcBef>
                <a:spcPct val="0"/>
              </a:spcBef>
              <a:buFont typeface="Arial" panose="020B0604020202020204" pitchFamily="34" charset="0"/>
              <a:buChar char="•"/>
            </a:pPr>
            <a:r>
              <a:rPr lang="da-DK" sz="2400" dirty="0" err="1"/>
              <a:t>Correcting</a:t>
            </a:r>
            <a:r>
              <a:rPr lang="da-DK" sz="2400" dirty="0"/>
              <a:t> </a:t>
            </a:r>
            <a:r>
              <a:rPr lang="da-DK" sz="2400" dirty="0" err="1"/>
              <a:t>methological</a:t>
            </a:r>
            <a:r>
              <a:rPr lang="da-DK" sz="2400" dirty="0"/>
              <a:t> </a:t>
            </a:r>
            <a:r>
              <a:rPr lang="da-DK" sz="2400" dirty="0" err="1"/>
              <a:t>errors</a:t>
            </a:r>
            <a:r>
              <a:rPr lang="da-DK" sz="2400" dirty="0"/>
              <a:t> → </a:t>
            </a:r>
            <a:r>
              <a:rPr lang="da-DK" sz="2400" dirty="0" err="1"/>
              <a:t>significant</a:t>
            </a:r>
            <a:r>
              <a:rPr lang="da-DK" sz="2400" dirty="0"/>
              <a:t> performance drop</a:t>
            </a:r>
          </a:p>
          <a:p>
            <a:pPr marL="342900" indent="-342900">
              <a:spcBef>
                <a:spcPct val="0"/>
              </a:spcBef>
              <a:buFont typeface="Arial" panose="020B0604020202020204" pitchFamily="34" charset="0"/>
              <a:buChar char="•"/>
            </a:pPr>
            <a:r>
              <a:rPr lang="da-DK" sz="2400" dirty="0"/>
              <a:t>Model </a:t>
            </a:r>
            <a:r>
              <a:rPr lang="da-DK" sz="2400" dirty="0" err="1"/>
              <a:t>classifies</a:t>
            </a:r>
            <a:r>
              <a:rPr lang="da-DK" sz="2400" dirty="0"/>
              <a:t> by global </a:t>
            </a:r>
            <a:r>
              <a:rPr lang="da-DK" sz="2400" dirty="0" err="1"/>
              <a:t>texture</a:t>
            </a:r>
            <a:r>
              <a:rPr lang="da-DK" sz="2400" dirty="0"/>
              <a:t>, not </a:t>
            </a:r>
            <a:r>
              <a:rPr lang="da-DK" sz="2400" dirty="0" err="1"/>
              <a:t>cortical</a:t>
            </a:r>
            <a:r>
              <a:rPr lang="da-DK" sz="2400" dirty="0"/>
              <a:t> </a:t>
            </a:r>
            <a:r>
              <a:rPr lang="da-DK" sz="2400" dirty="0" err="1"/>
              <a:t>morphology</a:t>
            </a:r>
            <a:endParaRPr lang="da-DK" sz="2400" dirty="0"/>
          </a:p>
          <a:p>
            <a:pPr marL="342900" indent="-342900">
              <a:spcBef>
                <a:spcPct val="0"/>
              </a:spcBef>
              <a:buFont typeface="Arial" panose="020B0604020202020204" pitchFamily="34" charset="0"/>
              <a:buChar char="•"/>
            </a:pPr>
            <a:r>
              <a:rPr lang="da-DK" sz="2400" dirty="0" err="1"/>
              <a:t>Preprocessing</a:t>
            </a:r>
            <a:r>
              <a:rPr lang="da-DK" sz="2400" dirty="0"/>
              <a:t> </a:t>
            </a:r>
            <a:r>
              <a:rPr lang="da-DK" sz="2400" dirty="0" err="1"/>
              <a:t>enhances</a:t>
            </a:r>
            <a:r>
              <a:rPr lang="da-DK" sz="2400" dirty="0"/>
              <a:t> </a:t>
            </a:r>
            <a:r>
              <a:rPr lang="da-DK" sz="2400" dirty="0" err="1"/>
              <a:t>artifact</a:t>
            </a:r>
            <a:r>
              <a:rPr lang="da-DK" sz="2400" dirty="0"/>
              <a:t> — not signal</a:t>
            </a:r>
          </a:p>
          <a:p>
            <a:pPr marL="342900" indent="-342900">
              <a:spcBef>
                <a:spcPct val="0"/>
              </a:spcBef>
              <a:buFont typeface="Arial" panose="020B0604020202020204" pitchFamily="34" charset="0"/>
              <a:buChar char="•"/>
            </a:pPr>
            <a:r>
              <a:rPr lang="da-DK" sz="2400" dirty="0" err="1"/>
              <a:t>Mislabeling</a:t>
            </a:r>
            <a:r>
              <a:rPr lang="da-DK" sz="2400" dirty="0"/>
              <a:t> </a:t>
            </a:r>
            <a:r>
              <a:rPr lang="da-DK" sz="2400" dirty="0" err="1"/>
              <a:t>enhances</a:t>
            </a:r>
            <a:r>
              <a:rPr lang="da-DK" sz="2400" dirty="0"/>
              <a:t> spatial difference </a:t>
            </a:r>
            <a:r>
              <a:rPr lang="da-DK" sz="2400" dirty="0" err="1"/>
              <a:t>between</a:t>
            </a:r>
            <a:r>
              <a:rPr lang="da-DK" sz="2400" dirty="0"/>
              <a:t> </a:t>
            </a:r>
            <a:r>
              <a:rPr lang="da-DK" sz="2400" dirty="0" err="1"/>
              <a:t>cohorts</a:t>
            </a:r>
            <a:endParaRPr lang="da-DK" sz="2400" dirty="0"/>
          </a:p>
          <a:p>
            <a:pPr marL="342900" indent="-342900">
              <a:spcBef>
                <a:spcPct val="0"/>
              </a:spcBef>
              <a:buFont typeface="Arial" panose="020B0604020202020204" pitchFamily="34" charset="0"/>
              <a:buChar char="•"/>
            </a:pPr>
            <a:r>
              <a:rPr lang="da-DK" sz="2400" dirty="0"/>
              <a:t>High </a:t>
            </a:r>
            <a:r>
              <a:rPr lang="da-DK" sz="2400" dirty="0" err="1"/>
              <a:t>accuracy</a:t>
            </a:r>
            <a:r>
              <a:rPr lang="da-DK" sz="2400" dirty="0"/>
              <a:t> </a:t>
            </a:r>
            <a:r>
              <a:rPr lang="da-DK" sz="2400" dirty="0" err="1"/>
              <a:t>does</a:t>
            </a:r>
            <a:r>
              <a:rPr lang="da-DK" sz="2400" dirty="0"/>
              <a:t> not </a:t>
            </a:r>
            <a:r>
              <a:rPr lang="da-DK" sz="2400" dirty="0" err="1"/>
              <a:t>mean</a:t>
            </a:r>
            <a:r>
              <a:rPr lang="da-DK" sz="2400" dirty="0"/>
              <a:t> model generalises </a:t>
            </a:r>
            <a:r>
              <a:rPr lang="da-DK" sz="2400" dirty="0" err="1"/>
              <a:t>well</a:t>
            </a:r>
            <a:endParaRPr lang="da-DK" sz="2400" dirty="0"/>
          </a:p>
          <a:p>
            <a:pPr>
              <a:spcBef>
                <a:spcPct val="0"/>
              </a:spcBef>
            </a:pPr>
            <a:endParaRPr lang="da-DK" sz="2400" dirty="0"/>
          </a:p>
          <a:p>
            <a:pPr>
              <a:spcBef>
                <a:spcPct val="0"/>
              </a:spcBef>
            </a:pPr>
            <a:r>
              <a:rPr lang="da-DK" sz="2400" dirty="0"/>
              <a:t>PMG </a:t>
            </a:r>
            <a:r>
              <a:rPr lang="da-DK" sz="2400" dirty="0" err="1"/>
              <a:t>classification</a:t>
            </a:r>
            <a:r>
              <a:rPr lang="da-DK" sz="2400" dirty="0"/>
              <a:t> </a:t>
            </a:r>
            <a:r>
              <a:rPr lang="da-DK" sz="2400" dirty="0" err="1"/>
              <a:t>using</a:t>
            </a:r>
            <a:r>
              <a:rPr lang="da-DK" sz="2400" dirty="0"/>
              <a:t> DL from MRI </a:t>
            </a:r>
            <a:r>
              <a:rPr lang="da-DK" sz="2400" dirty="0" err="1"/>
              <a:t>remains</a:t>
            </a:r>
            <a:r>
              <a:rPr lang="da-DK" sz="2400" dirty="0"/>
              <a:t> an open problem</a:t>
            </a:r>
            <a:endParaRPr lang="da-DK" sz="2400" b="0" dirty="0">
              <a:solidFill>
                <a:schemeClr val="tx1"/>
              </a:solidFill>
              <a:latin typeface="+mn-lt"/>
            </a:endParaRPr>
          </a:p>
        </p:txBody>
      </p:sp>
    </p:spTree>
    <p:extLst>
      <p:ext uri="{BB962C8B-B14F-4D97-AF65-F5344CB8AC3E}">
        <p14:creationId xmlns:p14="http://schemas.microsoft.com/office/powerpoint/2010/main" val="3289080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82880"/>
            <a:ext cx="8229600" cy="548640"/>
          </a:xfrm>
          <a:prstGeom prst="rect">
            <a:avLst/>
          </a:prstGeom>
          <a:noFill/>
        </p:spPr>
        <p:txBody>
          <a:bodyPr wrap="none">
            <a:spAutoFit/>
          </a:bodyPr>
          <a:lstStyle/>
          <a:p>
            <a:pPr algn="l">
              <a:defRPr sz="2000" b="1"/>
            </a:pPr>
            <a:r>
              <a:rPr dirty="0"/>
              <a:t>ResNet-101  |  Paper setup</a:t>
            </a:r>
          </a:p>
        </p:txBody>
      </p:sp>
      <p:graphicFrame>
        <p:nvGraphicFramePr>
          <p:cNvPr id="3" name="Table 2"/>
          <p:cNvGraphicFramePr>
            <a:graphicFrameLocks noGrp="1"/>
          </p:cNvGraphicFramePr>
          <p:nvPr>
            <p:extLst>
              <p:ext uri="{D42A27DB-BD31-4B8C-83A1-F6EECF244321}">
                <p14:modId xmlns:p14="http://schemas.microsoft.com/office/powerpoint/2010/main" val="1750344791"/>
              </p:ext>
            </p:extLst>
          </p:nvPr>
        </p:nvGraphicFramePr>
        <p:xfrm>
          <a:off x="650215" y="1597688"/>
          <a:ext cx="7804468" cy="3832441"/>
        </p:xfrm>
        <a:graphic>
          <a:graphicData uri="http://schemas.openxmlformats.org/drawingml/2006/table">
            <a:tbl>
              <a:tblPr firstRow="1" bandRow="1">
                <a:tableStyleId>{5C22544A-7EE6-4342-B048-85BDC9FD1C3A}</a:tableStyleId>
              </a:tblPr>
              <a:tblGrid>
                <a:gridCol w="946468">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40601">
                <a:tc>
                  <a:txBody>
                    <a:bodyPr/>
                    <a:lstStyle/>
                    <a:p>
                      <a:pPr algn="ctr">
                        <a:defRPr sz="1200" b="1">
                          <a:solidFill>
                            <a:srgbClr val="000000"/>
                          </a:solidFill>
                        </a:defRPr>
                      </a:pPr>
                      <a:r>
                        <a:rPr dirty="0"/>
                        <a:t>Fold</a:t>
                      </a:r>
                    </a:p>
                  </a:txBody>
                  <a:tcPr/>
                </a:tc>
                <a:tc>
                  <a:txBody>
                    <a:bodyPr/>
                    <a:lstStyle/>
                    <a:p>
                      <a:pPr algn="ctr">
                        <a:defRPr sz="1200" b="1">
                          <a:solidFill>
                            <a:srgbClr val="000000"/>
                          </a:solidFill>
                        </a:defRPr>
                      </a:pPr>
                      <a:r>
                        <a:t>Accuracy</a:t>
                      </a:r>
                    </a:p>
                  </a:txBody>
                  <a:tcPr/>
                </a:tc>
                <a:tc>
                  <a:txBody>
                    <a:bodyPr/>
                    <a:lstStyle/>
                    <a:p>
                      <a:pPr algn="ctr">
                        <a:defRPr sz="1200" b="1">
                          <a:solidFill>
                            <a:srgbClr val="000000"/>
                          </a:solidFill>
                        </a:defRPr>
                      </a:pPr>
                      <a:r>
                        <a:t>Precision</a:t>
                      </a:r>
                    </a:p>
                  </a:txBody>
                  <a:tcPr/>
                </a:tc>
                <a:tc>
                  <a:txBody>
                    <a:bodyPr/>
                    <a:lstStyle/>
                    <a:p>
                      <a:pPr algn="ctr">
                        <a:defRPr sz="1200" b="1">
                          <a:solidFill>
                            <a:srgbClr val="000000"/>
                          </a:solidFill>
                        </a:defRPr>
                      </a:pPr>
                      <a:r>
                        <a:t>Recall</a:t>
                      </a:r>
                    </a:p>
                  </a:txBody>
                  <a:tcPr/>
                </a:tc>
                <a:tc>
                  <a:txBody>
                    <a:bodyPr/>
                    <a:lstStyle/>
                    <a:p>
                      <a:pPr algn="ctr">
                        <a:defRPr sz="1200" b="1">
                          <a:solidFill>
                            <a:srgbClr val="000000"/>
                          </a:solidFill>
                        </a:defRPr>
                      </a:pPr>
                      <a:r>
                        <a:t>F1</a:t>
                      </a:r>
                    </a:p>
                  </a:txBody>
                  <a:tcPr/>
                </a:tc>
                <a:tc>
                  <a:txBody>
                    <a:bodyPr/>
                    <a:lstStyle/>
                    <a:p>
                      <a:pPr algn="ctr">
                        <a:defRPr sz="1200" b="1">
                          <a:solidFill>
                            <a:srgbClr val="000000"/>
                          </a:solidFill>
                        </a:defRPr>
                      </a:pPr>
                      <a:r>
                        <a:rPr dirty="0"/>
                        <a:t>Cohen's </a:t>
                      </a:r>
                      <a:r>
                        <a:rPr dirty="0" err="1"/>
                        <a:t>κ</a:t>
                      </a:r>
                      <a:endParaRPr dirty="0"/>
                    </a:p>
                  </a:txBody>
                  <a:tcPr/>
                </a:tc>
                <a:extLst>
                  <a:ext uri="{0D108BD9-81ED-4DB2-BD59-A6C34878D82A}">
                    <a16:rowId xmlns:a16="http://schemas.microsoft.com/office/drawing/2014/main" val="10000"/>
                  </a:ext>
                </a:extLst>
              </a:tr>
              <a:tr h="548640">
                <a:tc>
                  <a:txBody>
                    <a:bodyPr/>
                    <a:lstStyle/>
                    <a:p>
                      <a:pPr algn="l">
                        <a:defRPr sz="1100">
                          <a:solidFill>
                            <a:srgbClr val="000000"/>
                          </a:solidFill>
                        </a:defRPr>
                      </a:pPr>
                      <a:r>
                        <a:t>Fold 1</a:t>
                      </a:r>
                    </a:p>
                  </a:txBody>
                  <a:tcPr/>
                </a:tc>
                <a:tc>
                  <a:txBody>
                    <a:bodyPr/>
                    <a:lstStyle/>
                    <a:p>
                      <a:pPr algn="ctr">
                        <a:defRPr sz="1100">
                          <a:solidFill>
                            <a:srgbClr val="000000"/>
                          </a:solidFill>
                        </a:defRPr>
                      </a:pPr>
                      <a:r>
                        <a:t>0.880</a:t>
                      </a:r>
                    </a:p>
                  </a:txBody>
                  <a:tcPr/>
                </a:tc>
                <a:tc>
                  <a:txBody>
                    <a:bodyPr/>
                    <a:lstStyle/>
                    <a:p>
                      <a:pPr algn="ctr">
                        <a:defRPr sz="1100">
                          <a:solidFill>
                            <a:srgbClr val="000000"/>
                          </a:solidFill>
                        </a:defRPr>
                      </a:pPr>
                      <a:r>
                        <a:t>0.829</a:t>
                      </a:r>
                    </a:p>
                  </a:txBody>
                  <a:tcPr/>
                </a:tc>
                <a:tc>
                  <a:txBody>
                    <a:bodyPr/>
                    <a:lstStyle/>
                    <a:p>
                      <a:pPr algn="ctr">
                        <a:defRPr sz="1100">
                          <a:solidFill>
                            <a:srgbClr val="000000"/>
                          </a:solidFill>
                        </a:defRPr>
                      </a:pPr>
                      <a:r>
                        <a:t>0.744</a:t>
                      </a:r>
                    </a:p>
                  </a:txBody>
                  <a:tcPr/>
                </a:tc>
                <a:tc>
                  <a:txBody>
                    <a:bodyPr/>
                    <a:lstStyle/>
                    <a:p>
                      <a:pPr algn="ctr">
                        <a:defRPr sz="1100">
                          <a:solidFill>
                            <a:srgbClr val="000000"/>
                          </a:solidFill>
                        </a:defRPr>
                      </a:pPr>
                      <a:r>
                        <a:t>0.784</a:t>
                      </a:r>
                    </a:p>
                  </a:txBody>
                  <a:tcPr/>
                </a:tc>
                <a:tc>
                  <a:txBody>
                    <a:bodyPr/>
                    <a:lstStyle/>
                    <a:p>
                      <a:pPr algn="ctr">
                        <a:defRPr sz="1100">
                          <a:solidFill>
                            <a:srgbClr val="000000"/>
                          </a:solidFill>
                        </a:defRPr>
                      </a:pPr>
                      <a:r>
                        <a:rPr dirty="0"/>
                        <a:t>0.701</a:t>
                      </a:r>
                    </a:p>
                  </a:txBody>
                  <a:tcPr/>
                </a:tc>
                <a:extLst>
                  <a:ext uri="{0D108BD9-81ED-4DB2-BD59-A6C34878D82A}">
                    <a16:rowId xmlns:a16="http://schemas.microsoft.com/office/drawing/2014/main" val="10001"/>
                  </a:ext>
                </a:extLst>
              </a:tr>
              <a:tr h="548640">
                <a:tc>
                  <a:txBody>
                    <a:bodyPr/>
                    <a:lstStyle/>
                    <a:p>
                      <a:pPr algn="l">
                        <a:defRPr sz="1100">
                          <a:solidFill>
                            <a:srgbClr val="000000"/>
                          </a:solidFill>
                        </a:defRPr>
                      </a:pPr>
                      <a:r>
                        <a:t>Fold 2</a:t>
                      </a:r>
                    </a:p>
                  </a:txBody>
                  <a:tcPr/>
                </a:tc>
                <a:tc>
                  <a:txBody>
                    <a:bodyPr/>
                    <a:lstStyle/>
                    <a:p>
                      <a:pPr algn="ctr">
                        <a:defRPr sz="1100">
                          <a:solidFill>
                            <a:srgbClr val="000000"/>
                          </a:solidFill>
                        </a:defRPr>
                      </a:pPr>
                      <a:r>
                        <a:t>0.893</a:t>
                      </a:r>
                    </a:p>
                  </a:txBody>
                  <a:tcPr/>
                </a:tc>
                <a:tc>
                  <a:txBody>
                    <a:bodyPr/>
                    <a:lstStyle/>
                    <a:p>
                      <a:pPr algn="ctr">
                        <a:defRPr sz="1100">
                          <a:solidFill>
                            <a:srgbClr val="000000"/>
                          </a:solidFill>
                        </a:defRPr>
                      </a:pPr>
                      <a:r>
                        <a:t>0.859</a:t>
                      </a:r>
                    </a:p>
                  </a:txBody>
                  <a:tcPr/>
                </a:tc>
                <a:tc>
                  <a:txBody>
                    <a:bodyPr/>
                    <a:lstStyle/>
                    <a:p>
                      <a:pPr algn="ctr">
                        <a:defRPr sz="1100">
                          <a:solidFill>
                            <a:srgbClr val="000000"/>
                          </a:solidFill>
                        </a:defRPr>
                      </a:pPr>
                      <a:r>
                        <a:t>0.681</a:t>
                      </a:r>
                    </a:p>
                  </a:txBody>
                  <a:tcPr/>
                </a:tc>
                <a:tc>
                  <a:txBody>
                    <a:bodyPr/>
                    <a:lstStyle/>
                    <a:p>
                      <a:pPr algn="ctr">
                        <a:defRPr sz="1100">
                          <a:solidFill>
                            <a:srgbClr val="000000"/>
                          </a:solidFill>
                        </a:defRPr>
                      </a:pPr>
                      <a:r>
                        <a:t>0.760</a:t>
                      </a:r>
                    </a:p>
                  </a:txBody>
                  <a:tcPr/>
                </a:tc>
                <a:tc>
                  <a:txBody>
                    <a:bodyPr/>
                    <a:lstStyle/>
                    <a:p>
                      <a:pPr algn="ctr">
                        <a:defRPr sz="1100">
                          <a:solidFill>
                            <a:srgbClr val="000000"/>
                          </a:solidFill>
                        </a:defRPr>
                      </a:pPr>
                      <a:r>
                        <a:t>0.692</a:t>
                      </a:r>
                    </a:p>
                  </a:txBody>
                  <a:tcPr/>
                </a:tc>
                <a:extLst>
                  <a:ext uri="{0D108BD9-81ED-4DB2-BD59-A6C34878D82A}">
                    <a16:rowId xmlns:a16="http://schemas.microsoft.com/office/drawing/2014/main" val="10002"/>
                  </a:ext>
                </a:extLst>
              </a:tr>
              <a:tr h="548640">
                <a:tc>
                  <a:txBody>
                    <a:bodyPr/>
                    <a:lstStyle/>
                    <a:p>
                      <a:pPr algn="l">
                        <a:defRPr sz="1100">
                          <a:solidFill>
                            <a:srgbClr val="000000"/>
                          </a:solidFill>
                        </a:defRPr>
                      </a:pPr>
                      <a:r>
                        <a:t>Fold 3</a:t>
                      </a:r>
                    </a:p>
                  </a:txBody>
                  <a:tcPr/>
                </a:tc>
                <a:tc>
                  <a:txBody>
                    <a:bodyPr/>
                    <a:lstStyle/>
                    <a:p>
                      <a:pPr algn="ctr">
                        <a:defRPr sz="1100">
                          <a:solidFill>
                            <a:srgbClr val="000000"/>
                          </a:solidFill>
                        </a:defRPr>
                      </a:pPr>
                      <a:r>
                        <a:rPr dirty="0"/>
                        <a:t>0.865</a:t>
                      </a:r>
                    </a:p>
                  </a:txBody>
                  <a:tcPr/>
                </a:tc>
                <a:tc>
                  <a:txBody>
                    <a:bodyPr/>
                    <a:lstStyle/>
                    <a:p>
                      <a:pPr algn="ctr">
                        <a:defRPr sz="1100">
                          <a:solidFill>
                            <a:srgbClr val="000000"/>
                          </a:solidFill>
                        </a:defRPr>
                      </a:pPr>
                      <a:r>
                        <a:t>0.862</a:t>
                      </a:r>
                    </a:p>
                  </a:txBody>
                  <a:tcPr/>
                </a:tc>
                <a:tc>
                  <a:txBody>
                    <a:bodyPr/>
                    <a:lstStyle/>
                    <a:p>
                      <a:pPr algn="ctr">
                        <a:defRPr sz="1100">
                          <a:solidFill>
                            <a:srgbClr val="000000"/>
                          </a:solidFill>
                        </a:defRPr>
                      </a:pPr>
                      <a:r>
                        <a:t>0.690</a:t>
                      </a:r>
                    </a:p>
                  </a:txBody>
                  <a:tcPr/>
                </a:tc>
                <a:tc>
                  <a:txBody>
                    <a:bodyPr/>
                    <a:lstStyle/>
                    <a:p>
                      <a:pPr algn="ctr">
                        <a:defRPr sz="1100">
                          <a:solidFill>
                            <a:srgbClr val="000000"/>
                          </a:solidFill>
                        </a:defRPr>
                      </a:pPr>
                      <a:r>
                        <a:t>0.767</a:t>
                      </a:r>
                    </a:p>
                  </a:txBody>
                  <a:tcPr/>
                </a:tc>
                <a:tc>
                  <a:txBody>
                    <a:bodyPr/>
                    <a:lstStyle/>
                    <a:p>
                      <a:pPr algn="ctr">
                        <a:defRPr sz="1100">
                          <a:solidFill>
                            <a:srgbClr val="000000"/>
                          </a:solidFill>
                        </a:defRPr>
                      </a:pPr>
                      <a:r>
                        <a:t>0.674</a:t>
                      </a:r>
                    </a:p>
                  </a:txBody>
                  <a:tcPr/>
                </a:tc>
                <a:extLst>
                  <a:ext uri="{0D108BD9-81ED-4DB2-BD59-A6C34878D82A}">
                    <a16:rowId xmlns:a16="http://schemas.microsoft.com/office/drawing/2014/main" val="10003"/>
                  </a:ext>
                </a:extLst>
              </a:tr>
              <a:tr h="548640">
                <a:tc>
                  <a:txBody>
                    <a:bodyPr/>
                    <a:lstStyle/>
                    <a:p>
                      <a:pPr algn="l">
                        <a:defRPr sz="1100">
                          <a:solidFill>
                            <a:srgbClr val="000000"/>
                          </a:solidFill>
                        </a:defRPr>
                      </a:pPr>
                      <a:r>
                        <a:t>Fold 4</a:t>
                      </a:r>
                    </a:p>
                  </a:txBody>
                  <a:tcPr/>
                </a:tc>
                <a:tc>
                  <a:txBody>
                    <a:bodyPr/>
                    <a:lstStyle/>
                    <a:p>
                      <a:pPr algn="ctr">
                        <a:defRPr sz="1100">
                          <a:solidFill>
                            <a:srgbClr val="000000"/>
                          </a:solidFill>
                        </a:defRPr>
                      </a:pPr>
                      <a:r>
                        <a:t>0.807</a:t>
                      </a:r>
                    </a:p>
                  </a:txBody>
                  <a:tcPr/>
                </a:tc>
                <a:tc>
                  <a:txBody>
                    <a:bodyPr/>
                    <a:lstStyle/>
                    <a:p>
                      <a:pPr algn="ctr">
                        <a:defRPr sz="1100">
                          <a:solidFill>
                            <a:srgbClr val="000000"/>
                          </a:solidFill>
                        </a:defRPr>
                      </a:pPr>
                      <a:r>
                        <a:t>0.774</a:t>
                      </a:r>
                    </a:p>
                  </a:txBody>
                  <a:tcPr/>
                </a:tc>
                <a:tc>
                  <a:txBody>
                    <a:bodyPr/>
                    <a:lstStyle/>
                    <a:p>
                      <a:pPr algn="ctr">
                        <a:defRPr sz="1100">
                          <a:solidFill>
                            <a:srgbClr val="000000"/>
                          </a:solidFill>
                        </a:defRPr>
                      </a:pPr>
                      <a:r>
                        <a:t>0.576</a:t>
                      </a:r>
                    </a:p>
                  </a:txBody>
                  <a:tcPr/>
                </a:tc>
                <a:tc>
                  <a:txBody>
                    <a:bodyPr/>
                    <a:lstStyle/>
                    <a:p>
                      <a:pPr algn="ctr">
                        <a:defRPr sz="1100">
                          <a:solidFill>
                            <a:srgbClr val="000000"/>
                          </a:solidFill>
                        </a:defRPr>
                      </a:pPr>
                      <a:r>
                        <a:t>0.661</a:t>
                      </a:r>
                    </a:p>
                  </a:txBody>
                  <a:tcPr/>
                </a:tc>
                <a:tc>
                  <a:txBody>
                    <a:bodyPr/>
                    <a:lstStyle/>
                    <a:p>
                      <a:pPr algn="ctr">
                        <a:defRPr sz="1100">
                          <a:solidFill>
                            <a:srgbClr val="000000"/>
                          </a:solidFill>
                        </a:defRPr>
                      </a:pPr>
                      <a:r>
                        <a:t>0.530</a:t>
                      </a:r>
                    </a:p>
                  </a:txBody>
                  <a:tcPr/>
                </a:tc>
                <a:extLst>
                  <a:ext uri="{0D108BD9-81ED-4DB2-BD59-A6C34878D82A}">
                    <a16:rowId xmlns:a16="http://schemas.microsoft.com/office/drawing/2014/main" val="10004"/>
                  </a:ext>
                </a:extLst>
              </a:tr>
              <a:tr h="548640">
                <a:tc>
                  <a:txBody>
                    <a:bodyPr/>
                    <a:lstStyle/>
                    <a:p>
                      <a:pPr algn="l">
                        <a:defRPr sz="1100">
                          <a:solidFill>
                            <a:srgbClr val="000000"/>
                          </a:solidFill>
                        </a:defRPr>
                      </a:pPr>
                      <a:r>
                        <a:t>Fold 5</a:t>
                      </a:r>
                    </a:p>
                  </a:txBody>
                  <a:tcPr/>
                </a:tc>
                <a:tc>
                  <a:txBody>
                    <a:bodyPr/>
                    <a:lstStyle/>
                    <a:p>
                      <a:pPr algn="ctr">
                        <a:defRPr sz="1100">
                          <a:solidFill>
                            <a:srgbClr val="000000"/>
                          </a:solidFill>
                        </a:defRPr>
                      </a:pPr>
                      <a:r>
                        <a:t>0.804</a:t>
                      </a:r>
                    </a:p>
                  </a:txBody>
                  <a:tcPr/>
                </a:tc>
                <a:tc>
                  <a:txBody>
                    <a:bodyPr/>
                    <a:lstStyle/>
                    <a:p>
                      <a:pPr algn="ctr">
                        <a:defRPr sz="1100">
                          <a:solidFill>
                            <a:srgbClr val="000000"/>
                          </a:solidFill>
                        </a:defRPr>
                      </a:pPr>
                      <a:r>
                        <a:t>0.921</a:t>
                      </a:r>
                    </a:p>
                  </a:txBody>
                  <a:tcPr/>
                </a:tc>
                <a:tc>
                  <a:txBody>
                    <a:bodyPr/>
                    <a:lstStyle/>
                    <a:p>
                      <a:pPr algn="ctr">
                        <a:defRPr sz="1100">
                          <a:solidFill>
                            <a:srgbClr val="000000"/>
                          </a:solidFill>
                        </a:defRPr>
                      </a:pPr>
                      <a:r>
                        <a:t>0.414</a:t>
                      </a:r>
                    </a:p>
                  </a:txBody>
                  <a:tcPr/>
                </a:tc>
                <a:tc>
                  <a:txBody>
                    <a:bodyPr/>
                    <a:lstStyle/>
                    <a:p>
                      <a:pPr algn="ctr">
                        <a:defRPr sz="1100">
                          <a:solidFill>
                            <a:srgbClr val="000000"/>
                          </a:solidFill>
                        </a:defRPr>
                      </a:pPr>
                      <a:r>
                        <a:t>0.571</a:t>
                      </a:r>
                    </a:p>
                  </a:txBody>
                  <a:tcPr/>
                </a:tc>
                <a:tc>
                  <a:txBody>
                    <a:bodyPr/>
                    <a:lstStyle/>
                    <a:p>
                      <a:pPr algn="ctr">
                        <a:defRPr sz="1100">
                          <a:solidFill>
                            <a:srgbClr val="000000"/>
                          </a:solidFill>
                        </a:defRPr>
                      </a:pPr>
                      <a:r>
                        <a:t>0.466</a:t>
                      </a:r>
                    </a:p>
                  </a:txBody>
                  <a:tcPr/>
                </a:tc>
                <a:extLst>
                  <a:ext uri="{0D108BD9-81ED-4DB2-BD59-A6C34878D82A}">
                    <a16:rowId xmlns:a16="http://schemas.microsoft.com/office/drawing/2014/main" val="10005"/>
                  </a:ext>
                </a:extLst>
              </a:tr>
              <a:tr h="548640">
                <a:tc>
                  <a:txBody>
                    <a:bodyPr/>
                    <a:lstStyle/>
                    <a:p>
                      <a:pPr algn="l">
                        <a:defRPr sz="1100">
                          <a:solidFill>
                            <a:srgbClr val="000000"/>
                          </a:solidFill>
                        </a:defRPr>
                      </a:pPr>
                      <a:r>
                        <a:rPr dirty="0"/>
                        <a:t>Mean ± Std</a:t>
                      </a:r>
                    </a:p>
                  </a:txBody>
                  <a:tcPr/>
                </a:tc>
                <a:tc>
                  <a:txBody>
                    <a:bodyPr/>
                    <a:lstStyle/>
                    <a:p>
                      <a:pPr algn="ctr">
                        <a:defRPr sz="1100">
                          <a:solidFill>
                            <a:srgbClr val="000000"/>
                          </a:solidFill>
                        </a:defRPr>
                      </a:pPr>
                      <a:r>
                        <a:t>0.850 ± 0.042</a:t>
                      </a:r>
                    </a:p>
                  </a:txBody>
                  <a:tcPr/>
                </a:tc>
                <a:tc>
                  <a:txBody>
                    <a:bodyPr/>
                    <a:lstStyle/>
                    <a:p>
                      <a:pPr algn="ctr">
                        <a:defRPr sz="1100">
                          <a:solidFill>
                            <a:srgbClr val="000000"/>
                          </a:solidFill>
                        </a:defRPr>
                      </a:pPr>
                      <a:r>
                        <a:t>0.849 ± 0.054</a:t>
                      </a:r>
                    </a:p>
                  </a:txBody>
                  <a:tcPr/>
                </a:tc>
                <a:tc>
                  <a:txBody>
                    <a:bodyPr/>
                    <a:lstStyle/>
                    <a:p>
                      <a:pPr algn="ctr">
                        <a:defRPr sz="1100">
                          <a:solidFill>
                            <a:srgbClr val="000000"/>
                          </a:solidFill>
                        </a:defRPr>
                      </a:pPr>
                      <a:r>
                        <a:t>0.621 ± 0.131</a:t>
                      </a:r>
                    </a:p>
                  </a:txBody>
                  <a:tcPr/>
                </a:tc>
                <a:tc>
                  <a:txBody>
                    <a:bodyPr/>
                    <a:lstStyle/>
                    <a:p>
                      <a:pPr algn="ctr">
                        <a:defRPr sz="1100">
                          <a:solidFill>
                            <a:srgbClr val="000000"/>
                          </a:solidFill>
                        </a:defRPr>
                      </a:pPr>
                      <a:r>
                        <a:t>0.708 ± 0.091</a:t>
                      </a:r>
                    </a:p>
                  </a:txBody>
                  <a:tcPr/>
                </a:tc>
                <a:tc>
                  <a:txBody>
                    <a:bodyPr/>
                    <a:lstStyle/>
                    <a:p>
                      <a:pPr algn="ctr">
                        <a:defRPr sz="1100">
                          <a:solidFill>
                            <a:srgbClr val="000000"/>
                          </a:solidFill>
                        </a:defRPr>
                      </a:pPr>
                      <a:r>
                        <a:rPr dirty="0"/>
                        <a:t>0.613 ± 0.107</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82880"/>
            <a:ext cx="8229600" cy="548640"/>
          </a:xfrm>
          <a:prstGeom prst="rect">
            <a:avLst/>
          </a:prstGeom>
          <a:noFill/>
        </p:spPr>
        <p:txBody>
          <a:bodyPr wrap="none">
            <a:spAutoFit/>
          </a:bodyPr>
          <a:lstStyle/>
          <a:p>
            <a:pPr algn="l">
              <a:defRPr sz="2000" b="1"/>
            </a:pPr>
            <a:r>
              <a:rPr dirty="0"/>
              <a:t>ResNet-101  |  Correct setup</a:t>
            </a:r>
          </a:p>
        </p:txBody>
      </p:sp>
      <p:graphicFrame>
        <p:nvGraphicFramePr>
          <p:cNvPr id="3" name="Table 2"/>
          <p:cNvGraphicFramePr>
            <a:graphicFrameLocks noGrp="1"/>
          </p:cNvGraphicFramePr>
          <p:nvPr/>
        </p:nvGraphicFramePr>
        <p:xfrm>
          <a:off x="365760" y="1005840"/>
          <a:ext cx="8229600" cy="38404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48640">
                <a:tc>
                  <a:txBody>
                    <a:bodyPr/>
                    <a:lstStyle/>
                    <a:p>
                      <a:pPr algn="ctr">
                        <a:defRPr sz="1200" b="1">
                          <a:solidFill>
                            <a:srgbClr val="000000"/>
                          </a:solidFill>
                        </a:defRPr>
                      </a:pPr>
                      <a:r>
                        <a:t>Fold</a:t>
                      </a:r>
                    </a:p>
                  </a:txBody>
                  <a:tcPr/>
                </a:tc>
                <a:tc>
                  <a:txBody>
                    <a:bodyPr/>
                    <a:lstStyle/>
                    <a:p>
                      <a:pPr algn="ctr">
                        <a:defRPr sz="1200" b="1">
                          <a:solidFill>
                            <a:srgbClr val="000000"/>
                          </a:solidFill>
                        </a:defRPr>
                      </a:pPr>
                      <a:r>
                        <a:t>Accuracy</a:t>
                      </a:r>
                    </a:p>
                  </a:txBody>
                  <a:tcPr/>
                </a:tc>
                <a:tc>
                  <a:txBody>
                    <a:bodyPr/>
                    <a:lstStyle/>
                    <a:p>
                      <a:pPr algn="ctr">
                        <a:defRPr sz="1200" b="1">
                          <a:solidFill>
                            <a:srgbClr val="000000"/>
                          </a:solidFill>
                        </a:defRPr>
                      </a:pPr>
                      <a:r>
                        <a:t>Precision</a:t>
                      </a:r>
                    </a:p>
                  </a:txBody>
                  <a:tcPr/>
                </a:tc>
                <a:tc>
                  <a:txBody>
                    <a:bodyPr/>
                    <a:lstStyle/>
                    <a:p>
                      <a:pPr algn="ctr">
                        <a:defRPr sz="1200" b="1">
                          <a:solidFill>
                            <a:srgbClr val="000000"/>
                          </a:solidFill>
                        </a:defRPr>
                      </a:pPr>
                      <a:r>
                        <a:t>Recall</a:t>
                      </a:r>
                    </a:p>
                  </a:txBody>
                  <a:tcPr/>
                </a:tc>
                <a:tc>
                  <a:txBody>
                    <a:bodyPr/>
                    <a:lstStyle/>
                    <a:p>
                      <a:pPr algn="ctr">
                        <a:defRPr sz="1200" b="1">
                          <a:solidFill>
                            <a:srgbClr val="000000"/>
                          </a:solidFill>
                        </a:defRPr>
                      </a:pPr>
                      <a:r>
                        <a:t>F1</a:t>
                      </a:r>
                    </a:p>
                  </a:txBody>
                  <a:tcPr/>
                </a:tc>
                <a:tc>
                  <a:txBody>
                    <a:bodyPr/>
                    <a:lstStyle/>
                    <a:p>
                      <a:pPr algn="ctr">
                        <a:defRPr sz="1200" b="1">
                          <a:solidFill>
                            <a:srgbClr val="000000"/>
                          </a:solidFill>
                        </a:defRPr>
                      </a:pPr>
                      <a:r>
                        <a:t>Cohen's κ</a:t>
                      </a:r>
                    </a:p>
                  </a:txBody>
                  <a:tcPr/>
                </a:tc>
                <a:extLst>
                  <a:ext uri="{0D108BD9-81ED-4DB2-BD59-A6C34878D82A}">
                    <a16:rowId xmlns:a16="http://schemas.microsoft.com/office/drawing/2014/main" val="10000"/>
                  </a:ext>
                </a:extLst>
              </a:tr>
              <a:tr h="548640">
                <a:tc>
                  <a:txBody>
                    <a:bodyPr/>
                    <a:lstStyle/>
                    <a:p>
                      <a:pPr algn="l">
                        <a:defRPr sz="1100">
                          <a:solidFill>
                            <a:srgbClr val="000000"/>
                          </a:solidFill>
                        </a:defRPr>
                      </a:pPr>
                      <a:r>
                        <a:t>Fold 1</a:t>
                      </a:r>
                    </a:p>
                  </a:txBody>
                  <a:tcPr/>
                </a:tc>
                <a:tc>
                  <a:txBody>
                    <a:bodyPr/>
                    <a:lstStyle/>
                    <a:p>
                      <a:pPr algn="ctr">
                        <a:defRPr sz="1100">
                          <a:solidFill>
                            <a:srgbClr val="000000"/>
                          </a:solidFill>
                        </a:defRPr>
                      </a:pPr>
                      <a:r>
                        <a:t>0.850</a:t>
                      </a:r>
                    </a:p>
                  </a:txBody>
                  <a:tcPr/>
                </a:tc>
                <a:tc>
                  <a:txBody>
                    <a:bodyPr/>
                    <a:lstStyle/>
                    <a:p>
                      <a:pPr algn="ctr">
                        <a:defRPr sz="1100">
                          <a:solidFill>
                            <a:srgbClr val="000000"/>
                          </a:solidFill>
                        </a:defRPr>
                      </a:pPr>
                      <a:r>
                        <a:t>0.451</a:t>
                      </a:r>
                    </a:p>
                  </a:txBody>
                  <a:tcPr/>
                </a:tc>
                <a:tc>
                  <a:txBody>
                    <a:bodyPr/>
                    <a:lstStyle/>
                    <a:p>
                      <a:pPr algn="ctr">
                        <a:defRPr sz="1100">
                          <a:solidFill>
                            <a:srgbClr val="000000"/>
                          </a:solidFill>
                        </a:defRPr>
                      </a:pPr>
                      <a:r>
                        <a:t>0.276</a:t>
                      </a:r>
                    </a:p>
                  </a:txBody>
                  <a:tcPr/>
                </a:tc>
                <a:tc>
                  <a:txBody>
                    <a:bodyPr/>
                    <a:lstStyle/>
                    <a:p>
                      <a:pPr algn="ctr">
                        <a:defRPr sz="1100">
                          <a:solidFill>
                            <a:srgbClr val="000000"/>
                          </a:solidFill>
                        </a:defRPr>
                      </a:pPr>
                      <a:r>
                        <a:t>0.342</a:t>
                      </a:r>
                    </a:p>
                  </a:txBody>
                  <a:tcPr/>
                </a:tc>
                <a:tc>
                  <a:txBody>
                    <a:bodyPr/>
                    <a:lstStyle/>
                    <a:p>
                      <a:pPr algn="ctr">
                        <a:defRPr sz="1100">
                          <a:solidFill>
                            <a:srgbClr val="000000"/>
                          </a:solidFill>
                        </a:defRPr>
                      </a:pPr>
                      <a:r>
                        <a:t>0.263</a:t>
                      </a:r>
                    </a:p>
                  </a:txBody>
                  <a:tcPr/>
                </a:tc>
                <a:extLst>
                  <a:ext uri="{0D108BD9-81ED-4DB2-BD59-A6C34878D82A}">
                    <a16:rowId xmlns:a16="http://schemas.microsoft.com/office/drawing/2014/main" val="10001"/>
                  </a:ext>
                </a:extLst>
              </a:tr>
              <a:tr h="548640">
                <a:tc>
                  <a:txBody>
                    <a:bodyPr/>
                    <a:lstStyle/>
                    <a:p>
                      <a:pPr algn="l">
                        <a:defRPr sz="1100">
                          <a:solidFill>
                            <a:srgbClr val="000000"/>
                          </a:solidFill>
                        </a:defRPr>
                      </a:pPr>
                      <a:r>
                        <a:t>Fold 2</a:t>
                      </a:r>
                    </a:p>
                  </a:txBody>
                  <a:tcPr/>
                </a:tc>
                <a:tc>
                  <a:txBody>
                    <a:bodyPr/>
                    <a:lstStyle/>
                    <a:p>
                      <a:pPr algn="ctr">
                        <a:defRPr sz="1100">
                          <a:solidFill>
                            <a:srgbClr val="000000"/>
                          </a:solidFill>
                        </a:defRPr>
                      </a:pPr>
                      <a:r>
                        <a:t>0.867</a:t>
                      </a:r>
                    </a:p>
                  </a:txBody>
                  <a:tcPr/>
                </a:tc>
                <a:tc>
                  <a:txBody>
                    <a:bodyPr/>
                    <a:lstStyle/>
                    <a:p>
                      <a:pPr algn="ctr">
                        <a:defRPr sz="1100">
                          <a:solidFill>
                            <a:srgbClr val="000000"/>
                          </a:solidFill>
                        </a:defRPr>
                      </a:pPr>
                      <a:r>
                        <a:t>0.389</a:t>
                      </a:r>
                    </a:p>
                  </a:txBody>
                  <a:tcPr/>
                </a:tc>
                <a:tc>
                  <a:txBody>
                    <a:bodyPr/>
                    <a:lstStyle/>
                    <a:p>
                      <a:pPr algn="ctr">
                        <a:defRPr sz="1100">
                          <a:solidFill>
                            <a:srgbClr val="000000"/>
                          </a:solidFill>
                        </a:defRPr>
                      </a:pPr>
                      <a:r>
                        <a:t>0.291</a:t>
                      </a:r>
                    </a:p>
                  </a:txBody>
                  <a:tcPr/>
                </a:tc>
                <a:tc>
                  <a:txBody>
                    <a:bodyPr/>
                    <a:lstStyle/>
                    <a:p>
                      <a:pPr algn="ctr">
                        <a:defRPr sz="1100">
                          <a:solidFill>
                            <a:srgbClr val="000000"/>
                          </a:solidFill>
                        </a:defRPr>
                      </a:pPr>
                      <a:r>
                        <a:t>0.333</a:t>
                      </a:r>
                    </a:p>
                  </a:txBody>
                  <a:tcPr/>
                </a:tc>
                <a:tc>
                  <a:txBody>
                    <a:bodyPr/>
                    <a:lstStyle/>
                    <a:p>
                      <a:pPr algn="ctr">
                        <a:defRPr sz="1100">
                          <a:solidFill>
                            <a:srgbClr val="000000"/>
                          </a:solidFill>
                        </a:defRPr>
                      </a:pPr>
                      <a:r>
                        <a:t>0.261</a:t>
                      </a:r>
                    </a:p>
                  </a:txBody>
                  <a:tcPr/>
                </a:tc>
                <a:extLst>
                  <a:ext uri="{0D108BD9-81ED-4DB2-BD59-A6C34878D82A}">
                    <a16:rowId xmlns:a16="http://schemas.microsoft.com/office/drawing/2014/main" val="10002"/>
                  </a:ext>
                </a:extLst>
              </a:tr>
              <a:tr h="548640">
                <a:tc>
                  <a:txBody>
                    <a:bodyPr/>
                    <a:lstStyle/>
                    <a:p>
                      <a:pPr algn="l">
                        <a:defRPr sz="1100">
                          <a:solidFill>
                            <a:srgbClr val="000000"/>
                          </a:solidFill>
                        </a:defRPr>
                      </a:pPr>
                      <a:r>
                        <a:t>Fold 3</a:t>
                      </a:r>
                    </a:p>
                  </a:txBody>
                  <a:tcPr/>
                </a:tc>
                <a:tc>
                  <a:txBody>
                    <a:bodyPr/>
                    <a:lstStyle/>
                    <a:p>
                      <a:pPr algn="ctr">
                        <a:defRPr sz="1100">
                          <a:solidFill>
                            <a:srgbClr val="000000"/>
                          </a:solidFill>
                        </a:defRPr>
                      </a:pPr>
                      <a:r>
                        <a:t>0.818</a:t>
                      </a:r>
                    </a:p>
                  </a:txBody>
                  <a:tcPr/>
                </a:tc>
                <a:tc>
                  <a:txBody>
                    <a:bodyPr/>
                    <a:lstStyle/>
                    <a:p>
                      <a:pPr algn="ctr">
                        <a:defRPr sz="1100">
                          <a:solidFill>
                            <a:srgbClr val="000000"/>
                          </a:solidFill>
                        </a:defRPr>
                      </a:pPr>
                      <a:r>
                        <a:t>0.638</a:t>
                      </a:r>
                    </a:p>
                  </a:txBody>
                  <a:tcPr/>
                </a:tc>
                <a:tc>
                  <a:txBody>
                    <a:bodyPr/>
                    <a:lstStyle/>
                    <a:p>
                      <a:pPr algn="ctr">
                        <a:defRPr sz="1100">
                          <a:solidFill>
                            <a:srgbClr val="000000"/>
                          </a:solidFill>
                        </a:defRPr>
                      </a:pPr>
                      <a:r>
                        <a:t>0.072</a:t>
                      </a:r>
                    </a:p>
                  </a:txBody>
                  <a:tcPr/>
                </a:tc>
                <a:tc>
                  <a:txBody>
                    <a:bodyPr/>
                    <a:lstStyle/>
                    <a:p>
                      <a:pPr algn="ctr">
                        <a:defRPr sz="1100">
                          <a:solidFill>
                            <a:srgbClr val="000000"/>
                          </a:solidFill>
                        </a:defRPr>
                      </a:pPr>
                      <a:r>
                        <a:t>0.130</a:t>
                      </a:r>
                    </a:p>
                  </a:txBody>
                  <a:tcPr/>
                </a:tc>
                <a:tc>
                  <a:txBody>
                    <a:bodyPr/>
                    <a:lstStyle/>
                    <a:p>
                      <a:pPr algn="ctr">
                        <a:defRPr sz="1100">
                          <a:solidFill>
                            <a:srgbClr val="000000"/>
                          </a:solidFill>
                        </a:defRPr>
                      </a:pPr>
                      <a:r>
                        <a:t>0.095</a:t>
                      </a:r>
                    </a:p>
                  </a:txBody>
                  <a:tcPr/>
                </a:tc>
                <a:extLst>
                  <a:ext uri="{0D108BD9-81ED-4DB2-BD59-A6C34878D82A}">
                    <a16:rowId xmlns:a16="http://schemas.microsoft.com/office/drawing/2014/main" val="10003"/>
                  </a:ext>
                </a:extLst>
              </a:tr>
              <a:tr h="548640">
                <a:tc>
                  <a:txBody>
                    <a:bodyPr/>
                    <a:lstStyle/>
                    <a:p>
                      <a:pPr algn="l">
                        <a:defRPr sz="1100">
                          <a:solidFill>
                            <a:srgbClr val="000000"/>
                          </a:solidFill>
                        </a:defRPr>
                      </a:pPr>
                      <a:r>
                        <a:t>Fold 4</a:t>
                      </a:r>
                    </a:p>
                  </a:txBody>
                  <a:tcPr/>
                </a:tc>
                <a:tc>
                  <a:txBody>
                    <a:bodyPr/>
                    <a:lstStyle/>
                    <a:p>
                      <a:pPr algn="ctr">
                        <a:defRPr sz="1100">
                          <a:solidFill>
                            <a:srgbClr val="000000"/>
                          </a:solidFill>
                        </a:defRPr>
                      </a:pPr>
                      <a:r>
                        <a:t>0.831</a:t>
                      </a:r>
                    </a:p>
                  </a:txBody>
                  <a:tcPr/>
                </a:tc>
                <a:tc>
                  <a:txBody>
                    <a:bodyPr/>
                    <a:lstStyle/>
                    <a:p>
                      <a:pPr algn="ctr">
                        <a:defRPr sz="1100">
                          <a:solidFill>
                            <a:srgbClr val="000000"/>
                          </a:solidFill>
                        </a:defRPr>
                      </a:pPr>
                      <a:r>
                        <a:t>0.583</a:t>
                      </a:r>
                    </a:p>
                  </a:txBody>
                  <a:tcPr/>
                </a:tc>
                <a:tc>
                  <a:txBody>
                    <a:bodyPr/>
                    <a:lstStyle/>
                    <a:p>
                      <a:pPr algn="ctr">
                        <a:defRPr sz="1100">
                          <a:solidFill>
                            <a:srgbClr val="000000"/>
                          </a:solidFill>
                        </a:defRPr>
                      </a:pPr>
                      <a:r>
                        <a:t>0.259</a:t>
                      </a:r>
                    </a:p>
                  </a:txBody>
                  <a:tcPr/>
                </a:tc>
                <a:tc>
                  <a:txBody>
                    <a:bodyPr/>
                    <a:lstStyle/>
                    <a:p>
                      <a:pPr algn="ctr">
                        <a:defRPr sz="1100">
                          <a:solidFill>
                            <a:srgbClr val="000000"/>
                          </a:solidFill>
                        </a:defRPr>
                      </a:pPr>
                      <a:r>
                        <a:t>0.359</a:t>
                      </a:r>
                    </a:p>
                  </a:txBody>
                  <a:tcPr/>
                </a:tc>
                <a:tc>
                  <a:txBody>
                    <a:bodyPr/>
                    <a:lstStyle/>
                    <a:p>
                      <a:pPr algn="ctr">
                        <a:defRPr sz="1100">
                          <a:solidFill>
                            <a:srgbClr val="000000"/>
                          </a:solidFill>
                        </a:defRPr>
                      </a:pPr>
                      <a:r>
                        <a:t>0.278</a:t>
                      </a:r>
                    </a:p>
                  </a:txBody>
                  <a:tcPr/>
                </a:tc>
                <a:extLst>
                  <a:ext uri="{0D108BD9-81ED-4DB2-BD59-A6C34878D82A}">
                    <a16:rowId xmlns:a16="http://schemas.microsoft.com/office/drawing/2014/main" val="10004"/>
                  </a:ext>
                </a:extLst>
              </a:tr>
              <a:tr h="548640">
                <a:tc>
                  <a:txBody>
                    <a:bodyPr/>
                    <a:lstStyle/>
                    <a:p>
                      <a:pPr algn="l">
                        <a:defRPr sz="1100">
                          <a:solidFill>
                            <a:srgbClr val="000000"/>
                          </a:solidFill>
                        </a:defRPr>
                      </a:pPr>
                      <a:r>
                        <a:t>Fold 5</a:t>
                      </a:r>
                    </a:p>
                  </a:txBody>
                  <a:tcPr/>
                </a:tc>
                <a:tc>
                  <a:txBody>
                    <a:bodyPr/>
                    <a:lstStyle/>
                    <a:p>
                      <a:pPr algn="ctr">
                        <a:defRPr sz="1100">
                          <a:solidFill>
                            <a:srgbClr val="000000"/>
                          </a:solidFill>
                        </a:defRPr>
                      </a:pPr>
                      <a:r>
                        <a:t>0.828</a:t>
                      </a:r>
                    </a:p>
                  </a:txBody>
                  <a:tcPr/>
                </a:tc>
                <a:tc>
                  <a:txBody>
                    <a:bodyPr/>
                    <a:lstStyle/>
                    <a:p>
                      <a:pPr algn="ctr">
                        <a:defRPr sz="1100">
                          <a:solidFill>
                            <a:srgbClr val="000000"/>
                          </a:solidFill>
                        </a:defRPr>
                      </a:pPr>
                      <a:r>
                        <a:t>0.512</a:t>
                      </a:r>
                    </a:p>
                  </a:txBody>
                  <a:tcPr/>
                </a:tc>
                <a:tc>
                  <a:txBody>
                    <a:bodyPr/>
                    <a:lstStyle/>
                    <a:p>
                      <a:pPr algn="ctr">
                        <a:defRPr sz="1100">
                          <a:solidFill>
                            <a:srgbClr val="000000"/>
                          </a:solidFill>
                        </a:defRPr>
                      </a:pPr>
                      <a:r>
                        <a:t>0.134</a:t>
                      </a:r>
                    </a:p>
                  </a:txBody>
                  <a:tcPr/>
                </a:tc>
                <a:tc>
                  <a:txBody>
                    <a:bodyPr/>
                    <a:lstStyle/>
                    <a:p>
                      <a:pPr algn="ctr">
                        <a:defRPr sz="1100">
                          <a:solidFill>
                            <a:srgbClr val="000000"/>
                          </a:solidFill>
                        </a:defRPr>
                      </a:pPr>
                      <a:r>
                        <a:t>0.213</a:t>
                      </a:r>
                    </a:p>
                  </a:txBody>
                  <a:tcPr/>
                </a:tc>
                <a:tc>
                  <a:txBody>
                    <a:bodyPr/>
                    <a:lstStyle/>
                    <a:p>
                      <a:pPr algn="ctr">
                        <a:defRPr sz="1100">
                          <a:solidFill>
                            <a:srgbClr val="000000"/>
                          </a:solidFill>
                        </a:defRPr>
                      </a:pPr>
                      <a:r>
                        <a:t>0.151</a:t>
                      </a:r>
                    </a:p>
                  </a:txBody>
                  <a:tcPr/>
                </a:tc>
                <a:extLst>
                  <a:ext uri="{0D108BD9-81ED-4DB2-BD59-A6C34878D82A}">
                    <a16:rowId xmlns:a16="http://schemas.microsoft.com/office/drawing/2014/main" val="10005"/>
                  </a:ext>
                </a:extLst>
              </a:tr>
              <a:tr h="548640">
                <a:tc>
                  <a:txBody>
                    <a:bodyPr/>
                    <a:lstStyle/>
                    <a:p>
                      <a:pPr algn="l">
                        <a:defRPr sz="1100">
                          <a:solidFill>
                            <a:srgbClr val="000000"/>
                          </a:solidFill>
                        </a:defRPr>
                      </a:pPr>
                      <a:r>
                        <a:t>Mean ± Std</a:t>
                      </a:r>
                    </a:p>
                  </a:txBody>
                  <a:tcPr/>
                </a:tc>
                <a:tc>
                  <a:txBody>
                    <a:bodyPr/>
                    <a:lstStyle/>
                    <a:p>
                      <a:pPr algn="ctr">
                        <a:defRPr sz="1100">
                          <a:solidFill>
                            <a:srgbClr val="000000"/>
                          </a:solidFill>
                        </a:defRPr>
                      </a:pPr>
                      <a:r>
                        <a:rPr dirty="0"/>
                        <a:t>0.839 ± 0.020</a:t>
                      </a:r>
                    </a:p>
                  </a:txBody>
                  <a:tcPr/>
                </a:tc>
                <a:tc>
                  <a:txBody>
                    <a:bodyPr/>
                    <a:lstStyle/>
                    <a:p>
                      <a:pPr algn="ctr">
                        <a:defRPr sz="1100">
                          <a:solidFill>
                            <a:srgbClr val="000000"/>
                          </a:solidFill>
                        </a:defRPr>
                      </a:pPr>
                      <a:r>
                        <a:t>0.515 ± 0.100</a:t>
                      </a:r>
                    </a:p>
                  </a:txBody>
                  <a:tcPr/>
                </a:tc>
                <a:tc>
                  <a:txBody>
                    <a:bodyPr/>
                    <a:lstStyle/>
                    <a:p>
                      <a:pPr algn="ctr">
                        <a:defRPr sz="1100">
                          <a:solidFill>
                            <a:srgbClr val="000000"/>
                          </a:solidFill>
                        </a:defRPr>
                      </a:pPr>
                      <a:r>
                        <a:rPr dirty="0"/>
                        <a:t>0.206 ± 0.097</a:t>
                      </a:r>
                    </a:p>
                  </a:txBody>
                  <a:tcPr/>
                </a:tc>
                <a:tc>
                  <a:txBody>
                    <a:bodyPr/>
                    <a:lstStyle/>
                    <a:p>
                      <a:pPr algn="ctr">
                        <a:defRPr sz="1100">
                          <a:solidFill>
                            <a:srgbClr val="000000"/>
                          </a:solidFill>
                        </a:defRPr>
                      </a:pPr>
                      <a:r>
                        <a:rPr dirty="0"/>
                        <a:t>0.275 ± 0.100</a:t>
                      </a:r>
                    </a:p>
                  </a:txBody>
                  <a:tcPr/>
                </a:tc>
                <a:tc>
                  <a:txBody>
                    <a:bodyPr/>
                    <a:lstStyle/>
                    <a:p>
                      <a:pPr algn="ctr">
                        <a:defRPr sz="1100">
                          <a:solidFill>
                            <a:srgbClr val="000000"/>
                          </a:solidFill>
                        </a:defRPr>
                      </a:pPr>
                      <a:r>
                        <a:rPr dirty="0"/>
                        <a:t>0.210 ± 0.082</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82880"/>
            <a:ext cx="8229600" cy="548640"/>
          </a:xfrm>
          <a:prstGeom prst="rect">
            <a:avLst/>
          </a:prstGeom>
          <a:noFill/>
        </p:spPr>
        <p:txBody>
          <a:bodyPr wrap="none">
            <a:spAutoFit/>
          </a:bodyPr>
          <a:lstStyle/>
          <a:p>
            <a:pPr algn="l">
              <a:defRPr sz="2000" b="1"/>
            </a:pPr>
            <a:r>
              <a:rPr dirty="0"/>
              <a:t>ResNet-101  |  Paper setup + </a:t>
            </a:r>
            <a:r>
              <a:rPr dirty="0" err="1"/>
              <a:t>Preproc</a:t>
            </a:r>
            <a:endParaRPr dirty="0"/>
          </a:p>
        </p:txBody>
      </p:sp>
      <p:graphicFrame>
        <p:nvGraphicFramePr>
          <p:cNvPr id="3" name="Table 2"/>
          <p:cNvGraphicFramePr>
            <a:graphicFrameLocks noGrp="1"/>
          </p:cNvGraphicFramePr>
          <p:nvPr/>
        </p:nvGraphicFramePr>
        <p:xfrm>
          <a:off x="365760" y="1005840"/>
          <a:ext cx="8229600" cy="38404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48640">
                <a:tc>
                  <a:txBody>
                    <a:bodyPr/>
                    <a:lstStyle/>
                    <a:p>
                      <a:pPr algn="ctr">
                        <a:defRPr sz="1200" b="1">
                          <a:solidFill>
                            <a:srgbClr val="000000"/>
                          </a:solidFill>
                        </a:defRPr>
                      </a:pPr>
                      <a:r>
                        <a:t>Fold</a:t>
                      </a:r>
                    </a:p>
                  </a:txBody>
                  <a:tcPr/>
                </a:tc>
                <a:tc>
                  <a:txBody>
                    <a:bodyPr/>
                    <a:lstStyle/>
                    <a:p>
                      <a:pPr algn="ctr">
                        <a:defRPr sz="1200" b="1">
                          <a:solidFill>
                            <a:srgbClr val="000000"/>
                          </a:solidFill>
                        </a:defRPr>
                      </a:pPr>
                      <a:r>
                        <a:t>Accuracy</a:t>
                      </a:r>
                    </a:p>
                  </a:txBody>
                  <a:tcPr/>
                </a:tc>
                <a:tc>
                  <a:txBody>
                    <a:bodyPr/>
                    <a:lstStyle/>
                    <a:p>
                      <a:pPr algn="ctr">
                        <a:defRPr sz="1200" b="1">
                          <a:solidFill>
                            <a:srgbClr val="000000"/>
                          </a:solidFill>
                        </a:defRPr>
                      </a:pPr>
                      <a:r>
                        <a:t>Precision</a:t>
                      </a:r>
                    </a:p>
                  </a:txBody>
                  <a:tcPr/>
                </a:tc>
                <a:tc>
                  <a:txBody>
                    <a:bodyPr/>
                    <a:lstStyle/>
                    <a:p>
                      <a:pPr algn="ctr">
                        <a:defRPr sz="1200" b="1">
                          <a:solidFill>
                            <a:srgbClr val="000000"/>
                          </a:solidFill>
                        </a:defRPr>
                      </a:pPr>
                      <a:r>
                        <a:t>Recall</a:t>
                      </a:r>
                    </a:p>
                  </a:txBody>
                  <a:tcPr/>
                </a:tc>
                <a:tc>
                  <a:txBody>
                    <a:bodyPr/>
                    <a:lstStyle/>
                    <a:p>
                      <a:pPr algn="ctr">
                        <a:defRPr sz="1200" b="1">
                          <a:solidFill>
                            <a:srgbClr val="000000"/>
                          </a:solidFill>
                        </a:defRPr>
                      </a:pPr>
                      <a:r>
                        <a:t>F1</a:t>
                      </a:r>
                    </a:p>
                  </a:txBody>
                  <a:tcPr/>
                </a:tc>
                <a:tc>
                  <a:txBody>
                    <a:bodyPr/>
                    <a:lstStyle/>
                    <a:p>
                      <a:pPr algn="ctr">
                        <a:defRPr sz="1200" b="1">
                          <a:solidFill>
                            <a:srgbClr val="000000"/>
                          </a:solidFill>
                        </a:defRPr>
                      </a:pPr>
                      <a:r>
                        <a:t>Cohen's κ</a:t>
                      </a:r>
                    </a:p>
                  </a:txBody>
                  <a:tcPr/>
                </a:tc>
                <a:extLst>
                  <a:ext uri="{0D108BD9-81ED-4DB2-BD59-A6C34878D82A}">
                    <a16:rowId xmlns:a16="http://schemas.microsoft.com/office/drawing/2014/main" val="10000"/>
                  </a:ext>
                </a:extLst>
              </a:tr>
              <a:tr h="548640">
                <a:tc>
                  <a:txBody>
                    <a:bodyPr/>
                    <a:lstStyle/>
                    <a:p>
                      <a:pPr algn="l">
                        <a:defRPr sz="1100">
                          <a:solidFill>
                            <a:srgbClr val="000000"/>
                          </a:solidFill>
                        </a:defRPr>
                      </a:pPr>
                      <a:r>
                        <a:t>Fold 1</a:t>
                      </a:r>
                    </a:p>
                  </a:txBody>
                  <a:tcPr/>
                </a:tc>
                <a:tc>
                  <a:txBody>
                    <a:bodyPr/>
                    <a:lstStyle/>
                    <a:p>
                      <a:pPr algn="ctr">
                        <a:defRPr sz="1100">
                          <a:solidFill>
                            <a:srgbClr val="000000"/>
                          </a:solidFill>
                        </a:defRPr>
                      </a:pPr>
                      <a:r>
                        <a:t>0.997</a:t>
                      </a:r>
                    </a:p>
                  </a:txBody>
                  <a:tcPr/>
                </a:tc>
                <a:tc>
                  <a:txBody>
                    <a:bodyPr/>
                    <a:lstStyle/>
                    <a:p>
                      <a:pPr algn="ctr">
                        <a:defRPr sz="1100">
                          <a:solidFill>
                            <a:srgbClr val="000000"/>
                          </a:solidFill>
                        </a:defRPr>
                      </a:pPr>
                      <a:r>
                        <a:t>1.000</a:t>
                      </a:r>
                    </a:p>
                  </a:txBody>
                  <a:tcPr/>
                </a:tc>
                <a:tc>
                  <a:txBody>
                    <a:bodyPr/>
                    <a:lstStyle/>
                    <a:p>
                      <a:pPr algn="ctr">
                        <a:defRPr sz="1100">
                          <a:solidFill>
                            <a:srgbClr val="000000"/>
                          </a:solidFill>
                        </a:defRPr>
                      </a:pPr>
                      <a:r>
                        <a:t>0.989</a:t>
                      </a:r>
                    </a:p>
                  </a:txBody>
                  <a:tcPr/>
                </a:tc>
                <a:tc>
                  <a:txBody>
                    <a:bodyPr/>
                    <a:lstStyle/>
                    <a:p>
                      <a:pPr algn="ctr">
                        <a:defRPr sz="1100">
                          <a:solidFill>
                            <a:srgbClr val="000000"/>
                          </a:solidFill>
                        </a:defRPr>
                      </a:pPr>
                      <a:r>
                        <a:t>0.994</a:t>
                      </a:r>
                    </a:p>
                  </a:txBody>
                  <a:tcPr/>
                </a:tc>
                <a:tc>
                  <a:txBody>
                    <a:bodyPr/>
                    <a:lstStyle/>
                    <a:p>
                      <a:pPr algn="ctr">
                        <a:defRPr sz="1100">
                          <a:solidFill>
                            <a:srgbClr val="000000"/>
                          </a:solidFill>
                        </a:defRPr>
                      </a:pPr>
                      <a:r>
                        <a:t>0.992</a:t>
                      </a:r>
                    </a:p>
                  </a:txBody>
                  <a:tcPr/>
                </a:tc>
                <a:extLst>
                  <a:ext uri="{0D108BD9-81ED-4DB2-BD59-A6C34878D82A}">
                    <a16:rowId xmlns:a16="http://schemas.microsoft.com/office/drawing/2014/main" val="10001"/>
                  </a:ext>
                </a:extLst>
              </a:tr>
              <a:tr h="548640">
                <a:tc>
                  <a:txBody>
                    <a:bodyPr/>
                    <a:lstStyle/>
                    <a:p>
                      <a:pPr algn="l">
                        <a:defRPr sz="1100">
                          <a:solidFill>
                            <a:srgbClr val="000000"/>
                          </a:solidFill>
                        </a:defRPr>
                      </a:pPr>
                      <a:r>
                        <a:t>Fold 2</a:t>
                      </a:r>
                    </a:p>
                  </a:txBody>
                  <a:tcPr/>
                </a:tc>
                <a:tc>
                  <a:txBody>
                    <a:bodyPr/>
                    <a:lstStyle/>
                    <a:p>
                      <a:pPr algn="ctr">
                        <a:defRPr sz="1100">
                          <a:solidFill>
                            <a:srgbClr val="000000"/>
                          </a:solidFill>
                        </a:defRPr>
                      </a:pPr>
                      <a:r>
                        <a:t>0.997</a:t>
                      </a:r>
                    </a:p>
                  </a:txBody>
                  <a:tcPr/>
                </a:tc>
                <a:tc>
                  <a:txBody>
                    <a:bodyPr/>
                    <a:lstStyle/>
                    <a:p>
                      <a:pPr algn="ctr">
                        <a:defRPr sz="1100">
                          <a:solidFill>
                            <a:srgbClr val="000000"/>
                          </a:solidFill>
                        </a:defRPr>
                      </a:pPr>
                      <a:r>
                        <a:t>0.991</a:t>
                      </a:r>
                    </a:p>
                  </a:txBody>
                  <a:tcPr/>
                </a:tc>
                <a:tc>
                  <a:txBody>
                    <a:bodyPr/>
                    <a:lstStyle/>
                    <a:p>
                      <a:pPr algn="ctr">
                        <a:defRPr sz="1100">
                          <a:solidFill>
                            <a:srgbClr val="000000"/>
                          </a:solidFill>
                        </a:defRPr>
                      </a:pPr>
                      <a:r>
                        <a:t>0.999</a:t>
                      </a:r>
                    </a:p>
                  </a:txBody>
                  <a:tcPr/>
                </a:tc>
                <a:tc>
                  <a:txBody>
                    <a:bodyPr/>
                    <a:lstStyle/>
                    <a:p>
                      <a:pPr algn="ctr">
                        <a:defRPr sz="1100">
                          <a:solidFill>
                            <a:srgbClr val="000000"/>
                          </a:solidFill>
                        </a:defRPr>
                      </a:pPr>
                      <a:r>
                        <a:t>0.995</a:t>
                      </a:r>
                    </a:p>
                  </a:txBody>
                  <a:tcPr/>
                </a:tc>
                <a:tc>
                  <a:txBody>
                    <a:bodyPr/>
                    <a:lstStyle/>
                    <a:p>
                      <a:pPr algn="ctr">
                        <a:defRPr sz="1100">
                          <a:solidFill>
                            <a:srgbClr val="000000"/>
                          </a:solidFill>
                        </a:defRPr>
                      </a:pPr>
                      <a:r>
                        <a:t>0.993</a:t>
                      </a:r>
                    </a:p>
                  </a:txBody>
                  <a:tcPr/>
                </a:tc>
                <a:extLst>
                  <a:ext uri="{0D108BD9-81ED-4DB2-BD59-A6C34878D82A}">
                    <a16:rowId xmlns:a16="http://schemas.microsoft.com/office/drawing/2014/main" val="10002"/>
                  </a:ext>
                </a:extLst>
              </a:tr>
              <a:tr h="548640">
                <a:tc>
                  <a:txBody>
                    <a:bodyPr/>
                    <a:lstStyle/>
                    <a:p>
                      <a:pPr algn="l">
                        <a:defRPr sz="1100">
                          <a:solidFill>
                            <a:srgbClr val="000000"/>
                          </a:solidFill>
                        </a:defRPr>
                      </a:pPr>
                      <a:r>
                        <a:t>Fold 3</a:t>
                      </a:r>
                    </a:p>
                  </a:txBody>
                  <a:tcPr/>
                </a:tc>
                <a:tc>
                  <a:txBody>
                    <a:bodyPr/>
                    <a:lstStyle/>
                    <a:p>
                      <a:pPr algn="ctr">
                        <a:defRPr sz="1100">
                          <a:solidFill>
                            <a:srgbClr val="000000"/>
                          </a:solidFill>
                        </a:defRPr>
                      </a:pPr>
                      <a:r>
                        <a:t>0.996</a:t>
                      </a:r>
                    </a:p>
                  </a:txBody>
                  <a:tcPr/>
                </a:tc>
                <a:tc>
                  <a:txBody>
                    <a:bodyPr/>
                    <a:lstStyle/>
                    <a:p>
                      <a:pPr algn="ctr">
                        <a:defRPr sz="1100">
                          <a:solidFill>
                            <a:srgbClr val="000000"/>
                          </a:solidFill>
                        </a:defRPr>
                      </a:pPr>
                      <a:r>
                        <a:t>0.986</a:t>
                      </a:r>
                    </a:p>
                  </a:txBody>
                  <a:tcPr/>
                </a:tc>
                <a:tc>
                  <a:txBody>
                    <a:bodyPr/>
                    <a:lstStyle/>
                    <a:p>
                      <a:pPr algn="ctr">
                        <a:defRPr sz="1100">
                          <a:solidFill>
                            <a:srgbClr val="000000"/>
                          </a:solidFill>
                        </a:defRPr>
                      </a:pPr>
                      <a:r>
                        <a:t>1.000</a:t>
                      </a:r>
                    </a:p>
                  </a:txBody>
                  <a:tcPr/>
                </a:tc>
                <a:tc>
                  <a:txBody>
                    <a:bodyPr/>
                    <a:lstStyle/>
                    <a:p>
                      <a:pPr algn="ctr">
                        <a:defRPr sz="1100">
                          <a:solidFill>
                            <a:srgbClr val="000000"/>
                          </a:solidFill>
                        </a:defRPr>
                      </a:pPr>
                      <a:r>
                        <a:t>0.993</a:t>
                      </a:r>
                    </a:p>
                  </a:txBody>
                  <a:tcPr/>
                </a:tc>
                <a:tc>
                  <a:txBody>
                    <a:bodyPr/>
                    <a:lstStyle/>
                    <a:p>
                      <a:pPr algn="ctr">
                        <a:defRPr sz="1100">
                          <a:solidFill>
                            <a:srgbClr val="000000"/>
                          </a:solidFill>
                        </a:defRPr>
                      </a:pPr>
                      <a:r>
                        <a:t>0.990</a:t>
                      </a:r>
                    </a:p>
                  </a:txBody>
                  <a:tcPr/>
                </a:tc>
                <a:extLst>
                  <a:ext uri="{0D108BD9-81ED-4DB2-BD59-A6C34878D82A}">
                    <a16:rowId xmlns:a16="http://schemas.microsoft.com/office/drawing/2014/main" val="10003"/>
                  </a:ext>
                </a:extLst>
              </a:tr>
              <a:tr h="548640">
                <a:tc>
                  <a:txBody>
                    <a:bodyPr/>
                    <a:lstStyle/>
                    <a:p>
                      <a:pPr algn="l">
                        <a:defRPr sz="1100">
                          <a:solidFill>
                            <a:srgbClr val="000000"/>
                          </a:solidFill>
                        </a:defRPr>
                      </a:pPr>
                      <a:r>
                        <a:t>Fold 4</a:t>
                      </a:r>
                    </a:p>
                  </a:txBody>
                  <a:tcPr/>
                </a:tc>
                <a:tc>
                  <a:txBody>
                    <a:bodyPr/>
                    <a:lstStyle/>
                    <a:p>
                      <a:pPr algn="ctr">
                        <a:defRPr sz="1100">
                          <a:solidFill>
                            <a:srgbClr val="000000"/>
                          </a:solidFill>
                        </a:defRPr>
                      </a:pPr>
                      <a:r>
                        <a:t>0.987</a:t>
                      </a:r>
                    </a:p>
                  </a:txBody>
                  <a:tcPr/>
                </a:tc>
                <a:tc>
                  <a:txBody>
                    <a:bodyPr/>
                    <a:lstStyle/>
                    <a:p>
                      <a:pPr algn="ctr">
                        <a:defRPr sz="1100">
                          <a:solidFill>
                            <a:srgbClr val="000000"/>
                          </a:solidFill>
                        </a:defRPr>
                      </a:pPr>
                      <a:r>
                        <a:t>0.984</a:t>
                      </a:r>
                    </a:p>
                  </a:txBody>
                  <a:tcPr/>
                </a:tc>
                <a:tc>
                  <a:txBody>
                    <a:bodyPr/>
                    <a:lstStyle/>
                    <a:p>
                      <a:pPr algn="ctr">
                        <a:defRPr sz="1100">
                          <a:solidFill>
                            <a:srgbClr val="000000"/>
                          </a:solidFill>
                        </a:defRPr>
                      </a:pPr>
                      <a:r>
                        <a:t>0.977</a:t>
                      </a:r>
                    </a:p>
                  </a:txBody>
                  <a:tcPr/>
                </a:tc>
                <a:tc>
                  <a:txBody>
                    <a:bodyPr/>
                    <a:lstStyle/>
                    <a:p>
                      <a:pPr algn="ctr">
                        <a:defRPr sz="1100">
                          <a:solidFill>
                            <a:srgbClr val="000000"/>
                          </a:solidFill>
                        </a:defRPr>
                      </a:pPr>
                      <a:r>
                        <a:t>0.981</a:t>
                      </a:r>
                    </a:p>
                  </a:txBody>
                  <a:tcPr/>
                </a:tc>
                <a:tc>
                  <a:txBody>
                    <a:bodyPr/>
                    <a:lstStyle/>
                    <a:p>
                      <a:pPr algn="ctr">
                        <a:defRPr sz="1100">
                          <a:solidFill>
                            <a:srgbClr val="000000"/>
                          </a:solidFill>
                        </a:defRPr>
                      </a:pPr>
                      <a:r>
                        <a:t>0.971</a:t>
                      </a:r>
                    </a:p>
                  </a:txBody>
                  <a:tcPr/>
                </a:tc>
                <a:extLst>
                  <a:ext uri="{0D108BD9-81ED-4DB2-BD59-A6C34878D82A}">
                    <a16:rowId xmlns:a16="http://schemas.microsoft.com/office/drawing/2014/main" val="10004"/>
                  </a:ext>
                </a:extLst>
              </a:tr>
              <a:tr h="548640">
                <a:tc>
                  <a:txBody>
                    <a:bodyPr/>
                    <a:lstStyle/>
                    <a:p>
                      <a:pPr algn="l">
                        <a:defRPr sz="1100">
                          <a:solidFill>
                            <a:srgbClr val="000000"/>
                          </a:solidFill>
                        </a:defRPr>
                      </a:pPr>
                      <a:r>
                        <a:t>Fold 5</a:t>
                      </a:r>
                    </a:p>
                  </a:txBody>
                  <a:tcPr/>
                </a:tc>
                <a:tc>
                  <a:txBody>
                    <a:bodyPr/>
                    <a:lstStyle/>
                    <a:p>
                      <a:pPr algn="ctr">
                        <a:defRPr sz="1100">
                          <a:solidFill>
                            <a:srgbClr val="000000"/>
                          </a:solidFill>
                        </a:defRPr>
                      </a:pPr>
                      <a:r>
                        <a:t>0.923</a:t>
                      </a:r>
                    </a:p>
                  </a:txBody>
                  <a:tcPr/>
                </a:tc>
                <a:tc>
                  <a:txBody>
                    <a:bodyPr/>
                    <a:lstStyle/>
                    <a:p>
                      <a:pPr algn="ctr">
                        <a:defRPr sz="1100">
                          <a:solidFill>
                            <a:srgbClr val="000000"/>
                          </a:solidFill>
                        </a:defRPr>
                      </a:pPr>
                      <a:r>
                        <a:t>0.994</a:t>
                      </a:r>
                    </a:p>
                  </a:txBody>
                  <a:tcPr/>
                </a:tc>
                <a:tc>
                  <a:txBody>
                    <a:bodyPr/>
                    <a:lstStyle/>
                    <a:p>
                      <a:pPr algn="ctr">
                        <a:defRPr sz="1100">
                          <a:solidFill>
                            <a:srgbClr val="000000"/>
                          </a:solidFill>
                        </a:defRPr>
                      </a:pPr>
                      <a:r>
                        <a:t>0.761</a:t>
                      </a:r>
                    </a:p>
                  </a:txBody>
                  <a:tcPr/>
                </a:tc>
                <a:tc>
                  <a:txBody>
                    <a:bodyPr/>
                    <a:lstStyle/>
                    <a:p>
                      <a:pPr algn="ctr">
                        <a:defRPr sz="1100">
                          <a:solidFill>
                            <a:srgbClr val="000000"/>
                          </a:solidFill>
                        </a:defRPr>
                      </a:pPr>
                      <a:r>
                        <a:t>0.862</a:t>
                      </a:r>
                    </a:p>
                  </a:txBody>
                  <a:tcPr/>
                </a:tc>
                <a:tc>
                  <a:txBody>
                    <a:bodyPr/>
                    <a:lstStyle/>
                    <a:p>
                      <a:pPr algn="ctr">
                        <a:defRPr sz="1100">
                          <a:solidFill>
                            <a:srgbClr val="000000"/>
                          </a:solidFill>
                        </a:defRPr>
                      </a:pPr>
                      <a:r>
                        <a:t>0.810</a:t>
                      </a:r>
                    </a:p>
                  </a:txBody>
                  <a:tcPr/>
                </a:tc>
                <a:extLst>
                  <a:ext uri="{0D108BD9-81ED-4DB2-BD59-A6C34878D82A}">
                    <a16:rowId xmlns:a16="http://schemas.microsoft.com/office/drawing/2014/main" val="10005"/>
                  </a:ext>
                </a:extLst>
              </a:tr>
              <a:tr h="548640">
                <a:tc>
                  <a:txBody>
                    <a:bodyPr/>
                    <a:lstStyle/>
                    <a:p>
                      <a:pPr algn="l">
                        <a:defRPr sz="1100">
                          <a:solidFill>
                            <a:srgbClr val="000000"/>
                          </a:solidFill>
                        </a:defRPr>
                      </a:pPr>
                      <a:r>
                        <a:t>Mean ± Std</a:t>
                      </a:r>
                    </a:p>
                  </a:txBody>
                  <a:tcPr/>
                </a:tc>
                <a:tc>
                  <a:txBody>
                    <a:bodyPr/>
                    <a:lstStyle/>
                    <a:p>
                      <a:pPr algn="ctr">
                        <a:defRPr sz="1100">
                          <a:solidFill>
                            <a:srgbClr val="000000"/>
                          </a:solidFill>
                        </a:defRPr>
                      </a:pPr>
                      <a:r>
                        <a:rPr dirty="0"/>
                        <a:t>0.980 ± 0.032</a:t>
                      </a:r>
                    </a:p>
                  </a:txBody>
                  <a:tcPr/>
                </a:tc>
                <a:tc>
                  <a:txBody>
                    <a:bodyPr/>
                    <a:lstStyle/>
                    <a:p>
                      <a:pPr algn="ctr">
                        <a:defRPr sz="1100">
                          <a:solidFill>
                            <a:srgbClr val="000000"/>
                          </a:solidFill>
                        </a:defRPr>
                      </a:pPr>
                      <a:r>
                        <a:rPr dirty="0"/>
                        <a:t>0.991 ± 0.006</a:t>
                      </a:r>
                    </a:p>
                  </a:txBody>
                  <a:tcPr/>
                </a:tc>
                <a:tc>
                  <a:txBody>
                    <a:bodyPr/>
                    <a:lstStyle/>
                    <a:p>
                      <a:pPr algn="ctr">
                        <a:defRPr sz="1100">
                          <a:solidFill>
                            <a:srgbClr val="000000"/>
                          </a:solidFill>
                        </a:defRPr>
                      </a:pPr>
                      <a:r>
                        <a:t>0.945 ± 0.103</a:t>
                      </a:r>
                    </a:p>
                  </a:txBody>
                  <a:tcPr/>
                </a:tc>
                <a:tc>
                  <a:txBody>
                    <a:bodyPr/>
                    <a:lstStyle/>
                    <a:p>
                      <a:pPr algn="ctr">
                        <a:defRPr sz="1100">
                          <a:solidFill>
                            <a:srgbClr val="000000"/>
                          </a:solidFill>
                        </a:defRPr>
                      </a:pPr>
                      <a:r>
                        <a:rPr dirty="0"/>
                        <a:t>0.965 ± 0.058</a:t>
                      </a:r>
                    </a:p>
                  </a:txBody>
                  <a:tcPr/>
                </a:tc>
                <a:tc>
                  <a:txBody>
                    <a:bodyPr/>
                    <a:lstStyle/>
                    <a:p>
                      <a:pPr algn="ctr">
                        <a:defRPr sz="1100">
                          <a:solidFill>
                            <a:srgbClr val="000000"/>
                          </a:solidFill>
                        </a:defRPr>
                      </a:pPr>
                      <a:r>
                        <a:rPr dirty="0"/>
                        <a:t>0.951 ± 0.079</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82880"/>
            <a:ext cx="8229600" cy="548640"/>
          </a:xfrm>
          <a:prstGeom prst="rect">
            <a:avLst/>
          </a:prstGeom>
          <a:noFill/>
        </p:spPr>
        <p:txBody>
          <a:bodyPr wrap="none">
            <a:spAutoFit/>
          </a:bodyPr>
          <a:lstStyle/>
          <a:p>
            <a:pPr algn="l">
              <a:defRPr sz="2000" b="1"/>
            </a:pPr>
            <a:r>
              <a:rPr dirty="0"/>
              <a:t>ResNet-101  |  Correct setup + </a:t>
            </a:r>
            <a:r>
              <a:rPr dirty="0" err="1"/>
              <a:t>Preproc</a:t>
            </a:r>
            <a:endParaRPr dirty="0"/>
          </a:p>
        </p:txBody>
      </p:sp>
      <p:graphicFrame>
        <p:nvGraphicFramePr>
          <p:cNvPr id="3" name="Table 2"/>
          <p:cNvGraphicFramePr>
            <a:graphicFrameLocks noGrp="1"/>
          </p:cNvGraphicFramePr>
          <p:nvPr/>
        </p:nvGraphicFramePr>
        <p:xfrm>
          <a:off x="365760" y="1005840"/>
          <a:ext cx="8229600" cy="38404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48640">
                <a:tc>
                  <a:txBody>
                    <a:bodyPr/>
                    <a:lstStyle/>
                    <a:p>
                      <a:pPr algn="ctr">
                        <a:defRPr sz="1200" b="1">
                          <a:solidFill>
                            <a:srgbClr val="000000"/>
                          </a:solidFill>
                        </a:defRPr>
                      </a:pPr>
                      <a:r>
                        <a:t>Fold</a:t>
                      </a:r>
                    </a:p>
                  </a:txBody>
                  <a:tcPr/>
                </a:tc>
                <a:tc>
                  <a:txBody>
                    <a:bodyPr/>
                    <a:lstStyle/>
                    <a:p>
                      <a:pPr algn="ctr">
                        <a:defRPr sz="1200" b="1">
                          <a:solidFill>
                            <a:srgbClr val="000000"/>
                          </a:solidFill>
                        </a:defRPr>
                      </a:pPr>
                      <a:r>
                        <a:t>Accuracy</a:t>
                      </a:r>
                    </a:p>
                  </a:txBody>
                  <a:tcPr/>
                </a:tc>
                <a:tc>
                  <a:txBody>
                    <a:bodyPr/>
                    <a:lstStyle/>
                    <a:p>
                      <a:pPr algn="ctr">
                        <a:defRPr sz="1200" b="1">
                          <a:solidFill>
                            <a:srgbClr val="000000"/>
                          </a:solidFill>
                        </a:defRPr>
                      </a:pPr>
                      <a:r>
                        <a:t>Precision</a:t>
                      </a:r>
                    </a:p>
                  </a:txBody>
                  <a:tcPr/>
                </a:tc>
                <a:tc>
                  <a:txBody>
                    <a:bodyPr/>
                    <a:lstStyle/>
                    <a:p>
                      <a:pPr algn="ctr">
                        <a:defRPr sz="1200" b="1">
                          <a:solidFill>
                            <a:srgbClr val="000000"/>
                          </a:solidFill>
                        </a:defRPr>
                      </a:pPr>
                      <a:r>
                        <a:t>Recall</a:t>
                      </a:r>
                    </a:p>
                  </a:txBody>
                  <a:tcPr/>
                </a:tc>
                <a:tc>
                  <a:txBody>
                    <a:bodyPr/>
                    <a:lstStyle/>
                    <a:p>
                      <a:pPr algn="ctr">
                        <a:defRPr sz="1200" b="1">
                          <a:solidFill>
                            <a:srgbClr val="000000"/>
                          </a:solidFill>
                        </a:defRPr>
                      </a:pPr>
                      <a:r>
                        <a:t>F1</a:t>
                      </a:r>
                    </a:p>
                  </a:txBody>
                  <a:tcPr/>
                </a:tc>
                <a:tc>
                  <a:txBody>
                    <a:bodyPr/>
                    <a:lstStyle/>
                    <a:p>
                      <a:pPr algn="ctr">
                        <a:defRPr sz="1200" b="1">
                          <a:solidFill>
                            <a:srgbClr val="000000"/>
                          </a:solidFill>
                        </a:defRPr>
                      </a:pPr>
                      <a:r>
                        <a:t>Cohen's κ</a:t>
                      </a:r>
                    </a:p>
                  </a:txBody>
                  <a:tcPr/>
                </a:tc>
                <a:extLst>
                  <a:ext uri="{0D108BD9-81ED-4DB2-BD59-A6C34878D82A}">
                    <a16:rowId xmlns:a16="http://schemas.microsoft.com/office/drawing/2014/main" val="10000"/>
                  </a:ext>
                </a:extLst>
              </a:tr>
              <a:tr h="548640">
                <a:tc>
                  <a:txBody>
                    <a:bodyPr/>
                    <a:lstStyle/>
                    <a:p>
                      <a:pPr algn="l">
                        <a:defRPr sz="1100">
                          <a:solidFill>
                            <a:srgbClr val="000000"/>
                          </a:solidFill>
                        </a:defRPr>
                      </a:pPr>
                      <a:r>
                        <a:t>Fold 1</a:t>
                      </a:r>
                    </a:p>
                  </a:txBody>
                  <a:tcPr/>
                </a:tc>
                <a:tc>
                  <a:txBody>
                    <a:bodyPr/>
                    <a:lstStyle/>
                    <a:p>
                      <a:pPr algn="ctr">
                        <a:defRPr sz="1100">
                          <a:solidFill>
                            <a:srgbClr val="000000"/>
                          </a:solidFill>
                        </a:defRPr>
                      </a:pPr>
                      <a:r>
                        <a:t>0.921</a:t>
                      </a:r>
                    </a:p>
                  </a:txBody>
                  <a:tcPr/>
                </a:tc>
                <a:tc>
                  <a:txBody>
                    <a:bodyPr/>
                    <a:lstStyle/>
                    <a:p>
                      <a:pPr algn="ctr">
                        <a:defRPr sz="1100">
                          <a:solidFill>
                            <a:srgbClr val="000000"/>
                          </a:solidFill>
                        </a:defRPr>
                      </a:pPr>
                      <a:r>
                        <a:t>0.725</a:t>
                      </a:r>
                    </a:p>
                  </a:txBody>
                  <a:tcPr/>
                </a:tc>
                <a:tc>
                  <a:txBody>
                    <a:bodyPr/>
                    <a:lstStyle/>
                    <a:p>
                      <a:pPr algn="ctr">
                        <a:defRPr sz="1100">
                          <a:solidFill>
                            <a:srgbClr val="000000"/>
                          </a:solidFill>
                        </a:defRPr>
                      </a:pPr>
                      <a:r>
                        <a:t>0.713</a:t>
                      </a:r>
                    </a:p>
                  </a:txBody>
                  <a:tcPr/>
                </a:tc>
                <a:tc>
                  <a:txBody>
                    <a:bodyPr/>
                    <a:lstStyle/>
                    <a:p>
                      <a:pPr algn="ctr">
                        <a:defRPr sz="1100">
                          <a:solidFill>
                            <a:srgbClr val="000000"/>
                          </a:solidFill>
                        </a:defRPr>
                      </a:pPr>
                      <a:r>
                        <a:t>0.719</a:t>
                      </a:r>
                    </a:p>
                  </a:txBody>
                  <a:tcPr/>
                </a:tc>
                <a:tc>
                  <a:txBody>
                    <a:bodyPr/>
                    <a:lstStyle/>
                    <a:p>
                      <a:pPr algn="ctr">
                        <a:defRPr sz="1100">
                          <a:solidFill>
                            <a:srgbClr val="000000"/>
                          </a:solidFill>
                        </a:defRPr>
                      </a:pPr>
                      <a:r>
                        <a:t>0.673</a:t>
                      </a:r>
                    </a:p>
                  </a:txBody>
                  <a:tcPr/>
                </a:tc>
                <a:extLst>
                  <a:ext uri="{0D108BD9-81ED-4DB2-BD59-A6C34878D82A}">
                    <a16:rowId xmlns:a16="http://schemas.microsoft.com/office/drawing/2014/main" val="10001"/>
                  </a:ext>
                </a:extLst>
              </a:tr>
              <a:tr h="548640">
                <a:tc>
                  <a:txBody>
                    <a:bodyPr/>
                    <a:lstStyle/>
                    <a:p>
                      <a:pPr algn="l">
                        <a:defRPr sz="1100">
                          <a:solidFill>
                            <a:srgbClr val="000000"/>
                          </a:solidFill>
                        </a:defRPr>
                      </a:pPr>
                      <a:r>
                        <a:t>Fold 2</a:t>
                      </a:r>
                    </a:p>
                  </a:txBody>
                  <a:tcPr/>
                </a:tc>
                <a:tc>
                  <a:txBody>
                    <a:bodyPr/>
                    <a:lstStyle/>
                    <a:p>
                      <a:pPr algn="ctr">
                        <a:defRPr sz="1100">
                          <a:solidFill>
                            <a:srgbClr val="000000"/>
                          </a:solidFill>
                        </a:defRPr>
                      </a:pPr>
                      <a:r>
                        <a:t>0.946</a:t>
                      </a:r>
                    </a:p>
                  </a:txBody>
                  <a:tcPr/>
                </a:tc>
                <a:tc>
                  <a:txBody>
                    <a:bodyPr/>
                    <a:lstStyle/>
                    <a:p>
                      <a:pPr algn="ctr">
                        <a:defRPr sz="1100">
                          <a:solidFill>
                            <a:srgbClr val="000000"/>
                          </a:solidFill>
                        </a:defRPr>
                      </a:pPr>
                      <a:r>
                        <a:t>0.716</a:t>
                      </a:r>
                    </a:p>
                  </a:txBody>
                  <a:tcPr/>
                </a:tc>
                <a:tc>
                  <a:txBody>
                    <a:bodyPr/>
                    <a:lstStyle/>
                    <a:p>
                      <a:pPr algn="ctr">
                        <a:defRPr sz="1100">
                          <a:solidFill>
                            <a:srgbClr val="000000"/>
                          </a:solidFill>
                        </a:defRPr>
                      </a:pPr>
                      <a:r>
                        <a:t>0.872</a:t>
                      </a:r>
                    </a:p>
                  </a:txBody>
                  <a:tcPr/>
                </a:tc>
                <a:tc>
                  <a:txBody>
                    <a:bodyPr/>
                    <a:lstStyle/>
                    <a:p>
                      <a:pPr algn="ctr">
                        <a:defRPr sz="1100">
                          <a:solidFill>
                            <a:srgbClr val="000000"/>
                          </a:solidFill>
                        </a:defRPr>
                      </a:pPr>
                      <a:r>
                        <a:t>0.786</a:t>
                      </a:r>
                    </a:p>
                  </a:txBody>
                  <a:tcPr/>
                </a:tc>
                <a:tc>
                  <a:txBody>
                    <a:bodyPr/>
                    <a:lstStyle/>
                    <a:p>
                      <a:pPr algn="ctr">
                        <a:defRPr sz="1100">
                          <a:solidFill>
                            <a:srgbClr val="000000"/>
                          </a:solidFill>
                        </a:defRPr>
                      </a:pPr>
                      <a:r>
                        <a:t>0.756</a:t>
                      </a:r>
                    </a:p>
                  </a:txBody>
                  <a:tcPr/>
                </a:tc>
                <a:extLst>
                  <a:ext uri="{0D108BD9-81ED-4DB2-BD59-A6C34878D82A}">
                    <a16:rowId xmlns:a16="http://schemas.microsoft.com/office/drawing/2014/main" val="10002"/>
                  </a:ext>
                </a:extLst>
              </a:tr>
              <a:tr h="548640">
                <a:tc>
                  <a:txBody>
                    <a:bodyPr/>
                    <a:lstStyle/>
                    <a:p>
                      <a:pPr algn="l">
                        <a:defRPr sz="1100">
                          <a:solidFill>
                            <a:srgbClr val="000000"/>
                          </a:solidFill>
                        </a:defRPr>
                      </a:pPr>
                      <a:r>
                        <a:t>Fold 3</a:t>
                      </a:r>
                    </a:p>
                  </a:txBody>
                  <a:tcPr/>
                </a:tc>
                <a:tc>
                  <a:txBody>
                    <a:bodyPr/>
                    <a:lstStyle/>
                    <a:p>
                      <a:pPr algn="ctr">
                        <a:defRPr sz="1100">
                          <a:solidFill>
                            <a:srgbClr val="000000"/>
                          </a:solidFill>
                        </a:defRPr>
                      </a:pPr>
                      <a:r>
                        <a:t>0.946</a:t>
                      </a:r>
                    </a:p>
                  </a:txBody>
                  <a:tcPr/>
                </a:tc>
                <a:tc>
                  <a:txBody>
                    <a:bodyPr/>
                    <a:lstStyle/>
                    <a:p>
                      <a:pPr algn="ctr">
                        <a:defRPr sz="1100">
                          <a:solidFill>
                            <a:srgbClr val="000000"/>
                          </a:solidFill>
                        </a:defRPr>
                      </a:pPr>
                      <a:r>
                        <a:t>0.886</a:t>
                      </a:r>
                    </a:p>
                  </a:txBody>
                  <a:tcPr/>
                </a:tc>
                <a:tc>
                  <a:txBody>
                    <a:bodyPr/>
                    <a:lstStyle/>
                    <a:p>
                      <a:pPr algn="ctr">
                        <a:defRPr sz="1100">
                          <a:solidFill>
                            <a:srgbClr val="000000"/>
                          </a:solidFill>
                        </a:defRPr>
                      </a:pPr>
                      <a:r>
                        <a:t>0.818</a:t>
                      </a:r>
                    </a:p>
                  </a:txBody>
                  <a:tcPr/>
                </a:tc>
                <a:tc>
                  <a:txBody>
                    <a:bodyPr/>
                    <a:lstStyle/>
                    <a:p>
                      <a:pPr algn="ctr">
                        <a:defRPr sz="1100">
                          <a:solidFill>
                            <a:srgbClr val="000000"/>
                          </a:solidFill>
                        </a:defRPr>
                      </a:pPr>
                      <a:r>
                        <a:t>0.851</a:t>
                      </a:r>
                    </a:p>
                  </a:txBody>
                  <a:tcPr/>
                </a:tc>
                <a:tc>
                  <a:txBody>
                    <a:bodyPr/>
                    <a:lstStyle/>
                    <a:p>
                      <a:pPr algn="ctr">
                        <a:defRPr sz="1100">
                          <a:solidFill>
                            <a:srgbClr val="000000"/>
                          </a:solidFill>
                        </a:defRPr>
                      </a:pPr>
                      <a:r>
                        <a:t>0.818</a:t>
                      </a:r>
                    </a:p>
                  </a:txBody>
                  <a:tcPr/>
                </a:tc>
                <a:extLst>
                  <a:ext uri="{0D108BD9-81ED-4DB2-BD59-A6C34878D82A}">
                    <a16:rowId xmlns:a16="http://schemas.microsoft.com/office/drawing/2014/main" val="10003"/>
                  </a:ext>
                </a:extLst>
              </a:tr>
              <a:tr h="548640">
                <a:tc>
                  <a:txBody>
                    <a:bodyPr/>
                    <a:lstStyle/>
                    <a:p>
                      <a:pPr algn="l">
                        <a:defRPr sz="1100">
                          <a:solidFill>
                            <a:srgbClr val="000000"/>
                          </a:solidFill>
                        </a:defRPr>
                      </a:pPr>
                      <a:r>
                        <a:t>Fold 4</a:t>
                      </a:r>
                    </a:p>
                  </a:txBody>
                  <a:tcPr/>
                </a:tc>
                <a:tc>
                  <a:txBody>
                    <a:bodyPr/>
                    <a:lstStyle/>
                    <a:p>
                      <a:pPr algn="ctr">
                        <a:defRPr sz="1100">
                          <a:solidFill>
                            <a:srgbClr val="000000"/>
                          </a:solidFill>
                        </a:defRPr>
                      </a:pPr>
                      <a:r>
                        <a:t>0.907</a:t>
                      </a:r>
                    </a:p>
                  </a:txBody>
                  <a:tcPr/>
                </a:tc>
                <a:tc>
                  <a:txBody>
                    <a:bodyPr/>
                    <a:lstStyle/>
                    <a:p>
                      <a:pPr algn="ctr">
                        <a:defRPr sz="1100">
                          <a:solidFill>
                            <a:srgbClr val="000000"/>
                          </a:solidFill>
                        </a:defRPr>
                      </a:pPr>
                      <a:r>
                        <a:t>0.812</a:t>
                      </a:r>
                    </a:p>
                  </a:txBody>
                  <a:tcPr/>
                </a:tc>
                <a:tc>
                  <a:txBody>
                    <a:bodyPr/>
                    <a:lstStyle/>
                    <a:p>
                      <a:pPr algn="ctr">
                        <a:defRPr sz="1100">
                          <a:solidFill>
                            <a:srgbClr val="000000"/>
                          </a:solidFill>
                        </a:defRPr>
                      </a:pPr>
                      <a:r>
                        <a:t>0.642</a:t>
                      </a:r>
                    </a:p>
                  </a:txBody>
                  <a:tcPr/>
                </a:tc>
                <a:tc>
                  <a:txBody>
                    <a:bodyPr/>
                    <a:lstStyle/>
                    <a:p>
                      <a:pPr algn="ctr">
                        <a:defRPr sz="1100">
                          <a:solidFill>
                            <a:srgbClr val="000000"/>
                          </a:solidFill>
                        </a:defRPr>
                      </a:pPr>
                      <a:r>
                        <a:t>0.717</a:t>
                      </a:r>
                    </a:p>
                  </a:txBody>
                  <a:tcPr/>
                </a:tc>
                <a:tc>
                  <a:txBody>
                    <a:bodyPr/>
                    <a:lstStyle/>
                    <a:p>
                      <a:pPr algn="ctr">
                        <a:defRPr sz="1100">
                          <a:solidFill>
                            <a:srgbClr val="000000"/>
                          </a:solidFill>
                        </a:defRPr>
                      </a:pPr>
                      <a:r>
                        <a:t>0.663</a:t>
                      </a:r>
                    </a:p>
                  </a:txBody>
                  <a:tcPr/>
                </a:tc>
                <a:extLst>
                  <a:ext uri="{0D108BD9-81ED-4DB2-BD59-A6C34878D82A}">
                    <a16:rowId xmlns:a16="http://schemas.microsoft.com/office/drawing/2014/main" val="10004"/>
                  </a:ext>
                </a:extLst>
              </a:tr>
              <a:tr h="548640">
                <a:tc>
                  <a:txBody>
                    <a:bodyPr/>
                    <a:lstStyle/>
                    <a:p>
                      <a:pPr algn="l">
                        <a:defRPr sz="1100">
                          <a:solidFill>
                            <a:srgbClr val="000000"/>
                          </a:solidFill>
                        </a:defRPr>
                      </a:pPr>
                      <a:r>
                        <a:t>Fold 5</a:t>
                      </a:r>
                    </a:p>
                  </a:txBody>
                  <a:tcPr/>
                </a:tc>
                <a:tc>
                  <a:txBody>
                    <a:bodyPr/>
                    <a:lstStyle/>
                    <a:p>
                      <a:pPr algn="ctr">
                        <a:defRPr sz="1100">
                          <a:solidFill>
                            <a:srgbClr val="000000"/>
                          </a:solidFill>
                        </a:defRPr>
                      </a:pPr>
                      <a:r>
                        <a:t>0.865</a:t>
                      </a:r>
                    </a:p>
                  </a:txBody>
                  <a:tcPr/>
                </a:tc>
                <a:tc>
                  <a:txBody>
                    <a:bodyPr/>
                    <a:lstStyle/>
                    <a:p>
                      <a:pPr algn="ctr">
                        <a:defRPr sz="1100">
                          <a:solidFill>
                            <a:srgbClr val="000000"/>
                          </a:solidFill>
                        </a:defRPr>
                      </a:pPr>
                      <a:r>
                        <a:t>0.636</a:t>
                      </a:r>
                    </a:p>
                  </a:txBody>
                  <a:tcPr/>
                </a:tc>
                <a:tc>
                  <a:txBody>
                    <a:bodyPr/>
                    <a:lstStyle/>
                    <a:p>
                      <a:pPr algn="ctr">
                        <a:defRPr sz="1100">
                          <a:solidFill>
                            <a:srgbClr val="000000"/>
                          </a:solidFill>
                        </a:defRPr>
                      </a:pPr>
                      <a:r>
                        <a:t>0.512</a:t>
                      </a:r>
                    </a:p>
                  </a:txBody>
                  <a:tcPr/>
                </a:tc>
                <a:tc>
                  <a:txBody>
                    <a:bodyPr/>
                    <a:lstStyle/>
                    <a:p>
                      <a:pPr algn="ctr">
                        <a:defRPr sz="1100">
                          <a:solidFill>
                            <a:srgbClr val="000000"/>
                          </a:solidFill>
                        </a:defRPr>
                      </a:pPr>
                      <a:r>
                        <a:t>0.568</a:t>
                      </a:r>
                    </a:p>
                  </a:txBody>
                  <a:tcPr/>
                </a:tc>
                <a:tc>
                  <a:txBody>
                    <a:bodyPr/>
                    <a:lstStyle/>
                    <a:p>
                      <a:pPr algn="ctr">
                        <a:defRPr sz="1100">
                          <a:solidFill>
                            <a:srgbClr val="000000"/>
                          </a:solidFill>
                        </a:defRPr>
                      </a:pPr>
                      <a:r>
                        <a:t>0.488</a:t>
                      </a:r>
                    </a:p>
                  </a:txBody>
                  <a:tcPr/>
                </a:tc>
                <a:extLst>
                  <a:ext uri="{0D108BD9-81ED-4DB2-BD59-A6C34878D82A}">
                    <a16:rowId xmlns:a16="http://schemas.microsoft.com/office/drawing/2014/main" val="10005"/>
                  </a:ext>
                </a:extLst>
              </a:tr>
              <a:tr h="548640">
                <a:tc>
                  <a:txBody>
                    <a:bodyPr/>
                    <a:lstStyle/>
                    <a:p>
                      <a:pPr algn="l">
                        <a:defRPr sz="1100">
                          <a:solidFill>
                            <a:srgbClr val="000000"/>
                          </a:solidFill>
                        </a:defRPr>
                      </a:pPr>
                      <a:r>
                        <a:t>Mean ± Std</a:t>
                      </a:r>
                    </a:p>
                  </a:txBody>
                  <a:tcPr/>
                </a:tc>
                <a:tc>
                  <a:txBody>
                    <a:bodyPr/>
                    <a:lstStyle/>
                    <a:p>
                      <a:pPr algn="ctr">
                        <a:defRPr sz="1100">
                          <a:solidFill>
                            <a:srgbClr val="000000"/>
                          </a:solidFill>
                        </a:defRPr>
                      </a:pPr>
                      <a:r>
                        <a:rPr dirty="0"/>
                        <a:t>0.917 ± 0.034</a:t>
                      </a:r>
                    </a:p>
                  </a:txBody>
                  <a:tcPr/>
                </a:tc>
                <a:tc>
                  <a:txBody>
                    <a:bodyPr/>
                    <a:lstStyle/>
                    <a:p>
                      <a:pPr algn="ctr">
                        <a:defRPr sz="1100">
                          <a:solidFill>
                            <a:srgbClr val="000000"/>
                          </a:solidFill>
                        </a:defRPr>
                      </a:pPr>
                      <a:r>
                        <a:t>0.755 ± 0.096</a:t>
                      </a:r>
                    </a:p>
                  </a:txBody>
                  <a:tcPr/>
                </a:tc>
                <a:tc>
                  <a:txBody>
                    <a:bodyPr/>
                    <a:lstStyle/>
                    <a:p>
                      <a:pPr algn="ctr">
                        <a:defRPr sz="1100">
                          <a:solidFill>
                            <a:srgbClr val="000000"/>
                          </a:solidFill>
                        </a:defRPr>
                      </a:pPr>
                      <a:r>
                        <a:rPr dirty="0"/>
                        <a:t>0.711 ± 0.143</a:t>
                      </a:r>
                    </a:p>
                  </a:txBody>
                  <a:tcPr/>
                </a:tc>
                <a:tc>
                  <a:txBody>
                    <a:bodyPr/>
                    <a:lstStyle/>
                    <a:p>
                      <a:pPr algn="ctr">
                        <a:defRPr sz="1100">
                          <a:solidFill>
                            <a:srgbClr val="000000"/>
                          </a:solidFill>
                        </a:defRPr>
                      </a:pPr>
                      <a:r>
                        <a:rPr dirty="0"/>
                        <a:t>0.728 ± 0.105</a:t>
                      </a:r>
                    </a:p>
                  </a:txBody>
                  <a:tcPr/>
                </a:tc>
                <a:tc>
                  <a:txBody>
                    <a:bodyPr/>
                    <a:lstStyle/>
                    <a:p>
                      <a:pPr algn="ctr">
                        <a:defRPr sz="1100">
                          <a:solidFill>
                            <a:srgbClr val="000000"/>
                          </a:solidFill>
                        </a:defRPr>
                      </a:pPr>
                      <a:r>
                        <a:rPr dirty="0"/>
                        <a:t>0.679 ± 0.124</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82880"/>
            <a:ext cx="8229600" cy="548640"/>
          </a:xfrm>
          <a:prstGeom prst="rect">
            <a:avLst/>
          </a:prstGeom>
          <a:noFill/>
        </p:spPr>
        <p:txBody>
          <a:bodyPr wrap="none">
            <a:spAutoFit/>
          </a:bodyPr>
          <a:lstStyle/>
          <a:p>
            <a:pPr algn="l">
              <a:defRPr sz="2000" b="1"/>
            </a:pPr>
            <a:r>
              <a:rPr dirty="0"/>
              <a:t>ResNet-101  |  Paper setup + Pre-split </a:t>
            </a:r>
            <a:r>
              <a:rPr dirty="0" err="1"/>
              <a:t>Preproc</a:t>
            </a:r>
            <a:r>
              <a:rPr dirty="0"/>
              <a:t>(Guha et al.)</a:t>
            </a:r>
          </a:p>
        </p:txBody>
      </p:sp>
      <p:graphicFrame>
        <p:nvGraphicFramePr>
          <p:cNvPr id="3" name="Table 2"/>
          <p:cNvGraphicFramePr>
            <a:graphicFrameLocks noGrp="1"/>
          </p:cNvGraphicFramePr>
          <p:nvPr/>
        </p:nvGraphicFramePr>
        <p:xfrm>
          <a:off x="365760" y="1005840"/>
          <a:ext cx="8229600" cy="38404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48640">
                <a:tc>
                  <a:txBody>
                    <a:bodyPr/>
                    <a:lstStyle/>
                    <a:p>
                      <a:pPr algn="ctr">
                        <a:defRPr sz="1200" b="1">
                          <a:solidFill>
                            <a:srgbClr val="000000"/>
                          </a:solidFill>
                        </a:defRPr>
                      </a:pPr>
                      <a:r>
                        <a:t>Fold</a:t>
                      </a:r>
                    </a:p>
                  </a:txBody>
                  <a:tcPr/>
                </a:tc>
                <a:tc>
                  <a:txBody>
                    <a:bodyPr/>
                    <a:lstStyle/>
                    <a:p>
                      <a:pPr algn="ctr">
                        <a:defRPr sz="1200" b="1">
                          <a:solidFill>
                            <a:srgbClr val="000000"/>
                          </a:solidFill>
                        </a:defRPr>
                      </a:pPr>
                      <a:r>
                        <a:t>Accuracy</a:t>
                      </a:r>
                    </a:p>
                  </a:txBody>
                  <a:tcPr/>
                </a:tc>
                <a:tc>
                  <a:txBody>
                    <a:bodyPr/>
                    <a:lstStyle/>
                    <a:p>
                      <a:pPr algn="ctr">
                        <a:defRPr sz="1200" b="1">
                          <a:solidFill>
                            <a:srgbClr val="000000"/>
                          </a:solidFill>
                        </a:defRPr>
                      </a:pPr>
                      <a:r>
                        <a:t>Precision</a:t>
                      </a:r>
                    </a:p>
                  </a:txBody>
                  <a:tcPr/>
                </a:tc>
                <a:tc>
                  <a:txBody>
                    <a:bodyPr/>
                    <a:lstStyle/>
                    <a:p>
                      <a:pPr algn="ctr">
                        <a:defRPr sz="1200" b="1">
                          <a:solidFill>
                            <a:srgbClr val="000000"/>
                          </a:solidFill>
                        </a:defRPr>
                      </a:pPr>
                      <a:r>
                        <a:t>Recall</a:t>
                      </a:r>
                    </a:p>
                  </a:txBody>
                  <a:tcPr/>
                </a:tc>
                <a:tc>
                  <a:txBody>
                    <a:bodyPr/>
                    <a:lstStyle/>
                    <a:p>
                      <a:pPr algn="ctr">
                        <a:defRPr sz="1200" b="1">
                          <a:solidFill>
                            <a:srgbClr val="000000"/>
                          </a:solidFill>
                        </a:defRPr>
                      </a:pPr>
                      <a:r>
                        <a:t>F1</a:t>
                      </a:r>
                    </a:p>
                  </a:txBody>
                  <a:tcPr/>
                </a:tc>
                <a:tc>
                  <a:txBody>
                    <a:bodyPr/>
                    <a:lstStyle/>
                    <a:p>
                      <a:pPr algn="ctr">
                        <a:defRPr sz="1200" b="1">
                          <a:solidFill>
                            <a:srgbClr val="000000"/>
                          </a:solidFill>
                        </a:defRPr>
                      </a:pPr>
                      <a:r>
                        <a:t>Cohen's κ</a:t>
                      </a:r>
                    </a:p>
                  </a:txBody>
                  <a:tcPr/>
                </a:tc>
                <a:extLst>
                  <a:ext uri="{0D108BD9-81ED-4DB2-BD59-A6C34878D82A}">
                    <a16:rowId xmlns:a16="http://schemas.microsoft.com/office/drawing/2014/main" val="10000"/>
                  </a:ext>
                </a:extLst>
              </a:tr>
              <a:tr h="548640">
                <a:tc>
                  <a:txBody>
                    <a:bodyPr/>
                    <a:lstStyle/>
                    <a:p>
                      <a:pPr algn="l">
                        <a:defRPr sz="1100">
                          <a:solidFill>
                            <a:srgbClr val="000000"/>
                          </a:solidFill>
                        </a:defRPr>
                      </a:pPr>
                      <a:r>
                        <a:t>Fold 1</a:t>
                      </a:r>
                    </a:p>
                  </a:txBody>
                  <a:tcPr/>
                </a:tc>
                <a:tc>
                  <a:txBody>
                    <a:bodyPr/>
                    <a:lstStyle/>
                    <a:p>
                      <a:pPr algn="ctr">
                        <a:defRPr sz="1100">
                          <a:solidFill>
                            <a:srgbClr val="000000"/>
                          </a:solidFill>
                        </a:defRPr>
                      </a:pPr>
                      <a:r>
                        <a:t>0.996</a:t>
                      </a:r>
                    </a:p>
                  </a:txBody>
                  <a:tcPr/>
                </a:tc>
                <a:tc>
                  <a:txBody>
                    <a:bodyPr/>
                    <a:lstStyle/>
                    <a:p>
                      <a:pPr algn="ctr">
                        <a:defRPr sz="1100">
                          <a:solidFill>
                            <a:srgbClr val="000000"/>
                          </a:solidFill>
                        </a:defRPr>
                      </a:pPr>
                      <a:r>
                        <a:t>1.000</a:t>
                      </a:r>
                    </a:p>
                  </a:txBody>
                  <a:tcPr/>
                </a:tc>
                <a:tc>
                  <a:txBody>
                    <a:bodyPr/>
                    <a:lstStyle/>
                    <a:p>
                      <a:pPr algn="ctr">
                        <a:defRPr sz="1100">
                          <a:solidFill>
                            <a:srgbClr val="000000"/>
                          </a:solidFill>
                        </a:defRPr>
                      </a:pPr>
                      <a:r>
                        <a:t>0.992</a:t>
                      </a:r>
                    </a:p>
                  </a:txBody>
                  <a:tcPr/>
                </a:tc>
                <a:tc>
                  <a:txBody>
                    <a:bodyPr/>
                    <a:lstStyle/>
                    <a:p>
                      <a:pPr algn="ctr">
                        <a:defRPr sz="1100">
                          <a:solidFill>
                            <a:srgbClr val="000000"/>
                          </a:solidFill>
                        </a:defRPr>
                      </a:pPr>
                      <a:r>
                        <a:t>0.996</a:t>
                      </a:r>
                    </a:p>
                  </a:txBody>
                  <a:tcPr/>
                </a:tc>
                <a:tc>
                  <a:txBody>
                    <a:bodyPr/>
                    <a:lstStyle/>
                    <a:p>
                      <a:pPr algn="ctr">
                        <a:defRPr sz="1100">
                          <a:solidFill>
                            <a:srgbClr val="000000"/>
                          </a:solidFill>
                        </a:defRPr>
                      </a:pPr>
                      <a:r>
                        <a:t>0.992</a:t>
                      </a:r>
                    </a:p>
                  </a:txBody>
                  <a:tcPr/>
                </a:tc>
                <a:extLst>
                  <a:ext uri="{0D108BD9-81ED-4DB2-BD59-A6C34878D82A}">
                    <a16:rowId xmlns:a16="http://schemas.microsoft.com/office/drawing/2014/main" val="10001"/>
                  </a:ext>
                </a:extLst>
              </a:tr>
              <a:tr h="548640">
                <a:tc>
                  <a:txBody>
                    <a:bodyPr/>
                    <a:lstStyle/>
                    <a:p>
                      <a:pPr algn="l">
                        <a:defRPr sz="1100">
                          <a:solidFill>
                            <a:srgbClr val="000000"/>
                          </a:solidFill>
                        </a:defRPr>
                      </a:pPr>
                      <a:r>
                        <a:t>Fold 2</a:t>
                      </a:r>
                    </a:p>
                  </a:txBody>
                  <a:tcPr/>
                </a:tc>
                <a:tc>
                  <a:txBody>
                    <a:bodyPr/>
                    <a:lstStyle/>
                    <a:p>
                      <a:pPr algn="ctr">
                        <a:defRPr sz="1100">
                          <a:solidFill>
                            <a:srgbClr val="000000"/>
                          </a:solidFill>
                        </a:defRPr>
                      </a:pPr>
                      <a:r>
                        <a:t>0.993</a:t>
                      </a:r>
                    </a:p>
                  </a:txBody>
                  <a:tcPr/>
                </a:tc>
                <a:tc>
                  <a:txBody>
                    <a:bodyPr/>
                    <a:lstStyle/>
                    <a:p>
                      <a:pPr algn="ctr">
                        <a:defRPr sz="1100">
                          <a:solidFill>
                            <a:srgbClr val="000000"/>
                          </a:solidFill>
                        </a:defRPr>
                      </a:pPr>
                      <a:r>
                        <a:t>0.984</a:t>
                      </a:r>
                    </a:p>
                  </a:txBody>
                  <a:tcPr/>
                </a:tc>
                <a:tc>
                  <a:txBody>
                    <a:bodyPr/>
                    <a:lstStyle/>
                    <a:p>
                      <a:pPr algn="ctr">
                        <a:defRPr sz="1100">
                          <a:solidFill>
                            <a:srgbClr val="000000"/>
                          </a:solidFill>
                        </a:defRPr>
                      </a:pPr>
                      <a:r>
                        <a:t>0.999</a:t>
                      </a:r>
                    </a:p>
                  </a:txBody>
                  <a:tcPr/>
                </a:tc>
                <a:tc>
                  <a:txBody>
                    <a:bodyPr/>
                    <a:lstStyle/>
                    <a:p>
                      <a:pPr algn="ctr">
                        <a:defRPr sz="1100">
                          <a:solidFill>
                            <a:srgbClr val="000000"/>
                          </a:solidFill>
                        </a:defRPr>
                      </a:pPr>
                      <a:r>
                        <a:t>0.992</a:t>
                      </a:r>
                    </a:p>
                  </a:txBody>
                  <a:tcPr/>
                </a:tc>
                <a:tc>
                  <a:txBody>
                    <a:bodyPr/>
                    <a:lstStyle/>
                    <a:p>
                      <a:pPr algn="ctr">
                        <a:defRPr sz="1100">
                          <a:solidFill>
                            <a:srgbClr val="000000"/>
                          </a:solidFill>
                        </a:defRPr>
                      </a:pPr>
                      <a:r>
                        <a:t>0.985</a:t>
                      </a:r>
                    </a:p>
                  </a:txBody>
                  <a:tcPr/>
                </a:tc>
                <a:extLst>
                  <a:ext uri="{0D108BD9-81ED-4DB2-BD59-A6C34878D82A}">
                    <a16:rowId xmlns:a16="http://schemas.microsoft.com/office/drawing/2014/main" val="10002"/>
                  </a:ext>
                </a:extLst>
              </a:tr>
              <a:tr h="548640">
                <a:tc>
                  <a:txBody>
                    <a:bodyPr/>
                    <a:lstStyle/>
                    <a:p>
                      <a:pPr algn="l">
                        <a:defRPr sz="1100">
                          <a:solidFill>
                            <a:srgbClr val="000000"/>
                          </a:solidFill>
                        </a:defRPr>
                      </a:pPr>
                      <a:r>
                        <a:t>Fold 3</a:t>
                      </a:r>
                    </a:p>
                  </a:txBody>
                  <a:tcPr/>
                </a:tc>
                <a:tc>
                  <a:txBody>
                    <a:bodyPr/>
                    <a:lstStyle/>
                    <a:p>
                      <a:pPr algn="ctr">
                        <a:defRPr sz="1100">
                          <a:solidFill>
                            <a:srgbClr val="000000"/>
                          </a:solidFill>
                        </a:defRPr>
                      </a:pPr>
                      <a:r>
                        <a:t>0.996</a:t>
                      </a:r>
                    </a:p>
                  </a:txBody>
                  <a:tcPr/>
                </a:tc>
                <a:tc>
                  <a:txBody>
                    <a:bodyPr/>
                    <a:lstStyle/>
                    <a:p>
                      <a:pPr algn="ctr">
                        <a:defRPr sz="1100">
                          <a:solidFill>
                            <a:srgbClr val="000000"/>
                          </a:solidFill>
                        </a:defRPr>
                      </a:pPr>
                      <a:r>
                        <a:t>0.993</a:t>
                      </a:r>
                    </a:p>
                  </a:txBody>
                  <a:tcPr/>
                </a:tc>
                <a:tc>
                  <a:txBody>
                    <a:bodyPr/>
                    <a:lstStyle/>
                    <a:p>
                      <a:pPr algn="ctr">
                        <a:defRPr sz="1100">
                          <a:solidFill>
                            <a:srgbClr val="000000"/>
                          </a:solidFill>
                        </a:defRPr>
                      </a:pPr>
                      <a:r>
                        <a:t>1.000</a:t>
                      </a:r>
                    </a:p>
                  </a:txBody>
                  <a:tcPr/>
                </a:tc>
                <a:tc>
                  <a:txBody>
                    <a:bodyPr/>
                    <a:lstStyle/>
                    <a:p>
                      <a:pPr algn="ctr">
                        <a:defRPr sz="1100">
                          <a:solidFill>
                            <a:srgbClr val="000000"/>
                          </a:solidFill>
                        </a:defRPr>
                      </a:pPr>
                      <a:r>
                        <a:t>0.996</a:t>
                      </a:r>
                    </a:p>
                  </a:txBody>
                  <a:tcPr/>
                </a:tc>
                <a:tc>
                  <a:txBody>
                    <a:bodyPr/>
                    <a:lstStyle/>
                    <a:p>
                      <a:pPr algn="ctr">
                        <a:defRPr sz="1100">
                          <a:solidFill>
                            <a:srgbClr val="000000"/>
                          </a:solidFill>
                        </a:defRPr>
                      </a:pPr>
                      <a:r>
                        <a:t>0.992</a:t>
                      </a:r>
                    </a:p>
                  </a:txBody>
                  <a:tcPr/>
                </a:tc>
                <a:extLst>
                  <a:ext uri="{0D108BD9-81ED-4DB2-BD59-A6C34878D82A}">
                    <a16:rowId xmlns:a16="http://schemas.microsoft.com/office/drawing/2014/main" val="10003"/>
                  </a:ext>
                </a:extLst>
              </a:tr>
              <a:tr h="548640">
                <a:tc>
                  <a:txBody>
                    <a:bodyPr/>
                    <a:lstStyle/>
                    <a:p>
                      <a:pPr algn="l">
                        <a:defRPr sz="1100">
                          <a:solidFill>
                            <a:srgbClr val="000000"/>
                          </a:solidFill>
                        </a:defRPr>
                      </a:pPr>
                      <a:r>
                        <a:t>Fold 4</a:t>
                      </a:r>
                    </a:p>
                  </a:txBody>
                  <a:tcPr/>
                </a:tc>
                <a:tc>
                  <a:txBody>
                    <a:bodyPr/>
                    <a:lstStyle/>
                    <a:p>
                      <a:pPr algn="ctr">
                        <a:defRPr sz="1100">
                          <a:solidFill>
                            <a:srgbClr val="000000"/>
                          </a:solidFill>
                        </a:defRPr>
                      </a:pPr>
                      <a:r>
                        <a:t>0.994</a:t>
                      </a:r>
                    </a:p>
                  </a:txBody>
                  <a:tcPr/>
                </a:tc>
                <a:tc>
                  <a:txBody>
                    <a:bodyPr/>
                    <a:lstStyle/>
                    <a:p>
                      <a:pPr algn="ctr">
                        <a:defRPr sz="1100">
                          <a:solidFill>
                            <a:srgbClr val="000000"/>
                          </a:solidFill>
                        </a:defRPr>
                      </a:pPr>
                      <a:r>
                        <a:t>0.996</a:t>
                      </a:r>
                    </a:p>
                  </a:txBody>
                  <a:tcPr/>
                </a:tc>
                <a:tc>
                  <a:txBody>
                    <a:bodyPr/>
                    <a:lstStyle/>
                    <a:p>
                      <a:pPr algn="ctr">
                        <a:defRPr sz="1100">
                          <a:solidFill>
                            <a:srgbClr val="000000"/>
                          </a:solidFill>
                        </a:defRPr>
                      </a:pPr>
                      <a:r>
                        <a:t>0.993</a:t>
                      </a:r>
                    </a:p>
                  </a:txBody>
                  <a:tcPr/>
                </a:tc>
                <a:tc>
                  <a:txBody>
                    <a:bodyPr/>
                    <a:lstStyle/>
                    <a:p>
                      <a:pPr algn="ctr">
                        <a:defRPr sz="1100">
                          <a:solidFill>
                            <a:srgbClr val="000000"/>
                          </a:solidFill>
                        </a:defRPr>
                      </a:pPr>
                      <a:r>
                        <a:t>0.994</a:t>
                      </a:r>
                    </a:p>
                  </a:txBody>
                  <a:tcPr/>
                </a:tc>
                <a:tc>
                  <a:txBody>
                    <a:bodyPr/>
                    <a:lstStyle/>
                    <a:p>
                      <a:pPr algn="ctr">
                        <a:defRPr sz="1100">
                          <a:solidFill>
                            <a:srgbClr val="000000"/>
                          </a:solidFill>
                        </a:defRPr>
                      </a:pPr>
                      <a:r>
                        <a:t>0.988</a:t>
                      </a:r>
                    </a:p>
                  </a:txBody>
                  <a:tcPr/>
                </a:tc>
                <a:extLst>
                  <a:ext uri="{0D108BD9-81ED-4DB2-BD59-A6C34878D82A}">
                    <a16:rowId xmlns:a16="http://schemas.microsoft.com/office/drawing/2014/main" val="10004"/>
                  </a:ext>
                </a:extLst>
              </a:tr>
              <a:tr h="548640">
                <a:tc>
                  <a:txBody>
                    <a:bodyPr/>
                    <a:lstStyle/>
                    <a:p>
                      <a:pPr algn="l">
                        <a:defRPr sz="1100">
                          <a:solidFill>
                            <a:srgbClr val="000000"/>
                          </a:solidFill>
                        </a:defRPr>
                      </a:pPr>
                      <a:r>
                        <a:t>Fold 5</a:t>
                      </a:r>
                    </a:p>
                  </a:txBody>
                  <a:tcPr/>
                </a:tc>
                <a:tc>
                  <a:txBody>
                    <a:bodyPr/>
                    <a:lstStyle/>
                    <a:p>
                      <a:pPr algn="ctr">
                        <a:defRPr sz="1100">
                          <a:solidFill>
                            <a:srgbClr val="000000"/>
                          </a:solidFill>
                        </a:defRPr>
                      </a:pPr>
                      <a:r>
                        <a:t>0.882</a:t>
                      </a:r>
                    </a:p>
                  </a:txBody>
                  <a:tcPr/>
                </a:tc>
                <a:tc>
                  <a:txBody>
                    <a:bodyPr/>
                    <a:lstStyle/>
                    <a:p>
                      <a:pPr algn="ctr">
                        <a:defRPr sz="1100">
                          <a:solidFill>
                            <a:srgbClr val="000000"/>
                          </a:solidFill>
                        </a:defRPr>
                      </a:pPr>
                      <a:r>
                        <a:t>0.997</a:t>
                      </a:r>
                    </a:p>
                  </a:txBody>
                  <a:tcPr/>
                </a:tc>
                <a:tc>
                  <a:txBody>
                    <a:bodyPr/>
                    <a:lstStyle/>
                    <a:p>
                      <a:pPr algn="ctr">
                        <a:defRPr sz="1100">
                          <a:solidFill>
                            <a:srgbClr val="000000"/>
                          </a:solidFill>
                        </a:defRPr>
                      </a:pPr>
                      <a:r>
                        <a:t>0.777</a:t>
                      </a:r>
                    </a:p>
                  </a:txBody>
                  <a:tcPr/>
                </a:tc>
                <a:tc>
                  <a:txBody>
                    <a:bodyPr/>
                    <a:lstStyle/>
                    <a:p>
                      <a:pPr algn="ctr">
                        <a:defRPr sz="1100">
                          <a:solidFill>
                            <a:srgbClr val="000000"/>
                          </a:solidFill>
                        </a:defRPr>
                      </a:pPr>
                      <a:r>
                        <a:t>0.873</a:t>
                      </a:r>
                    </a:p>
                  </a:txBody>
                  <a:tcPr/>
                </a:tc>
                <a:tc>
                  <a:txBody>
                    <a:bodyPr/>
                    <a:lstStyle/>
                    <a:p>
                      <a:pPr algn="ctr">
                        <a:defRPr sz="1100">
                          <a:solidFill>
                            <a:srgbClr val="000000"/>
                          </a:solidFill>
                        </a:defRPr>
                      </a:pPr>
                      <a:r>
                        <a:t>0.766</a:t>
                      </a:r>
                    </a:p>
                  </a:txBody>
                  <a:tcPr/>
                </a:tc>
                <a:extLst>
                  <a:ext uri="{0D108BD9-81ED-4DB2-BD59-A6C34878D82A}">
                    <a16:rowId xmlns:a16="http://schemas.microsoft.com/office/drawing/2014/main" val="10005"/>
                  </a:ext>
                </a:extLst>
              </a:tr>
              <a:tr h="548640">
                <a:tc>
                  <a:txBody>
                    <a:bodyPr/>
                    <a:lstStyle/>
                    <a:p>
                      <a:pPr algn="l">
                        <a:defRPr sz="1100">
                          <a:solidFill>
                            <a:srgbClr val="000000"/>
                          </a:solidFill>
                        </a:defRPr>
                      </a:pPr>
                      <a:r>
                        <a:t>Mean ± Std</a:t>
                      </a:r>
                    </a:p>
                  </a:txBody>
                  <a:tcPr/>
                </a:tc>
                <a:tc>
                  <a:txBody>
                    <a:bodyPr/>
                    <a:lstStyle/>
                    <a:p>
                      <a:pPr algn="ctr">
                        <a:defRPr sz="1100">
                          <a:solidFill>
                            <a:srgbClr val="000000"/>
                          </a:solidFill>
                        </a:defRPr>
                      </a:pPr>
                      <a:r>
                        <a:rPr dirty="0"/>
                        <a:t>0.972 ± 0.050</a:t>
                      </a:r>
                    </a:p>
                  </a:txBody>
                  <a:tcPr/>
                </a:tc>
                <a:tc>
                  <a:txBody>
                    <a:bodyPr/>
                    <a:lstStyle/>
                    <a:p>
                      <a:pPr algn="ctr">
                        <a:defRPr sz="1100">
                          <a:solidFill>
                            <a:srgbClr val="000000"/>
                          </a:solidFill>
                        </a:defRPr>
                      </a:pPr>
                      <a:r>
                        <a:t>0.994 ± 0.006</a:t>
                      </a:r>
                    </a:p>
                  </a:txBody>
                  <a:tcPr/>
                </a:tc>
                <a:tc>
                  <a:txBody>
                    <a:bodyPr/>
                    <a:lstStyle/>
                    <a:p>
                      <a:pPr algn="ctr">
                        <a:defRPr sz="1100">
                          <a:solidFill>
                            <a:srgbClr val="000000"/>
                          </a:solidFill>
                        </a:defRPr>
                      </a:pPr>
                      <a:r>
                        <a:rPr dirty="0"/>
                        <a:t>0.952 ± 0.098</a:t>
                      </a:r>
                    </a:p>
                  </a:txBody>
                  <a:tcPr/>
                </a:tc>
                <a:tc>
                  <a:txBody>
                    <a:bodyPr/>
                    <a:lstStyle/>
                    <a:p>
                      <a:pPr algn="ctr">
                        <a:defRPr sz="1100">
                          <a:solidFill>
                            <a:srgbClr val="000000"/>
                          </a:solidFill>
                        </a:defRPr>
                      </a:pPr>
                      <a:r>
                        <a:rPr dirty="0"/>
                        <a:t>0.970 ± 0.054</a:t>
                      </a:r>
                    </a:p>
                  </a:txBody>
                  <a:tcPr/>
                </a:tc>
                <a:tc>
                  <a:txBody>
                    <a:bodyPr/>
                    <a:lstStyle/>
                    <a:p>
                      <a:pPr algn="ctr">
                        <a:defRPr sz="1100">
                          <a:solidFill>
                            <a:srgbClr val="000000"/>
                          </a:solidFill>
                        </a:defRPr>
                      </a:pPr>
                      <a:r>
                        <a:rPr dirty="0"/>
                        <a:t>0.945 ± 0.100</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82880"/>
            <a:ext cx="8229600" cy="548640"/>
          </a:xfrm>
          <a:prstGeom prst="rect">
            <a:avLst/>
          </a:prstGeom>
          <a:noFill/>
        </p:spPr>
        <p:txBody>
          <a:bodyPr wrap="none">
            <a:spAutoFit/>
          </a:bodyPr>
          <a:lstStyle/>
          <a:p>
            <a:pPr algn="l">
              <a:defRPr sz="2000" b="1"/>
            </a:pPr>
            <a:r>
              <a:rPr dirty="0"/>
              <a:t>ResNet-101  |  Correct setup + Pre-split </a:t>
            </a:r>
            <a:r>
              <a:rPr dirty="0" err="1"/>
              <a:t>Preproc</a:t>
            </a:r>
            <a:endParaRPr dirty="0"/>
          </a:p>
        </p:txBody>
      </p:sp>
      <p:graphicFrame>
        <p:nvGraphicFramePr>
          <p:cNvPr id="3" name="Table 2"/>
          <p:cNvGraphicFramePr>
            <a:graphicFrameLocks noGrp="1"/>
          </p:cNvGraphicFramePr>
          <p:nvPr/>
        </p:nvGraphicFramePr>
        <p:xfrm>
          <a:off x="365760" y="1005840"/>
          <a:ext cx="8229600" cy="38404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48640">
                <a:tc>
                  <a:txBody>
                    <a:bodyPr/>
                    <a:lstStyle/>
                    <a:p>
                      <a:pPr algn="ctr">
                        <a:defRPr sz="1200" b="1">
                          <a:solidFill>
                            <a:srgbClr val="000000"/>
                          </a:solidFill>
                        </a:defRPr>
                      </a:pPr>
                      <a:r>
                        <a:t>Fold</a:t>
                      </a:r>
                    </a:p>
                  </a:txBody>
                  <a:tcPr/>
                </a:tc>
                <a:tc>
                  <a:txBody>
                    <a:bodyPr/>
                    <a:lstStyle/>
                    <a:p>
                      <a:pPr algn="ctr">
                        <a:defRPr sz="1200" b="1">
                          <a:solidFill>
                            <a:srgbClr val="000000"/>
                          </a:solidFill>
                        </a:defRPr>
                      </a:pPr>
                      <a:r>
                        <a:t>Accuracy</a:t>
                      </a:r>
                    </a:p>
                  </a:txBody>
                  <a:tcPr/>
                </a:tc>
                <a:tc>
                  <a:txBody>
                    <a:bodyPr/>
                    <a:lstStyle/>
                    <a:p>
                      <a:pPr algn="ctr">
                        <a:defRPr sz="1200" b="1">
                          <a:solidFill>
                            <a:srgbClr val="000000"/>
                          </a:solidFill>
                        </a:defRPr>
                      </a:pPr>
                      <a:r>
                        <a:t>Precision</a:t>
                      </a:r>
                    </a:p>
                  </a:txBody>
                  <a:tcPr/>
                </a:tc>
                <a:tc>
                  <a:txBody>
                    <a:bodyPr/>
                    <a:lstStyle/>
                    <a:p>
                      <a:pPr algn="ctr">
                        <a:defRPr sz="1200" b="1">
                          <a:solidFill>
                            <a:srgbClr val="000000"/>
                          </a:solidFill>
                        </a:defRPr>
                      </a:pPr>
                      <a:r>
                        <a:t>Recall</a:t>
                      </a:r>
                    </a:p>
                  </a:txBody>
                  <a:tcPr/>
                </a:tc>
                <a:tc>
                  <a:txBody>
                    <a:bodyPr/>
                    <a:lstStyle/>
                    <a:p>
                      <a:pPr algn="ctr">
                        <a:defRPr sz="1200" b="1">
                          <a:solidFill>
                            <a:srgbClr val="000000"/>
                          </a:solidFill>
                        </a:defRPr>
                      </a:pPr>
                      <a:r>
                        <a:t>F1</a:t>
                      </a:r>
                    </a:p>
                  </a:txBody>
                  <a:tcPr/>
                </a:tc>
                <a:tc>
                  <a:txBody>
                    <a:bodyPr/>
                    <a:lstStyle/>
                    <a:p>
                      <a:pPr algn="ctr">
                        <a:defRPr sz="1200" b="1">
                          <a:solidFill>
                            <a:srgbClr val="000000"/>
                          </a:solidFill>
                        </a:defRPr>
                      </a:pPr>
                      <a:r>
                        <a:t>Cohen's κ</a:t>
                      </a:r>
                    </a:p>
                  </a:txBody>
                  <a:tcPr/>
                </a:tc>
                <a:extLst>
                  <a:ext uri="{0D108BD9-81ED-4DB2-BD59-A6C34878D82A}">
                    <a16:rowId xmlns:a16="http://schemas.microsoft.com/office/drawing/2014/main" val="10000"/>
                  </a:ext>
                </a:extLst>
              </a:tr>
              <a:tr h="548640">
                <a:tc>
                  <a:txBody>
                    <a:bodyPr/>
                    <a:lstStyle/>
                    <a:p>
                      <a:pPr algn="l">
                        <a:defRPr sz="1100">
                          <a:solidFill>
                            <a:srgbClr val="000000"/>
                          </a:solidFill>
                        </a:defRPr>
                      </a:pPr>
                      <a:r>
                        <a:t>Fold 1</a:t>
                      </a:r>
                    </a:p>
                  </a:txBody>
                  <a:tcPr/>
                </a:tc>
                <a:tc>
                  <a:txBody>
                    <a:bodyPr/>
                    <a:lstStyle/>
                    <a:p>
                      <a:pPr algn="ctr">
                        <a:defRPr sz="1100">
                          <a:solidFill>
                            <a:srgbClr val="000000"/>
                          </a:solidFill>
                        </a:defRPr>
                      </a:pPr>
                      <a:r>
                        <a:t>0.898</a:t>
                      </a:r>
                    </a:p>
                  </a:txBody>
                  <a:tcPr/>
                </a:tc>
                <a:tc>
                  <a:txBody>
                    <a:bodyPr/>
                    <a:lstStyle/>
                    <a:p>
                      <a:pPr algn="ctr">
                        <a:defRPr sz="1100">
                          <a:solidFill>
                            <a:srgbClr val="000000"/>
                          </a:solidFill>
                        </a:defRPr>
                      </a:pPr>
                      <a:r>
                        <a:t>0.943</a:t>
                      </a:r>
                    </a:p>
                  </a:txBody>
                  <a:tcPr/>
                </a:tc>
                <a:tc>
                  <a:txBody>
                    <a:bodyPr/>
                    <a:lstStyle/>
                    <a:p>
                      <a:pPr algn="ctr">
                        <a:defRPr sz="1100">
                          <a:solidFill>
                            <a:srgbClr val="000000"/>
                          </a:solidFill>
                        </a:defRPr>
                      </a:pPr>
                      <a:r>
                        <a:t>0.834</a:t>
                      </a:r>
                    </a:p>
                  </a:txBody>
                  <a:tcPr/>
                </a:tc>
                <a:tc>
                  <a:txBody>
                    <a:bodyPr/>
                    <a:lstStyle/>
                    <a:p>
                      <a:pPr algn="ctr">
                        <a:defRPr sz="1100">
                          <a:solidFill>
                            <a:srgbClr val="000000"/>
                          </a:solidFill>
                        </a:defRPr>
                      </a:pPr>
                      <a:r>
                        <a:t>0.885</a:t>
                      </a:r>
                    </a:p>
                  </a:txBody>
                  <a:tcPr/>
                </a:tc>
                <a:tc>
                  <a:txBody>
                    <a:bodyPr/>
                    <a:lstStyle/>
                    <a:p>
                      <a:pPr algn="ctr">
                        <a:defRPr sz="1100">
                          <a:solidFill>
                            <a:srgbClr val="000000"/>
                          </a:solidFill>
                        </a:defRPr>
                      </a:pPr>
                      <a:r>
                        <a:t>0.794</a:t>
                      </a:r>
                    </a:p>
                  </a:txBody>
                  <a:tcPr/>
                </a:tc>
                <a:extLst>
                  <a:ext uri="{0D108BD9-81ED-4DB2-BD59-A6C34878D82A}">
                    <a16:rowId xmlns:a16="http://schemas.microsoft.com/office/drawing/2014/main" val="10001"/>
                  </a:ext>
                </a:extLst>
              </a:tr>
              <a:tr h="548640">
                <a:tc>
                  <a:txBody>
                    <a:bodyPr/>
                    <a:lstStyle/>
                    <a:p>
                      <a:pPr algn="l">
                        <a:defRPr sz="1100">
                          <a:solidFill>
                            <a:srgbClr val="000000"/>
                          </a:solidFill>
                        </a:defRPr>
                      </a:pPr>
                      <a:r>
                        <a:t>Fold 2</a:t>
                      </a:r>
                    </a:p>
                  </a:txBody>
                  <a:tcPr/>
                </a:tc>
                <a:tc>
                  <a:txBody>
                    <a:bodyPr/>
                    <a:lstStyle/>
                    <a:p>
                      <a:pPr algn="ctr">
                        <a:defRPr sz="1100">
                          <a:solidFill>
                            <a:srgbClr val="000000"/>
                          </a:solidFill>
                        </a:defRPr>
                      </a:pPr>
                      <a:r>
                        <a:t>0.921</a:t>
                      </a:r>
                    </a:p>
                  </a:txBody>
                  <a:tcPr/>
                </a:tc>
                <a:tc>
                  <a:txBody>
                    <a:bodyPr/>
                    <a:lstStyle/>
                    <a:p>
                      <a:pPr algn="ctr">
                        <a:defRPr sz="1100">
                          <a:solidFill>
                            <a:srgbClr val="000000"/>
                          </a:solidFill>
                        </a:defRPr>
                      </a:pPr>
                      <a:r>
                        <a:t>0.877</a:t>
                      </a:r>
                    </a:p>
                  </a:txBody>
                  <a:tcPr/>
                </a:tc>
                <a:tc>
                  <a:txBody>
                    <a:bodyPr/>
                    <a:lstStyle/>
                    <a:p>
                      <a:pPr algn="ctr">
                        <a:defRPr sz="1100">
                          <a:solidFill>
                            <a:srgbClr val="000000"/>
                          </a:solidFill>
                        </a:defRPr>
                      </a:pPr>
                      <a:r>
                        <a:t>0.939</a:t>
                      </a:r>
                    </a:p>
                  </a:txBody>
                  <a:tcPr/>
                </a:tc>
                <a:tc>
                  <a:txBody>
                    <a:bodyPr/>
                    <a:lstStyle/>
                    <a:p>
                      <a:pPr algn="ctr">
                        <a:defRPr sz="1100">
                          <a:solidFill>
                            <a:srgbClr val="000000"/>
                          </a:solidFill>
                        </a:defRPr>
                      </a:pPr>
                      <a:r>
                        <a:t>0.907</a:t>
                      </a:r>
                    </a:p>
                  </a:txBody>
                  <a:tcPr/>
                </a:tc>
                <a:tc>
                  <a:txBody>
                    <a:bodyPr/>
                    <a:lstStyle/>
                    <a:p>
                      <a:pPr algn="ctr">
                        <a:defRPr sz="1100">
                          <a:solidFill>
                            <a:srgbClr val="000000"/>
                          </a:solidFill>
                        </a:defRPr>
                      </a:pPr>
                      <a:r>
                        <a:t>0.839</a:t>
                      </a:r>
                    </a:p>
                  </a:txBody>
                  <a:tcPr/>
                </a:tc>
                <a:extLst>
                  <a:ext uri="{0D108BD9-81ED-4DB2-BD59-A6C34878D82A}">
                    <a16:rowId xmlns:a16="http://schemas.microsoft.com/office/drawing/2014/main" val="10002"/>
                  </a:ext>
                </a:extLst>
              </a:tr>
              <a:tr h="548640">
                <a:tc>
                  <a:txBody>
                    <a:bodyPr/>
                    <a:lstStyle/>
                    <a:p>
                      <a:pPr algn="l">
                        <a:defRPr sz="1100">
                          <a:solidFill>
                            <a:srgbClr val="000000"/>
                          </a:solidFill>
                        </a:defRPr>
                      </a:pPr>
                      <a:r>
                        <a:t>Fold 3</a:t>
                      </a:r>
                    </a:p>
                  </a:txBody>
                  <a:tcPr/>
                </a:tc>
                <a:tc>
                  <a:txBody>
                    <a:bodyPr/>
                    <a:lstStyle/>
                    <a:p>
                      <a:pPr algn="ctr">
                        <a:defRPr sz="1100">
                          <a:solidFill>
                            <a:srgbClr val="000000"/>
                          </a:solidFill>
                        </a:defRPr>
                      </a:pPr>
                      <a:r>
                        <a:t>0.950</a:t>
                      </a:r>
                    </a:p>
                  </a:txBody>
                  <a:tcPr/>
                </a:tc>
                <a:tc>
                  <a:txBody>
                    <a:bodyPr/>
                    <a:lstStyle/>
                    <a:p>
                      <a:pPr algn="ctr">
                        <a:defRPr sz="1100">
                          <a:solidFill>
                            <a:srgbClr val="000000"/>
                          </a:solidFill>
                        </a:defRPr>
                      </a:pPr>
                      <a:r>
                        <a:t>0.950</a:t>
                      </a:r>
                    </a:p>
                  </a:txBody>
                  <a:tcPr/>
                </a:tc>
                <a:tc>
                  <a:txBody>
                    <a:bodyPr/>
                    <a:lstStyle/>
                    <a:p>
                      <a:pPr algn="ctr">
                        <a:defRPr sz="1100">
                          <a:solidFill>
                            <a:srgbClr val="000000"/>
                          </a:solidFill>
                        </a:defRPr>
                      </a:pPr>
                      <a:r>
                        <a:t>0.961</a:t>
                      </a:r>
                    </a:p>
                  </a:txBody>
                  <a:tcPr/>
                </a:tc>
                <a:tc>
                  <a:txBody>
                    <a:bodyPr/>
                    <a:lstStyle/>
                    <a:p>
                      <a:pPr algn="ctr">
                        <a:defRPr sz="1100">
                          <a:solidFill>
                            <a:srgbClr val="000000"/>
                          </a:solidFill>
                        </a:defRPr>
                      </a:pPr>
                      <a:r>
                        <a:t>0.955</a:t>
                      </a:r>
                    </a:p>
                  </a:txBody>
                  <a:tcPr/>
                </a:tc>
                <a:tc>
                  <a:txBody>
                    <a:bodyPr/>
                    <a:lstStyle/>
                    <a:p>
                      <a:pPr algn="ctr">
                        <a:defRPr sz="1100">
                          <a:solidFill>
                            <a:srgbClr val="000000"/>
                          </a:solidFill>
                        </a:defRPr>
                      </a:pPr>
                      <a:r>
                        <a:t>0.898</a:t>
                      </a:r>
                    </a:p>
                  </a:txBody>
                  <a:tcPr/>
                </a:tc>
                <a:extLst>
                  <a:ext uri="{0D108BD9-81ED-4DB2-BD59-A6C34878D82A}">
                    <a16:rowId xmlns:a16="http://schemas.microsoft.com/office/drawing/2014/main" val="10003"/>
                  </a:ext>
                </a:extLst>
              </a:tr>
              <a:tr h="548640">
                <a:tc>
                  <a:txBody>
                    <a:bodyPr/>
                    <a:lstStyle/>
                    <a:p>
                      <a:pPr algn="l">
                        <a:defRPr sz="1100">
                          <a:solidFill>
                            <a:srgbClr val="000000"/>
                          </a:solidFill>
                        </a:defRPr>
                      </a:pPr>
                      <a:r>
                        <a:t>Fold 4</a:t>
                      </a:r>
                    </a:p>
                  </a:txBody>
                  <a:tcPr/>
                </a:tc>
                <a:tc>
                  <a:txBody>
                    <a:bodyPr/>
                    <a:lstStyle/>
                    <a:p>
                      <a:pPr algn="ctr">
                        <a:defRPr sz="1100">
                          <a:solidFill>
                            <a:srgbClr val="000000"/>
                          </a:solidFill>
                        </a:defRPr>
                      </a:pPr>
                      <a:r>
                        <a:t>0.885</a:t>
                      </a:r>
                    </a:p>
                  </a:txBody>
                  <a:tcPr/>
                </a:tc>
                <a:tc>
                  <a:txBody>
                    <a:bodyPr/>
                    <a:lstStyle/>
                    <a:p>
                      <a:pPr algn="ctr">
                        <a:defRPr sz="1100">
                          <a:solidFill>
                            <a:srgbClr val="000000"/>
                          </a:solidFill>
                        </a:defRPr>
                      </a:pPr>
                      <a:r>
                        <a:t>0.933</a:t>
                      </a:r>
                    </a:p>
                  </a:txBody>
                  <a:tcPr/>
                </a:tc>
                <a:tc>
                  <a:txBody>
                    <a:bodyPr/>
                    <a:lstStyle/>
                    <a:p>
                      <a:pPr algn="ctr">
                        <a:defRPr sz="1100">
                          <a:solidFill>
                            <a:srgbClr val="000000"/>
                          </a:solidFill>
                        </a:defRPr>
                      </a:pPr>
                      <a:r>
                        <a:t>0.854</a:t>
                      </a:r>
                    </a:p>
                  </a:txBody>
                  <a:tcPr/>
                </a:tc>
                <a:tc>
                  <a:txBody>
                    <a:bodyPr/>
                    <a:lstStyle/>
                    <a:p>
                      <a:pPr algn="ctr">
                        <a:defRPr sz="1100">
                          <a:solidFill>
                            <a:srgbClr val="000000"/>
                          </a:solidFill>
                        </a:defRPr>
                      </a:pPr>
                      <a:r>
                        <a:t>0.892</a:t>
                      </a:r>
                    </a:p>
                  </a:txBody>
                  <a:tcPr/>
                </a:tc>
                <a:tc>
                  <a:txBody>
                    <a:bodyPr/>
                    <a:lstStyle/>
                    <a:p>
                      <a:pPr algn="ctr">
                        <a:defRPr sz="1100">
                          <a:solidFill>
                            <a:srgbClr val="000000"/>
                          </a:solidFill>
                        </a:defRPr>
                      </a:pPr>
                      <a:r>
                        <a:t>0.771</a:t>
                      </a:r>
                    </a:p>
                  </a:txBody>
                  <a:tcPr/>
                </a:tc>
                <a:extLst>
                  <a:ext uri="{0D108BD9-81ED-4DB2-BD59-A6C34878D82A}">
                    <a16:rowId xmlns:a16="http://schemas.microsoft.com/office/drawing/2014/main" val="10004"/>
                  </a:ext>
                </a:extLst>
              </a:tr>
              <a:tr h="548640">
                <a:tc>
                  <a:txBody>
                    <a:bodyPr/>
                    <a:lstStyle/>
                    <a:p>
                      <a:pPr algn="l">
                        <a:defRPr sz="1100">
                          <a:solidFill>
                            <a:srgbClr val="000000"/>
                          </a:solidFill>
                        </a:defRPr>
                      </a:pPr>
                      <a:r>
                        <a:t>Fold 5</a:t>
                      </a:r>
                    </a:p>
                  </a:txBody>
                  <a:tcPr/>
                </a:tc>
                <a:tc>
                  <a:txBody>
                    <a:bodyPr/>
                    <a:lstStyle/>
                    <a:p>
                      <a:pPr algn="ctr">
                        <a:defRPr sz="1100">
                          <a:solidFill>
                            <a:srgbClr val="000000"/>
                          </a:solidFill>
                        </a:defRPr>
                      </a:pPr>
                      <a:r>
                        <a:t>0.748</a:t>
                      </a:r>
                    </a:p>
                  </a:txBody>
                  <a:tcPr/>
                </a:tc>
                <a:tc>
                  <a:txBody>
                    <a:bodyPr/>
                    <a:lstStyle/>
                    <a:p>
                      <a:pPr algn="ctr">
                        <a:defRPr sz="1100">
                          <a:solidFill>
                            <a:srgbClr val="000000"/>
                          </a:solidFill>
                        </a:defRPr>
                      </a:pPr>
                      <a:r>
                        <a:t>0.870</a:t>
                      </a:r>
                    </a:p>
                  </a:txBody>
                  <a:tcPr/>
                </a:tc>
                <a:tc>
                  <a:txBody>
                    <a:bodyPr/>
                    <a:lstStyle/>
                    <a:p>
                      <a:pPr algn="ctr">
                        <a:defRPr sz="1100">
                          <a:solidFill>
                            <a:srgbClr val="000000"/>
                          </a:solidFill>
                        </a:defRPr>
                      </a:pPr>
                      <a:r>
                        <a:t>0.587</a:t>
                      </a:r>
                    </a:p>
                  </a:txBody>
                  <a:tcPr/>
                </a:tc>
                <a:tc>
                  <a:txBody>
                    <a:bodyPr/>
                    <a:lstStyle/>
                    <a:p>
                      <a:pPr algn="ctr">
                        <a:defRPr sz="1100">
                          <a:solidFill>
                            <a:srgbClr val="000000"/>
                          </a:solidFill>
                        </a:defRPr>
                      </a:pPr>
                      <a:r>
                        <a:t>0.701</a:t>
                      </a:r>
                    </a:p>
                  </a:txBody>
                  <a:tcPr/>
                </a:tc>
                <a:tc>
                  <a:txBody>
                    <a:bodyPr/>
                    <a:lstStyle/>
                    <a:p>
                      <a:pPr algn="ctr">
                        <a:defRPr sz="1100">
                          <a:solidFill>
                            <a:srgbClr val="000000"/>
                          </a:solidFill>
                        </a:defRPr>
                      </a:pPr>
                      <a:r>
                        <a:t>0.497</a:t>
                      </a:r>
                    </a:p>
                  </a:txBody>
                  <a:tcPr/>
                </a:tc>
                <a:extLst>
                  <a:ext uri="{0D108BD9-81ED-4DB2-BD59-A6C34878D82A}">
                    <a16:rowId xmlns:a16="http://schemas.microsoft.com/office/drawing/2014/main" val="10005"/>
                  </a:ext>
                </a:extLst>
              </a:tr>
              <a:tr h="548640">
                <a:tc>
                  <a:txBody>
                    <a:bodyPr/>
                    <a:lstStyle/>
                    <a:p>
                      <a:pPr algn="l">
                        <a:defRPr sz="1100">
                          <a:solidFill>
                            <a:srgbClr val="000000"/>
                          </a:solidFill>
                        </a:defRPr>
                      </a:pPr>
                      <a:r>
                        <a:t>Mean ± Std</a:t>
                      </a:r>
                    </a:p>
                  </a:txBody>
                  <a:tcPr/>
                </a:tc>
                <a:tc>
                  <a:txBody>
                    <a:bodyPr/>
                    <a:lstStyle/>
                    <a:p>
                      <a:pPr algn="ctr">
                        <a:defRPr sz="1100">
                          <a:solidFill>
                            <a:srgbClr val="000000"/>
                          </a:solidFill>
                        </a:defRPr>
                      </a:pPr>
                      <a:r>
                        <a:rPr dirty="0"/>
                        <a:t>0.881 ± 0.078</a:t>
                      </a:r>
                    </a:p>
                  </a:txBody>
                  <a:tcPr/>
                </a:tc>
                <a:tc>
                  <a:txBody>
                    <a:bodyPr/>
                    <a:lstStyle/>
                    <a:p>
                      <a:pPr algn="ctr">
                        <a:defRPr sz="1100">
                          <a:solidFill>
                            <a:srgbClr val="000000"/>
                          </a:solidFill>
                        </a:defRPr>
                      </a:pPr>
                      <a:r>
                        <a:rPr dirty="0"/>
                        <a:t>0.915 ± 0.038</a:t>
                      </a:r>
                    </a:p>
                  </a:txBody>
                  <a:tcPr/>
                </a:tc>
                <a:tc>
                  <a:txBody>
                    <a:bodyPr/>
                    <a:lstStyle/>
                    <a:p>
                      <a:pPr algn="ctr">
                        <a:defRPr sz="1100">
                          <a:solidFill>
                            <a:srgbClr val="000000"/>
                          </a:solidFill>
                        </a:defRPr>
                      </a:pPr>
                      <a:r>
                        <a:rPr dirty="0"/>
                        <a:t>0.835 ± 0.149</a:t>
                      </a:r>
                    </a:p>
                  </a:txBody>
                  <a:tcPr/>
                </a:tc>
                <a:tc>
                  <a:txBody>
                    <a:bodyPr/>
                    <a:lstStyle/>
                    <a:p>
                      <a:pPr algn="ctr">
                        <a:defRPr sz="1100">
                          <a:solidFill>
                            <a:srgbClr val="000000"/>
                          </a:solidFill>
                        </a:defRPr>
                      </a:pPr>
                      <a:r>
                        <a:rPr dirty="0"/>
                        <a:t>0.868 ± 0.097</a:t>
                      </a:r>
                    </a:p>
                  </a:txBody>
                  <a:tcPr/>
                </a:tc>
                <a:tc>
                  <a:txBody>
                    <a:bodyPr/>
                    <a:lstStyle/>
                    <a:p>
                      <a:pPr algn="ctr">
                        <a:defRPr sz="1100">
                          <a:solidFill>
                            <a:srgbClr val="000000"/>
                          </a:solidFill>
                        </a:defRPr>
                      </a:pPr>
                      <a:r>
                        <a:rPr dirty="0"/>
                        <a:t>0.760 ± 0.155</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FF2C2-8DAE-0883-E05B-95B331C4A53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254ABF9-066F-C5ED-14AE-CAB003788D64}"/>
              </a:ext>
            </a:extLst>
          </p:cNvPr>
          <p:cNvSpPr txBox="1"/>
          <p:nvPr/>
        </p:nvSpPr>
        <p:spPr>
          <a:xfrm>
            <a:off x="365760" y="273883"/>
            <a:ext cx="6306535" cy="400110"/>
          </a:xfrm>
          <a:prstGeom prst="rect">
            <a:avLst/>
          </a:prstGeom>
          <a:noFill/>
        </p:spPr>
        <p:txBody>
          <a:bodyPr wrap="none">
            <a:spAutoFit/>
          </a:bodyPr>
          <a:lstStyle/>
          <a:p>
            <a:pPr algn="l">
              <a:defRPr sz="2000" b="1"/>
            </a:pPr>
            <a:r>
              <a:rPr dirty="0"/>
              <a:t>ResNet-101  |  Correct setup + </a:t>
            </a:r>
            <a:r>
              <a:rPr lang="da-DK" dirty="0"/>
              <a:t>Post</a:t>
            </a:r>
            <a:r>
              <a:rPr dirty="0"/>
              <a:t>-split </a:t>
            </a:r>
            <a:r>
              <a:rPr lang="da-DK" dirty="0"/>
              <a:t>+ </a:t>
            </a:r>
            <a:r>
              <a:rPr dirty="0" err="1"/>
              <a:t>Preproc</a:t>
            </a:r>
            <a:endParaRPr dirty="0"/>
          </a:p>
        </p:txBody>
      </p:sp>
      <p:graphicFrame>
        <p:nvGraphicFramePr>
          <p:cNvPr id="3" name="Table 2">
            <a:extLst>
              <a:ext uri="{FF2B5EF4-FFF2-40B4-BE49-F238E27FC236}">
                <a16:creationId xmlns:a16="http://schemas.microsoft.com/office/drawing/2014/main" id="{89FCA0FB-1C16-D875-5D1B-11323B163A5F}"/>
              </a:ext>
            </a:extLst>
          </p:cNvPr>
          <p:cNvGraphicFramePr>
            <a:graphicFrameLocks noGrp="1"/>
          </p:cNvGraphicFramePr>
          <p:nvPr>
            <p:extLst>
              <p:ext uri="{D42A27DB-BD31-4B8C-83A1-F6EECF244321}">
                <p14:modId xmlns:p14="http://schemas.microsoft.com/office/powerpoint/2010/main" val="3422998897"/>
              </p:ext>
            </p:extLst>
          </p:nvPr>
        </p:nvGraphicFramePr>
        <p:xfrm>
          <a:off x="365760" y="1005840"/>
          <a:ext cx="8229600" cy="38404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48640">
                <a:tc>
                  <a:txBody>
                    <a:bodyPr/>
                    <a:lstStyle/>
                    <a:p>
                      <a:pPr algn="ctr">
                        <a:defRPr sz="1200" b="1">
                          <a:solidFill>
                            <a:srgbClr val="000000"/>
                          </a:solidFill>
                        </a:defRPr>
                      </a:pPr>
                      <a:r>
                        <a:rPr dirty="0"/>
                        <a:t>Fold</a:t>
                      </a:r>
                    </a:p>
                  </a:txBody>
                  <a:tcPr/>
                </a:tc>
                <a:tc>
                  <a:txBody>
                    <a:bodyPr/>
                    <a:lstStyle/>
                    <a:p>
                      <a:pPr algn="ctr">
                        <a:defRPr sz="1200" b="1">
                          <a:solidFill>
                            <a:srgbClr val="000000"/>
                          </a:solidFill>
                        </a:defRPr>
                      </a:pPr>
                      <a:r>
                        <a:t>Accuracy</a:t>
                      </a:r>
                    </a:p>
                  </a:txBody>
                  <a:tcPr/>
                </a:tc>
                <a:tc>
                  <a:txBody>
                    <a:bodyPr/>
                    <a:lstStyle/>
                    <a:p>
                      <a:pPr algn="ctr">
                        <a:defRPr sz="1200" b="1">
                          <a:solidFill>
                            <a:srgbClr val="000000"/>
                          </a:solidFill>
                        </a:defRPr>
                      </a:pPr>
                      <a:r>
                        <a:t>Precision</a:t>
                      </a:r>
                    </a:p>
                  </a:txBody>
                  <a:tcPr/>
                </a:tc>
                <a:tc>
                  <a:txBody>
                    <a:bodyPr/>
                    <a:lstStyle/>
                    <a:p>
                      <a:pPr algn="ctr">
                        <a:defRPr sz="1200" b="1">
                          <a:solidFill>
                            <a:srgbClr val="000000"/>
                          </a:solidFill>
                        </a:defRPr>
                      </a:pPr>
                      <a:r>
                        <a:t>Recall</a:t>
                      </a:r>
                    </a:p>
                  </a:txBody>
                  <a:tcPr/>
                </a:tc>
                <a:tc>
                  <a:txBody>
                    <a:bodyPr/>
                    <a:lstStyle/>
                    <a:p>
                      <a:pPr algn="ctr">
                        <a:defRPr sz="1200" b="1">
                          <a:solidFill>
                            <a:srgbClr val="000000"/>
                          </a:solidFill>
                        </a:defRPr>
                      </a:pPr>
                      <a:r>
                        <a:t>F1</a:t>
                      </a:r>
                    </a:p>
                  </a:txBody>
                  <a:tcPr/>
                </a:tc>
                <a:tc>
                  <a:txBody>
                    <a:bodyPr/>
                    <a:lstStyle/>
                    <a:p>
                      <a:pPr algn="ctr">
                        <a:defRPr sz="1200" b="1">
                          <a:solidFill>
                            <a:srgbClr val="000000"/>
                          </a:solidFill>
                        </a:defRPr>
                      </a:pPr>
                      <a:r>
                        <a:t>Cohen's κ</a:t>
                      </a:r>
                    </a:p>
                  </a:txBody>
                  <a:tcPr/>
                </a:tc>
                <a:extLst>
                  <a:ext uri="{0D108BD9-81ED-4DB2-BD59-A6C34878D82A}">
                    <a16:rowId xmlns:a16="http://schemas.microsoft.com/office/drawing/2014/main" val="10000"/>
                  </a:ext>
                </a:extLst>
              </a:tr>
              <a:tr h="548640">
                <a:tc>
                  <a:txBody>
                    <a:bodyPr/>
                    <a:lstStyle/>
                    <a:p>
                      <a:pPr algn="l">
                        <a:defRPr sz="1100">
                          <a:solidFill>
                            <a:srgbClr val="000000"/>
                          </a:solidFill>
                        </a:defRPr>
                      </a:pPr>
                      <a:r>
                        <a:t>Fold 1</a:t>
                      </a:r>
                    </a:p>
                  </a:txBody>
                  <a:tcPr/>
                </a:tc>
                <a:tc>
                  <a:txBody>
                    <a:bodyPr/>
                    <a:lstStyle/>
                    <a:p>
                      <a:pPr algn="ctr">
                        <a:buNone/>
                      </a:pPr>
                      <a:r>
                        <a:rPr lang="da-DK" sz="1100" dirty="0">
                          <a:solidFill>
                            <a:schemeClr val="tx1"/>
                          </a:solidFill>
                          <a:effectLst/>
                        </a:rPr>
                        <a:t>0.401</a:t>
                      </a:r>
                    </a:p>
                  </a:txBody>
                  <a:tcPr marL="76200" marR="76200" marT="38100" marB="38100" anchor="ctr"/>
                </a:tc>
                <a:tc>
                  <a:txBody>
                    <a:bodyPr/>
                    <a:lstStyle/>
                    <a:p>
                      <a:pPr>
                        <a:buNone/>
                      </a:pPr>
                      <a:r>
                        <a:rPr lang="da-DK" sz="1100" dirty="0">
                          <a:solidFill>
                            <a:schemeClr val="tx1"/>
                          </a:solidFill>
                          <a:effectLst/>
                        </a:rPr>
                        <a:t>0.640</a:t>
                      </a:r>
                    </a:p>
                  </a:txBody>
                  <a:tcPr marL="76200" marR="76200" marT="38100" marB="38100" anchor="ctr"/>
                </a:tc>
                <a:tc>
                  <a:txBody>
                    <a:bodyPr/>
                    <a:lstStyle/>
                    <a:p>
                      <a:pPr>
                        <a:buNone/>
                      </a:pPr>
                      <a:r>
                        <a:rPr lang="da-DK" sz="1100" dirty="0">
                          <a:solidFill>
                            <a:schemeClr val="tx1"/>
                          </a:solidFill>
                          <a:effectLst/>
                        </a:rPr>
                        <a:t>0.493</a:t>
                      </a:r>
                    </a:p>
                  </a:txBody>
                  <a:tcPr marL="76200" marR="76200" marT="38100" marB="38100" anchor="ctr"/>
                </a:tc>
                <a:tc>
                  <a:txBody>
                    <a:bodyPr/>
                    <a:lstStyle/>
                    <a:p>
                      <a:pPr>
                        <a:buNone/>
                      </a:pPr>
                      <a:r>
                        <a:rPr lang="da-DK" sz="1100" dirty="0">
                          <a:solidFill>
                            <a:schemeClr val="tx1"/>
                          </a:solidFill>
                          <a:effectLst/>
                        </a:rPr>
                        <a:t>0.387</a:t>
                      </a:r>
                    </a:p>
                  </a:txBody>
                  <a:tcPr marL="76200" marR="76200" marT="38100" marB="38100" anchor="ctr"/>
                </a:tc>
                <a:tc>
                  <a:txBody>
                    <a:bodyPr/>
                    <a:lstStyle/>
                    <a:p>
                      <a:r>
                        <a:rPr lang="da-DK" sz="1100" b="0" i="0" kern="1200" dirty="0">
                          <a:solidFill>
                            <a:schemeClr val="tx1"/>
                          </a:solidFill>
                          <a:effectLst/>
                          <a:latin typeface="+mn-lt"/>
                          <a:ea typeface="+mn-ea"/>
                          <a:cs typeface="+mn-cs"/>
                        </a:rPr>
                        <a:t>0.387</a:t>
                      </a:r>
                      <a:endParaRPr lang="da-DK" sz="1100" dirty="0">
                        <a:solidFill>
                          <a:schemeClr val="tx1"/>
                        </a:solidFill>
                      </a:endParaRPr>
                    </a:p>
                  </a:txBody>
                  <a:tcPr/>
                </a:tc>
                <a:extLst>
                  <a:ext uri="{0D108BD9-81ED-4DB2-BD59-A6C34878D82A}">
                    <a16:rowId xmlns:a16="http://schemas.microsoft.com/office/drawing/2014/main" val="10001"/>
                  </a:ext>
                </a:extLst>
              </a:tr>
              <a:tr h="548640">
                <a:tc>
                  <a:txBody>
                    <a:bodyPr/>
                    <a:lstStyle/>
                    <a:p>
                      <a:pPr algn="l">
                        <a:defRPr sz="1100">
                          <a:solidFill>
                            <a:srgbClr val="000000"/>
                          </a:solidFill>
                        </a:defRPr>
                      </a:pPr>
                      <a:r>
                        <a:t>Fold 2</a:t>
                      </a:r>
                    </a:p>
                  </a:txBody>
                  <a:tcPr/>
                </a:tc>
                <a:tc>
                  <a:txBody>
                    <a:bodyPr/>
                    <a:lstStyle/>
                    <a:p>
                      <a:pPr algn="ctr">
                        <a:buNone/>
                      </a:pPr>
                      <a:r>
                        <a:rPr lang="da-DK" sz="1100" dirty="0">
                          <a:solidFill>
                            <a:schemeClr val="tx1"/>
                          </a:solidFill>
                          <a:effectLst/>
                        </a:rPr>
                        <a:t>0.850</a:t>
                      </a:r>
                    </a:p>
                  </a:txBody>
                  <a:tcPr marL="76200" marR="76200" marT="38100" marB="38100" anchor="ctr"/>
                </a:tc>
                <a:tc>
                  <a:txBody>
                    <a:bodyPr/>
                    <a:lstStyle/>
                    <a:p>
                      <a:pPr>
                        <a:buNone/>
                      </a:pPr>
                      <a:r>
                        <a:rPr lang="da-DK" sz="1100" dirty="0">
                          <a:solidFill>
                            <a:schemeClr val="tx1"/>
                          </a:solidFill>
                          <a:effectLst/>
                        </a:rPr>
                        <a:t>0.408</a:t>
                      </a:r>
                    </a:p>
                  </a:txBody>
                  <a:tcPr marL="76200" marR="76200" marT="38100" marB="38100" anchor="ctr"/>
                </a:tc>
                <a:tc>
                  <a:txBody>
                    <a:bodyPr/>
                    <a:lstStyle/>
                    <a:p>
                      <a:pPr>
                        <a:buNone/>
                      </a:pPr>
                      <a:r>
                        <a:rPr lang="da-DK" sz="1100" dirty="0">
                          <a:solidFill>
                            <a:schemeClr val="tx1"/>
                          </a:solidFill>
                          <a:effectLst/>
                        </a:rPr>
                        <a:t>0.694</a:t>
                      </a:r>
                    </a:p>
                  </a:txBody>
                  <a:tcPr marL="76200" marR="76200" marT="38100" marB="38100" anchor="ctr"/>
                </a:tc>
                <a:tc>
                  <a:txBody>
                    <a:bodyPr/>
                    <a:lstStyle/>
                    <a:p>
                      <a:pPr>
                        <a:buNone/>
                      </a:pPr>
                      <a:r>
                        <a:rPr lang="da-DK" sz="1100" dirty="0">
                          <a:solidFill>
                            <a:schemeClr val="tx1"/>
                          </a:solidFill>
                          <a:effectLst/>
                        </a:rPr>
                        <a:t>0.514</a:t>
                      </a:r>
                    </a:p>
                  </a:txBody>
                  <a:tcPr marL="76200" marR="76200" marT="38100" marB="38100" anchor="ctr"/>
                </a:tc>
                <a:tc>
                  <a:txBody>
                    <a:bodyPr/>
                    <a:lstStyle/>
                    <a:p>
                      <a:pPr>
                        <a:buNone/>
                      </a:pPr>
                      <a:r>
                        <a:rPr lang="da-DK" sz="1100">
                          <a:solidFill>
                            <a:schemeClr val="tx1"/>
                          </a:solidFill>
                          <a:effectLst/>
                        </a:rPr>
                        <a:t>0.433</a:t>
                      </a:r>
                      <a:endParaRPr lang="da-DK" sz="1100" dirty="0">
                        <a:solidFill>
                          <a:schemeClr val="tx1"/>
                        </a:solidFill>
                        <a:effectLst/>
                      </a:endParaRPr>
                    </a:p>
                  </a:txBody>
                  <a:tcPr marL="76200" marR="76200" marT="38100" marB="38100" anchor="ctr"/>
                </a:tc>
                <a:extLst>
                  <a:ext uri="{0D108BD9-81ED-4DB2-BD59-A6C34878D82A}">
                    <a16:rowId xmlns:a16="http://schemas.microsoft.com/office/drawing/2014/main" val="10002"/>
                  </a:ext>
                </a:extLst>
              </a:tr>
              <a:tr h="548640">
                <a:tc>
                  <a:txBody>
                    <a:bodyPr/>
                    <a:lstStyle/>
                    <a:p>
                      <a:pPr algn="l">
                        <a:defRPr sz="1100">
                          <a:solidFill>
                            <a:srgbClr val="000000"/>
                          </a:solidFill>
                        </a:defRPr>
                      </a:pPr>
                      <a:r>
                        <a:t>Fold 3</a:t>
                      </a:r>
                    </a:p>
                  </a:txBody>
                  <a:tcPr/>
                </a:tc>
                <a:tc>
                  <a:txBody>
                    <a:bodyPr/>
                    <a:lstStyle/>
                    <a:p>
                      <a:pPr algn="ctr">
                        <a:buNone/>
                      </a:pPr>
                      <a:r>
                        <a:rPr lang="da-DK" sz="1100" dirty="0">
                          <a:solidFill>
                            <a:schemeClr val="tx1"/>
                          </a:solidFill>
                          <a:effectLst/>
                        </a:rPr>
                        <a:t>0.740</a:t>
                      </a:r>
                    </a:p>
                  </a:txBody>
                  <a:tcPr marL="76200" marR="76200" marT="38100" marB="38100" anchor="ctr"/>
                </a:tc>
                <a:tc>
                  <a:txBody>
                    <a:bodyPr/>
                    <a:lstStyle/>
                    <a:p>
                      <a:pPr>
                        <a:buNone/>
                      </a:pPr>
                      <a:r>
                        <a:rPr lang="da-DK" sz="1100" dirty="0">
                          <a:solidFill>
                            <a:schemeClr val="tx1"/>
                          </a:solidFill>
                          <a:effectLst/>
                        </a:rPr>
                        <a:t>0.365</a:t>
                      </a:r>
                    </a:p>
                  </a:txBody>
                  <a:tcPr marL="76200" marR="76200" marT="38100" marB="38100" anchor="ctr"/>
                </a:tc>
                <a:tc>
                  <a:txBody>
                    <a:bodyPr/>
                    <a:lstStyle/>
                    <a:p>
                      <a:pPr>
                        <a:buNone/>
                      </a:pPr>
                      <a:r>
                        <a:rPr lang="da-DK" sz="1100" dirty="0">
                          <a:solidFill>
                            <a:schemeClr val="tx1"/>
                          </a:solidFill>
                          <a:effectLst/>
                        </a:rPr>
                        <a:t>0.518</a:t>
                      </a:r>
                    </a:p>
                  </a:txBody>
                  <a:tcPr marL="76200" marR="76200" marT="38100" marB="38100" anchor="ctr"/>
                </a:tc>
                <a:tc>
                  <a:txBody>
                    <a:bodyPr/>
                    <a:lstStyle/>
                    <a:p>
                      <a:pPr>
                        <a:buNone/>
                      </a:pPr>
                      <a:r>
                        <a:rPr lang="da-DK" sz="1100" dirty="0">
                          <a:solidFill>
                            <a:schemeClr val="tx1"/>
                          </a:solidFill>
                          <a:effectLst/>
                        </a:rPr>
                        <a:t>0.428</a:t>
                      </a:r>
                    </a:p>
                  </a:txBody>
                  <a:tcPr marL="76200" marR="76200" marT="38100" marB="38100" anchor="ctr"/>
                </a:tc>
                <a:tc>
                  <a:txBody>
                    <a:bodyPr/>
                    <a:lstStyle/>
                    <a:p>
                      <a:pPr>
                        <a:buNone/>
                      </a:pPr>
                      <a:r>
                        <a:rPr lang="da-DK" sz="1100">
                          <a:solidFill>
                            <a:schemeClr val="tx1"/>
                          </a:solidFill>
                          <a:effectLst/>
                        </a:rPr>
                        <a:t>0.266</a:t>
                      </a:r>
                      <a:endParaRPr lang="da-DK" sz="1100" dirty="0">
                        <a:solidFill>
                          <a:schemeClr val="tx1"/>
                        </a:solidFill>
                        <a:effectLst/>
                      </a:endParaRPr>
                    </a:p>
                  </a:txBody>
                  <a:tcPr marL="76200" marR="76200" marT="38100" marB="38100" anchor="ctr"/>
                </a:tc>
                <a:extLst>
                  <a:ext uri="{0D108BD9-81ED-4DB2-BD59-A6C34878D82A}">
                    <a16:rowId xmlns:a16="http://schemas.microsoft.com/office/drawing/2014/main" val="10003"/>
                  </a:ext>
                </a:extLst>
              </a:tr>
              <a:tr h="548640">
                <a:tc>
                  <a:txBody>
                    <a:bodyPr/>
                    <a:lstStyle/>
                    <a:p>
                      <a:pPr algn="l">
                        <a:defRPr sz="1100">
                          <a:solidFill>
                            <a:srgbClr val="000000"/>
                          </a:solidFill>
                        </a:defRPr>
                      </a:pPr>
                      <a:r>
                        <a:t>Fold 4</a:t>
                      </a:r>
                    </a:p>
                  </a:txBody>
                  <a:tcPr/>
                </a:tc>
                <a:tc>
                  <a:txBody>
                    <a:bodyPr/>
                    <a:lstStyle/>
                    <a:p>
                      <a:pPr algn="ctr">
                        <a:buNone/>
                      </a:pPr>
                      <a:r>
                        <a:rPr lang="da-DK" sz="1100" dirty="0">
                          <a:solidFill>
                            <a:schemeClr val="tx1"/>
                          </a:solidFill>
                          <a:effectLst/>
                        </a:rPr>
                        <a:t>0.800</a:t>
                      </a:r>
                    </a:p>
                  </a:txBody>
                  <a:tcPr marL="76200" marR="76200" marT="38100" marB="38100" anchor="ctr"/>
                </a:tc>
                <a:tc>
                  <a:txBody>
                    <a:bodyPr/>
                    <a:lstStyle/>
                    <a:p>
                      <a:pPr>
                        <a:buNone/>
                      </a:pPr>
                      <a:r>
                        <a:rPr lang="da-DK" sz="1100" dirty="0">
                          <a:solidFill>
                            <a:schemeClr val="tx1"/>
                          </a:solidFill>
                          <a:effectLst/>
                        </a:rPr>
                        <a:t>0.457</a:t>
                      </a:r>
                    </a:p>
                  </a:txBody>
                  <a:tcPr marL="76200" marR="76200" marT="38100" marB="38100" anchor="ctr"/>
                </a:tc>
                <a:tc>
                  <a:txBody>
                    <a:bodyPr/>
                    <a:lstStyle/>
                    <a:p>
                      <a:pPr>
                        <a:buNone/>
                      </a:pPr>
                      <a:r>
                        <a:rPr lang="da-DK" sz="1100" dirty="0">
                          <a:solidFill>
                            <a:schemeClr val="tx1"/>
                          </a:solidFill>
                          <a:effectLst/>
                        </a:rPr>
                        <a:t>0.490</a:t>
                      </a:r>
                    </a:p>
                  </a:txBody>
                  <a:tcPr marL="76200" marR="76200" marT="38100" marB="38100" anchor="ctr"/>
                </a:tc>
                <a:tc>
                  <a:txBody>
                    <a:bodyPr/>
                    <a:lstStyle/>
                    <a:p>
                      <a:pPr>
                        <a:buNone/>
                      </a:pPr>
                      <a:r>
                        <a:rPr lang="da-DK" sz="1100" dirty="0">
                          <a:solidFill>
                            <a:schemeClr val="tx1"/>
                          </a:solidFill>
                          <a:effectLst/>
                        </a:rPr>
                        <a:t>0.473</a:t>
                      </a:r>
                    </a:p>
                  </a:txBody>
                  <a:tcPr marL="76200" marR="76200" marT="38100" marB="38100" anchor="ctr"/>
                </a:tc>
                <a:tc>
                  <a:txBody>
                    <a:bodyPr/>
                    <a:lstStyle/>
                    <a:p>
                      <a:pPr>
                        <a:buNone/>
                      </a:pPr>
                      <a:r>
                        <a:rPr lang="da-DK" sz="1100">
                          <a:solidFill>
                            <a:schemeClr val="tx1"/>
                          </a:solidFill>
                          <a:effectLst/>
                        </a:rPr>
                        <a:t>0.350</a:t>
                      </a:r>
                      <a:endParaRPr lang="da-DK" sz="1100" dirty="0">
                        <a:solidFill>
                          <a:schemeClr val="tx1"/>
                        </a:solidFill>
                        <a:effectLst/>
                      </a:endParaRPr>
                    </a:p>
                  </a:txBody>
                  <a:tcPr marL="76200" marR="76200" marT="38100" marB="38100" anchor="ctr"/>
                </a:tc>
                <a:extLst>
                  <a:ext uri="{0D108BD9-81ED-4DB2-BD59-A6C34878D82A}">
                    <a16:rowId xmlns:a16="http://schemas.microsoft.com/office/drawing/2014/main" val="10004"/>
                  </a:ext>
                </a:extLst>
              </a:tr>
              <a:tr h="548640">
                <a:tc>
                  <a:txBody>
                    <a:bodyPr/>
                    <a:lstStyle/>
                    <a:p>
                      <a:pPr algn="l">
                        <a:defRPr sz="1100">
                          <a:solidFill>
                            <a:srgbClr val="000000"/>
                          </a:solidFill>
                        </a:defRPr>
                      </a:pPr>
                      <a:r>
                        <a:t>Fold 5</a:t>
                      </a:r>
                    </a:p>
                  </a:txBody>
                  <a:tcPr/>
                </a:tc>
                <a:tc>
                  <a:txBody>
                    <a:bodyPr/>
                    <a:lstStyle/>
                    <a:p>
                      <a:pPr algn="ctr">
                        <a:buNone/>
                      </a:pPr>
                      <a:r>
                        <a:rPr lang="da-DK" sz="1100" dirty="0">
                          <a:solidFill>
                            <a:schemeClr val="tx1"/>
                          </a:solidFill>
                          <a:effectLst/>
                        </a:rPr>
                        <a:t>0.825</a:t>
                      </a:r>
                    </a:p>
                  </a:txBody>
                  <a:tcPr marL="76200" marR="76200" marT="38100" marB="38100" anchor="ctr"/>
                </a:tc>
                <a:tc>
                  <a:txBody>
                    <a:bodyPr/>
                    <a:lstStyle/>
                    <a:p>
                      <a:pPr>
                        <a:buNone/>
                      </a:pPr>
                      <a:r>
                        <a:rPr lang="da-DK" sz="1100" dirty="0">
                          <a:solidFill>
                            <a:schemeClr val="tx1"/>
                          </a:solidFill>
                          <a:effectLst/>
                        </a:rPr>
                        <a:t>0.490</a:t>
                      </a:r>
                    </a:p>
                  </a:txBody>
                  <a:tcPr marL="76200" marR="76200" marT="38100" marB="38100" anchor="ctr"/>
                </a:tc>
                <a:tc>
                  <a:txBody>
                    <a:bodyPr/>
                    <a:lstStyle/>
                    <a:p>
                      <a:pPr>
                        <a:buNone/>
                      </a:pPr>
                      <a:r>
                        <a:rPr lang="da-DK" sz="1100" dirty="0">
                          <a:solidFill>
                            <a:schemeClr val="tx1"/>
                          </a:solidFill>
                          <a:effectLst/>
                        </a:rPr>
                        <a:t>0.256</a:t>
                      </a:r>
                    </a:p>
                  </a:txBody>
                  <a:tcPr marL="76200" marR="76200" marT="38100" marB="38100" anchor="ctr"/>
                </a:tc>
                <a:tc>
                  <a:txBody>
                    <a:bodyPr/>
                    <a:lstStyle/>
                    <a:p>
                      <a:pPr>
                        <a:buNone/>
                      </a:pPr>
                      <a:r>
                        <a:rPr lang="da-DK" sz="1100" dirty="0">
                          <a:solidFill>
                            <a:schemeClr val="tx1"/>
                          </a:solidFill>
                          <a:effectLst/>
                        </a:rPr>
                        <a:t>0.336</a:t>
                      </a:r>
                    </a:p>
                  </a:txBody>
                  <a:tcPr marL="76200" marR="76200" marT="38100" marB="38100" anchor="ctr"/>
                </a:tc>
                <a:tc>
                  <a:txBody>
                    <a:bodyPr/>
                    <a:lstStyle/>
                    <a:p>
                      <a:pPr>
                        <a:buNone/>
                      </a:pPr>
                      <a:r>
                        <a:rPr lang="da-DK" sz="1100" dirty="0">
                          <a:solidFill>
                            <a:schemeClr val="tx1"/>
                          </a:solidFill>
                          <a:effectLst/>
                        </a:rPr>
                        <a:t>0.247</a:t>
                      </a:r>
                    </a:p>
                  </a:txBody>
                  <a:tcPr marL="76200" marR="76200" marT="38100" marB="38100" anchor="ctr"/>
                </a:tc>
                <a:extLst>
                  <a:ext uri="{0D108BD9-81ED-4DB2-BD59-A6C34878D82A}">
                    <a16:rowId xmlns:a16="http://schemas.microsoft.com/office/drawing/2014/main" val="10005"/>
                  </a:ext>
                </a:extLst>
              </a:tr>
              <a:tr h="548640">
                <a:tc>
                  <a:txBody>
                    <a:bodyPr/>
                    <a:lstStyle/>
                    <a:p>
                      <a:pPr algn="l">
                        <a:defRPr sz="1100">
                          <a:solidFill>
                            <a:srgbClr val="000000"/>
                          </a:solidFill>
                        </a:defRPr>
                      </a:pPr>
                      <a:r>
                        <a:t>Mean ± Std</a:t>
                      </a:r>
                    </a:p>
                  </a:txBody>
                  <a:tcPr/>
                </a:tc>
                <a:tc>
                  <a:txBody>
                    <a:bodyPr/>
                    <a:lstStyle/>
                    <a:p>
                      <a:pPr>
                        <a:buNone/>
                      </a:pPr>
                      <a:r>
                        <a:rPr lang="da-DK" sz="1100" dirty="0">
                          <a:solidFill>
                            <a:schemeClr val="tx1"/>
                          </a:solidFill>
                          <a:effectLst/>
                        </a:rPr>
                        <a:t>0.806 ± 0.041</a:t>
                      </a:r>
                    </a:p>
                  </a:txBody>
                  <a:tcPr marL="76200" marR="76200" marT="38100" marB="38100" anchor="ctr"/>
                </a:tc>
                <a:tc>
                  <a:txBody>
                    <a:bodyPr/>
                    <a:lstStyle/>
                    <a:p>
                      <a:pPr>
                        <a:buNone/>
                      </a:pPr>
                      <a:r>
                        <a:rPr lang="da-DK" sz="1100" dirty="0">
                          <a:solidFill>
                            <a:schemeClr val="tx1"/>
                          </a:solidFill>
                          <a:effectLst/>
                        </a:rPr>
                        <a:t>0.424 ± 0.049</a:t>
                      </a:r>
                    </a:p>
                  </a:txBody>
                  <a:tcPr marL="76200" marR="76200" marT="38100" marB="38100" anchor="ctr"/>
                </a:tc>
                <a:tc>
                  <a:txBody>
                    <a:bodyPr/>
                    <a:lstStyle/>
                    <a:p>
                      <a:pPr>
                        <a:buNone/>
                      </a:pPr>
                      <a:r>
                        <a:rPr lang="da-DK" sz="1100" dirty="0">
                          <a:solidFill>
                            <a:schemeClr val="tx1"/>
                          </a:solidFill>
                          <a:effectLst/>
                        </a:rPr>
                        <a:t>0.520 ± 0.170</a:t>
                      </a:r>
                    </a:p>
                  </a:txBody>
                  <a:tcPr marL="76200" marR="76200" marT="38100" marB="38100" anchor="ctr"/>
                </a:tc>
                <a:tc>
                  <a:txBody>
                    <a:bodyPr/>
                    <a:lstStyle/>
                    <a:p>
                      <a:pPr>
                        <a:buNone/>
                      </a:pPr>
                      <a:r>
                        <a:rPr lang="da-DK" sz="1100" dirty="0">
                          <a:solidFill>
                            <a:schemeClr val="tx1"/>
                          </a:solidFill>
                          <a:effectLst/>
                        </a:rPr>
                        <a:t>0.449 ± 0.071</a:t>
                      </a:r>
                    </a:p>
                  </a:txBody>
                  <a:tcPr marL="76200" marR="76200" marT="38100" marB="38100" anchor="ctr"/>
                </a:tc>
                <a:tc>
                  <a:txBody>
                    <a:bodyPr/>
                    <a:lstStyle/>
                    <a:p>
                      <a:pPr>
                        <a:buNone/>
                      </a:pPr>
                      <a:r>
                        <a:rPr lang="da-DK" sz="1100" dirty="0">
                          <a:solidFill>
                            <a:schemeClr val="tx1"/>
                          </a:solidFill>
                          <a:effectLst/>
                        </a:rPr>
                        <a:t>0.336 ± 0.079</a:t>
                      </a:r>
                    </a:p>
                  </a:txBody>
                  <a:tcPr marL="76200" marR="76200" marT="38100" marB="3810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6761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82880"/>
            <a:ext cx="8229600" cy="548640"/>
          </a:xfrm>
          <a:prstGeom prst="rect">
            <a:avLst/>
          </a:prstGeom>
          <a:noFill/>
        </p:spPr>
        <p:txBody>
          <a:bodyPr wrap="none">
            <a:spAutoFit/>
          </a:bodyPr>
          <a:lstStyle/>
          <a:p>
            <a:pPr algn="l">
              <a:defRPr sz="2000" b="1"/>
            </a:pPr>
            <a:r>
              <a:t>DenseNet-201  |  Paper setup</a:t>
            </a:r>
          </a:p>
        </p:txBody>
      </p:sp>
      <p:graphicFrame>
        <p:nvGraphicFramePr>
          <p:cNvPr id="3" name="Table 2"/>
          <p:cNvGraphicFramePr>
            <a:graphicFrameLocks noGrp="1"/>
          </p:cNvGraphicFramePr>
          <p:nvPr/>
        </p:nvGraphicFramePr>
        <p:xfrm>
          <a:off x="365760" y="1005840"/>
          <a:ext cx="8229600" cy="38404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48640">
                <a:tc>
                  <a:txBody>
                    <a:bodyPr/>
                    <a:lstStyle/>
                    <a:p>
                      <a:pPr algn="ctr">
                        <a:defRPr sz="1200" b="1">
                          <a:solidFill>
                            <a:srgbClr val="000000"/>
                          </a:solidFill>
                        </a:defRPr>
                      </a:pPr>
                      <a:r>
                        <a:t>Fold</a:t>
                      </a:r>
                    </a:p>
                  </a:txBody>
                  <a:tcPr/>
                </a:tc>
                <a:tc>
                  <a:txBody>
                    <a:bodyPr/>
                    <a:lstStyle/>
                    <a:p>
                      <a:pPr algn="ctr">
                        <a:defRPr sz="1200" b="1">
                          <a:solidFill>
                            <a:srgbClr val="000000"/>
                          </a:solidFill>
                        </a:defRPr>
                      </a:pPr>
                      <a:r>
                        <a:t>Accuracy</a:t>
                      </a:r>
                    </a:p>
                  </a:txBody>
                  <a:tcPr/>
                </a:tc>
                <a:tc>
                  <a:txBody>
                    <a:bodyPr/>
                    <a:lstStyle/>
                    <a:p>
                      <a:pPr algn="ctr">
                        <a:defRPr sz="1200" b="1">
                          <a:solidFill>
                            <a:srgbClr val="000000"/>
                          </a:solidFill>
                        </a:defRPr>
                      </a:pPr>
                      <a:r>
                        <a:t>Precision</a:t>
                      </a:r>
                    </a:p>
                  </a:txBody>
                  <a:tcPr/>
                </a:tc>
                <a:tc>
                  <a:txBody>
                    <a:bodyPr/>
                    <a:lstStyle/>
                    <a:p>
                      <a:pPr algn="ctr">
                        <a:defRPr sz="1200" b="1">
                          <a:solidFill>
                            <a:srgbClr val="000000"/>
                          </a:solidFill>
                        </a:defRPr>
                      </a:pPr>
                      <a:r>
                        <a:t>Recall</a:t>
                      </a:r>
                    </a:p>
                  </a:txBody>
                  <a:tcPr/>
                </a:tc>
                <a:tc>
                  <a:txBody>
                    <a:bodyPr/>
                    <a:lstStyle/>
                    <a:p>
                      <a:pPr algn="ctr">
                        <a:defRPr sz="1200" b="1">
                          <a:solidFill>
                            <a:srgbClr val="000000"/>
                          </a:solidFill>
                        </a:defRPr>
                      </a:pPr>
                      <a:r>
                        <a:t>F1</a:t>
                      </a:r>
                    </a:p>
                  </a:txBody>
                  <a:tcPr/>
                </a:tc>
                <a:tc>
                  <a:txBody>
                    <a:bodyPr/>
                    <a:lstStyle/>
                    <a:p>
                      <a:pPr algn="ctr">
                        <a:defRPr sz="1200" b="1">
                          <a:solidFill>
                            <a:srgbClr val="000000"/>
                          </a:solidFill>
                        </a:defRPr>
                      </a:pPr>
                      <a:r>
                        <a:t>Cohen's κ</a:t>
                      </a:r>
                    </a:p>
                  </a:txBody>
                  <a:tcPr/>
                </a:tc>
                <a:extLst>
                  <a:ext uri="{0D108BD9-81ED-4DB2-BD59-A6C34878D82A}">
                    <a16:rowId xmlns:a16="http://schemas.microsoft.com/office/drawing/2014/main" val="10000"/>
                  </a:ext>
                </a:extLst>
              </a:tr>
              <a:tr h="548640">
                <a:tc>
                  <a:txBody>
                    <a:bodyPr/>
                    <a:lstStyle/>
                    <a:p>
                      <a:pPr algn="l">
                        <a:defRPr sz="1100">
                          <a:solidFill>
                            <a:srgbClr val="000000"/>
                          </a:solidFill>
                        </a:defRPr>
                      </a:pPr>
                      <a:r>
                        <a:t>Fold 1</a:t>
                      </a:r>
                    </a:p>
                  </a:txBody>
                  <a:tcPr/>
                </a:tc>
                <a:tc>
                  <a:txBody>
                    <a:bodyPr/>
                    <a:lstStyle/>
                    <a:p>
                      <a:pPr algn="ctr">
                        <a:defRPr sz="1100">
                          <a:solidFill>
                            <a:srgbClr val="000000"/>
                          </a:solidFill>
                        </a:defRPr>
                      </a:pPr>
                      <a:r>
                        <a:t>0.889</a:t>
                      </a:r>
                    </a:p>
                  </a:txBody>
                  <a:tcPr/>
                </a:tc>
                <a:tc>
                  <a:txBody>
                    <a:bodyPr/>
                    <a:lstStyle/>
                    <a:p>
                      <a:pPr algn="ctr">
                        <a:defRPr sz="1100">
                          <a:solidFill>
                            <a:srgbClr val="000000"/>
                          </a:solidFill>
                        </a:defRPr>
                      </a:pPr>
                      <a:r>
                        <a:t>0.843</a:t>
                      </a:r>
                    </a:p>
                  </a:txBody>
                  <a:tcPr/>
                </a:tc>
                <a:tc>
                  <a:txBody>
                    <a:bodyPr/>
                    <a:lstStyle/>
                    <a:p>
                      <a:pPr algn="ctr">
                        <a:defRPr sz="1100">
                          <a:solidFill>
                            <a:srgbClr val="000000"/>
                          </a:solidFill>
                        </a:defRPr>
                      </a:pPr>
                      <a:r>
                        <a:t>0.763</a:t>
                      </a:r>
                    </a:p>
                  </a:txBody>
                  <a:tcPr/>
                </a:tc>
                <a:tc>
                  <a:txBody>
                    <a:bodyPr/>
                    <a:lstStyle/>
                    <a:p>
                      <a:pPr algn="ctr">
                        <a:defRPr sz="1100">
                          <a:solidFill>
                            <a:srgbClr val="000000"/>
                          </a:solidFill>
                        </a:defRPr>
                      </a:pPr>
                      <a:r>
                        <a:t>0.801</a:t>
                      </a:r>
                    </a:p>
                  </a:txBody>
                  <a:tcPr/>
                </a:tc>
                <a:tc>
                  <a:txBody>
                    <a:bodyPr/>
                    <a:lstStyle/>
                    <a:p>
                      <a:pPr algn="ctr">
                        <a:defRPr sz="1100">
                          <a:solidFill>
                            <a:srgbClr val="000000"/>
                          </a:solidFill>
                        </a:defRPr>
                      </a:pPr>
                      <a:r>
                        <a:t>0.724</a:t>
                      </a:r>
                    </a:p>
                  </a:txBody>
                  <a:tcPr/>
                </a:tc>
                <a:extLst>
                  <a:ext uri="{0D108BD9-81ED-4DB2-BD59-A6C34878D82A}">
                    <a16:rowId xmlns:a16="http://schemas.microsoft.com/office/drawing/2014/main" val="10001"/>
                  </a:ext>
                </a:extLst>
              </a:tr>
              <a:tr h="548640">
                <a:tc>
                  <a:txBody>
                    <a:bodyPr/>
                    <a:lstStyle/>
                    <a:p>
                      <a:pPr algn="l">
                        <a:defRPr sz="1100">
                          <a:solidFill>
                            <a:srgbClr val="000000"/>
                          </a:solidFill>
                        </a:defRPr>
                      </a:pPr>
                      <a:r>
                        <a:t>Fold 2</a:t>
                      </a:r>
                    </a:p>
                  </a:txBody>
                  <a:tcPr/>
                </a:tc>
                <a:tc>
                  <a:txBody>
                    <a:bodyPr/>
                    <a:lstStyle/>
                    <a:p>
                      <a:pPr algn="ctr">
                        <a:defRPr sz="1100">
                          <a:solidFill>
                            <a:srgbClr val="000000"/>
                          </a:solidFill>
                        </a:defRPr>
                      </a:pPr>
                      <a:r>
                        <a:t>0.868</a:t>
                      </a:r>
                    </a:p>
                  </a:txBody>
                  <a:tcPr/>
                </a:tc>
                <a:tc>
                  <a:txBody>
                    <a:bodyPr/>
                    <a:lstStyle/>
                    <a:p>
                      <a:pPr algn="ctr">
                        <a:defRPr sz="1100">
                          <a:solidFill>
                            <a:srgbClr val="000000"/>
                          </a:solidFill>
                        </a:defRPr>
                      </a:pPr>
                      <a:r>
                        <a:t>0.941</a:t>
                      </a:r>
                    </a:p>
                  </a:txBody>
                  <a:tcPr/>
                </a:tc>
                <a:tc>
                  <a:txBody>
                    <a:bodyPr/>
                    <a:lstStyle/>
                    <a:p>
                      <a:pPr algn="ctr">
                        <a:defRPr sz="1100">
                          <a:solidFill>
                            <a:srgbClr val="000000"/>
                          </a:solidFill>
                        </a:defRPr>
                      </a:pPr>
                      <a:r>
                        <a:t>0.501</a:t>
                      </a:r>
                    </a:p>
                  </a:txBody>
                  <a:tcPr/>
                </a:tc>
                <a:tc>
                  <a:txBody>
                    <a:bodyPr/>
                    <a:lstStyle/>
                    <a:p>
                      <a:pPr algn="ctr">
                        <a:defRPr sz="1100">
                          <a:solidFill>
                            <a:srgbClr val="000000"/>
                          </a:solidFill>
                        </a:defRPr>
                      </a:pPr>
                      <a:r>
                        <a:t>0.654</a:t>
                      </a:r>
                    </a:p>
                  </a:txBody>
                  <a:tcPr/>
                </a:tc>
                <a:tc>
                  <a:txBody>
                    <a:bodyPr/>
                    <a:lstStyle/>
                    <a:p>
                      <a:pPr algn="ctr">
                        <a:defRPr sz="1100">
                          <a:solidFill>
                            <a:srgbClr val="000000"/>
                          </a:solidFill>
                        </a:defRPr>
                      </a:pPr>
                      <a:r>
                        <a:t>0.582</a:t>
                      </a:r>
                    </a:p>
                  </a:txBody>
                  <a:tcPr/>
                </a:tc>
                <a:extLst>
                  <a:ext uri="{0D108BD9-81ED-4DB2-BD59-A6C34878D82A}">
                    <a16:rowId xmlns:a16="http://schemas.microsoft.com/office/drawing/2014/main" val="10002"/>
                  </a:ext>
                </a:extLst>
              </a:tr>
              <a:tr h="548640">
                <a:tc>
                  <a:txBody>
                    <a:bodyPr/>
                    <a:lstStyle/>
                    <a:p>
                      <a:pPr algn="l">
                        <a:defRPr sz="1100">
                          <a:solidFill>
                            <a:srgbClr val="000000"/>
                          </a:solidFill>
                        </a:defRPr>
                      </a:pPr>
                      <a:r>
                        <a:t>Fold 3</a:t>
                      </a:r>
                    </a:p>
                  </a:txBody>
                  <a:tcPr/>
                </a:tc>
                <a:tc>
                  <a:txBody>
                    <a:bodyPr/>
                    <a:lstStyle/>
                    <a:p>
                      <a:pPr algn="ctr">
                        <a:defRPr sz="1100">
                          <a:solidFill>
                            <a:srgbClr val="000000"/>
                          </a:solidFill>
                        </a:defRPr>
                      </a:pPr>
                      <a:r>
                        <a:t>0.853</a:t>
                      </a:r>
                    </a:p>
                  </a:txBody>
                  <a:tcPr/>
                </a:tc>
                <a:tc>
                  <a:txBody>
                    <a:bodyPr/>
                    <a:lstStyle/>
                    <a:p>
                      <a:pPr algn="ctr">
                        <a:defRPr sz="1100">
                          <a:solidFill>
                            <a:srgbClr val="000000"/>
                          </a:solidFill>
                        </a:defRPr>
                      </a:pPr>
                      <a:r>
                        <a:t>0.828</a:t>
                      </a:r>
                    </a:p>
                  </a:txBody>
                  <a:tcPr/>
                </a:tc>
                <a:tc>
                  <a:txBody>
                    <a:bodyPr/>
                    <a:lstStyle/>
                    <a:p>
                      <a:pPr algn="ctr">
                        <a:defRPr sz="1100">
                          <a:solidFill>
                            <a:srgbClr val="000000"/>
                          </a:solidFill>
                        </a:defRPr>
                      </a:pPr>
                      <a:r>
                        <a:t>0.683</a:t>
                      </a:r>
                    </a:p>
                  </a:txBody>
                  <a:tcPr/>
                </a:tc>
                <a:tc>
                  <a:txBody>
                    <a:bodyPr/>
                    <a:lstStyle/>
                    <a:p>
                      <a:pPr algn="ctr">
                        <a:defRPr sz="1100">
                          <a:solidFill>
                            <a:srgbClr val="000000"/>
                          </a:solidFill>
                        </a:defRPr>
                      </a:pPr>
                      <a:r>
                        <a:t>0.749</a:t>
                      </a:r>
                    </a:p>
                  </a:txBody>
                  <a:tcPr/>
                </a:tc>
                <a:tc>
                  <a:txBody>
                    <a:bodyPr/>
                    <a:lstStyle/>
                    <a:p>
                      <a:pPr algn="ctr">
                        <a:defRPr sz="1100">
                          <a:solidFill>
                            <a:srgbClr val="000000"/>
                          </a:solidFill>
                        </a:defRPr>
                      </a:pPr>
                      <a:r>
                        <a:t>0.646</a:t>
                      </a:r>
                    </a:p>
                  </a:txBody>
                  <a:tcPr/>
                </a:tc>
                <a:extLst>
                  <a:ext uri="{0D108BD9-81ED-4DB2-BD59-A6C34878D82A}">
                    <a16:rowId xmlns:a16="http://schemas.microsoft.com/office/drawing/2014/main" val="10003"/>
                  </a:ext>
                </a:extLst>
              </a:tr>
              <a:tr h="548640">
                <a:tc>
                  <a:txBody>
                    <a:bodyPr/>
                    <a:lstStyle/>
                    <a:p>
                      <a:pPr algn="l">
                        <a:defRPr sz="1100">
                          <a:solidFill>
                            <a:srgbClr val="000000"/>
                          </a:solidFill>
                        </a:defRPr>
                      </a:pPr>
                      <a:r>
                        <a:t>Fold 4</a:t>
                      </a:r>
                    </a:p>
                  </a:txBody>
                  <a:tcPr/>
                </a:tc>
                <a:tc>
                  <a:txBody>
                    <a:bodyPr/>
                    <a:lstStyle/>
                    <a:p>
                      <a:pPr algn="ctr">
                        <a:defRPr sz="1100">
                          <a:solidFill>
                            <a:srgbClr val="000000"/>
                          </a:solidFill>
                        </a:defRPr>
                      </a:pPr>
                      <a:r>
                        <a:t>0.861</a:t>
                      </a:r>
                    </a:p>
                  </a:txBody>
                  <a:tcPr/>
                </a:tc>
                <a:tc>
                  <a:txBody>
                    <a:bodyPr/>
                    <a:lstStyle/>
                    <a:p>
                      <a:pPr algn="ctr">
                        <a:defRPr sz="1100">
                          <a:solidFill>
                            <a:srgbClr val="000000"/>
                          </a:solidFill>
                        </a:defRPr>
                      </a:pPr>
                      <a:r>
                        <a:t>0.887</a:t>
                      </a:r>
                    </a:p>
                  </a:txBody>
                  <a:tcPr/>
                </a:tc>
                <a:tc>
                  <a:txBody>
                    <a:bodyPr/>
                    <a:lstStyle/>
                    <a:p>
                      <a:pPr algn="ctr">
                        <a:defRPr sz="1100">
                          <a:solidFill>
                            <a:srgbClr val="000000"/>
                          </a:solidFill>
                        </a:defRPr>
                      </a:pPr>
                      <a:r>
                        <a:t>0.656</a:t>
                      </a:r>
                    </a:p>
                  </a:txBody>
                  <a:tcPr/>
                </a:tc>
                <a:tc>
                  <a:txBody>
                    <a:bodyPr/>
                    <a:lstStyle/>
                    <a:p>
                      <a:pPr algn="ctr">
                        <a:defRPr sz="1100">
                          <a:solidFill>
                            <a:srgbClr val="000000"/>
                          </a:solidFill>
                        </a:defRPr>
                      </a:pPr>
                      <a:r>
                        <a:t>0.754</a:t>
                      </a:r>
                    </a:p>
                  </a:txBody>
                  <a:tcPr/>
                </a:tc>
                <a:tc>
                  <a:txBody>
                    <a:bodyPr/>
                    <a:lstStyle/>
                    <a:p>
                      <a:pPr algn="ctr">
                        <a:defRPr sz="1100">
                          <a:solidFill>
                            <a:srgbClr val="000000"/>
                          </a:solidFill>
                        </a:defRPr>
                      </a:pPr>
                      <a:r>
                        <a:t>0.660</a:t>
                      </a:r>
                    </a:p>
                  </a:txBody>
                  <a:tcPr/>
                </a:tc>
                <a:extLst>
                  <a:ext uri="{0D108BD9-81ED-4DB2-BD59-A6C34878D82A}">
                    <a16:rowId xmlns:a16="http://schemas.microsoft.com/office/drawing/2014/main" val="10004"/>
                  </a:ext>
                </a:extLst>
              </a:tr>
              <a:tr h="548640">
                <a:tc>
                  <a:txBody>
                    <a:bodyPr/>
                    <a:lstStyle/>
                    <a:p>
                      <a:pPr algn="l">
                        <a:defRPr sz="1100">
                          <a:solidFill>
                            <a:srgbClr val="000000"/>
                          </a:solidFill>
                        </a:defRPr>
                      </a:pPr>
                      <a:r>
                        <a:t>Fold 5</a:t>
                      </a:r>
                    </a:p>
                  </a:txBody>
                  <a:tcPr/>
                </a:tc>
                <a:tc>
                  <a:txBody>
                    <a:bodyPr/>
                    <a:lstStyle/>
                    <a:p>
                      <a:pPr algn="ctr">
                        <a:defRPr sz="1100">
                          <a:solidFill>
                            <a:srgbClr val="000000"/>
                          </a:solidFill>
                        </a:defRPr>
                      </a:pPr>
                      <a:r>
                        <a:t>0.747</a:t>
                      </a:r>
                    </a:p>
                  </a:txBody>
                  <a:tcPr/>
                </a:tc>
                <a:tc>
                  <a:txBody>
                    <a:bodyPr/>
                    <a:lstStyle/>
                    <a:p>
                      <a:pPr algn="ctr">
                        <a:defRPr sz="1100">
                          <a:solidFill>
                            <a:srgbClr val="000000"/>
                          </a:solidFill>
                        </a:defRPr>
                      </a:pPr>
                      <a:r>
                        <a:t>0.872</a:t>
                      </a:r>
                    </a:p>
                  </a:txBody>
                  <a:tcPr/>
                </a:tc>
                <a:tc>
                  <a:txBody>
                    <a:bodyPr/>
                    <a:lstStyle/>
                    <a:p>
                      <a:pPr algn="ctr">
                        <a:defRPr sz="1100">
                          <a:solidFill>
                            <a:srgbClr val="000000"/>
                          </a:solidFill>
                        </a:defRPr>
                      </a:pPr>
                      <a:r>
                        <a:t>0.234</a:t>
                      </a:r>
                    </a:p>
                  </a:txBody>
                  <a:tcPr/>
                </a:tc>
                <a:tc>
                  <a:txBody>
                    <a:bodyPr/>
                    <a:lstStyle/>
                    <a:p>
                      <a:pPr algn="ctr">
                        <a:defRPr sz="1100">
                          <a:solidFill>
                            <a:srgbClr val="000000"/>
                          </a:solidFill>
                        </a:defRPr>
                      </a:pPr>
                      <a:r>
                        <a:t>0.369</a:t>
                      </a:r>
                    </a:p>
                  </a:txBody>
                  <a:tcPr/>
                </a:tc>
                <a:tc>
                  <a:txBody>
                    <a:bodyPr/>
                    <a:lstStyle/>
                    <a:p>
                      <a:pPr algn="ctr">
                        <a:defRPr sz="1100">
                          <a:solidFill>
                            <a:srgbClr val="000000"/>
                          </a:solidFill>
                        </a:defRPr>
                      </a:pPr>
                      <a:r>
                        <a:t>0.271</a:t>
                      </a:r>
                    </a:p>
                  </a:txBody>
                  <a:tcPr/>
                </a:tc>
                <a:extLst>
                  <a:ext uri="{0D108BD9-81ED-4DB2-BD59-A6C34878D82A}">
                    <a16:rowId xmlns:a16="http://schemas.microsoft.com/office/drawing/2014/main" val="10005"/>
                  </a:ext>
                </a:extLst>
              </a:tr>
              <a:tr h="548640">
                <a:tc>
                  <a:txBody>
                    <a:bodyPr/>
                    <a:lstStyle/>
                    <a:p>
                      <a:pPr algn="l">
                        <a:defRPr sz="1100">
                          <a:solidFill>
                            <a:srgbClr val="000000"/>
                          </a:solidFill>
                        </a:defRPr>
                      </a:pPr>
                      <a:r>
                        <a:t>Mean ± Std</a:t>
                      </a:r>
                    </a:p>
                  </a:txBody>
                  <a:tcPr/>
                </a:tc>
                <a:tc>
                  <a:txBody>
                    <a:bodyPr/>
                    <a:lstStyle/>
                    <a:p>
                      <a:pPr algn="ctr">
                        <a:defRPr sz="1100">
                          <a:solidFill>
                            <a:srgbClr val="000000"/>
                          </a:solidFill>
                        </a:defRPr>
                      </a:pPr>
                      <a:r>
                        <a:rPr dirty="0"/>
                        <a:t>0.843 ± 0.056</a:t>
                      </a:r>
                    </a:p>
                  </a:txBody>
                  <a:tcPr/>
                </a:tc>
                <a:tc>
                  <a:txBody>
                    <a:bodyPr/>
                    <a:lstStyle/>
                    <a:p>
                      <a:pPr algn="ctr">
                        <a:defRPr sz="1100">
                          <a:solidFill>
                            <a:srgbClr val="000000"/>
                          </a:solidFill>
                        </a:defRPr>
                      </a:pPr>
                      <a:r>
                        <a:t>0.874 ± 0.044</a:t>
                      </a:r>
                    </a:p>
                  </a:txBody>
                  <a:tcPr/>
                </a:tc>
                <a:tc>
                  <a:txBody>
                    <a:bodyPr/>
                    <a:lstStyle/>
                    <a:p>
                      <a:pPr algn="ctr">
                        <a:defRPr sz="1100">
                          <a:solidFill>
                            <a:srgbClr val="000000"/>
                          </a:solidFill>
                        </a:defRPr>
                      </a:pPr>
                      <a:r>
                        <a:t>0.567 ± 0.209</a:t>
                      </a:r>
                    </a:p>
                  </a:txBody>
                  <a:tcPr/>
                </a:tc>
                <a:tc>
                  <a:txBody>
                    <a:bodyPr/>
                    <a:lstStyle/>
                    <a:p>
                      <a:pPr algn="ctr">
                        <a:defRPr sz="1100">
                          <a:solidFill>
                            <a:srgbClr val="000000"/>
                          </a:solidFill>
                        </a:defRPr>
                      </a:pPr>
                      <a:r>
                        <a:rPr dirty="0"/>
                        <a:t>0.665 ± 0.174</a:t>
                      </a:r>
                    </a:p>
                  </a:txBody>
                  <a:tcPr/>
                </a:tc>
                <a:tc>
                  <a:txBody>
                    <a:bodyPr/>
                    <a:lstStyle/>
                    <a:p>
                      <a:pPr algn="ctr">
                        <a:defRPr sz="1100">
                          <a:solidFill>
                            <a:srgbClr val="000000"/>
                          </a:solidFill>
                        </a:defRPr>
                      </a:pPr>
                      <a:r>
                        <a:rPr dirty="0"/>
                        <a:t>0.577 ± 0.178</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82880"/>
            <a:ext cx="8229600" cy="548640"/>
          </a:xfrm>
          <a:prstGeom prst="rect">
            <a:avLst/>
          </a:prstGeom>
          <a:noFill/>
        </p:spPr>
        <p:txBody>
          <a:bodyPr wrap="none">
            <a:spAutoFit/>
          </a:bodyPr>
          <a:lstStyle/>
          <a:p>
            <a:pPr algn="l">
              <a:defRPr sz="2000" b="1"/>
            </a:pPr>
            <a:r>
              <a:t>DenseNet-201  |  Correct setup</a:t>
            </a:r>
          </a:p>
        </p:txBody>
      </p:sp>
      <p:graphicFrame>
        <p:nvGraphicFramePr>
          <p:cNvPr id="3" name="Table 2"/>
          <p:cNvGraphicFramePr>
            <a:graphicFrameLocks noGrp="1"/>
          </p:cNvGraphicFramePr>
          <p:nvPr>
            <p:extLst>
              <p:ext uri="{D42A27DB-BD31-4B8C-83A1-F6EECF244321}">
                <p14:modId xmlns:p14="http://schemas.microsoft.com/office/powerpoint/2010/main" val="3865141294"/>
              </p:ext>
            </p:extLst>
          </p:nvPr>
        </p:nvGraphicFramePr>
        <p:xfrm>
          <a:off x="365760" y="1005840"/>
          <a:ext cx="8229600" cy="3902765"/>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48640">
                <a:tc>
                  <a:txBody>
                    <a:bodyPr/>
                    <a:lstStyle/>
                    <a:p>
                      <a:pPr algn="ctr">
                        <a:defRPr sz="1200" b="1">
                          <a:solidFill>
                            <a:srgbClr val="000000"/>
                          </a:solidFill>
                        </a:defRPr>
                      </a:pPr>
                      <a:r>
                        <a:t>Fold</a:t>
                      </a:r>
                    </a:p>
                  </a:txBody>
                  <a:tcPr/>
                </a:tc>
                <a:tc>
                  <a:txBody>
                    <a:bodyPr/>
                    <a:lstStyle/>
                    <a:p>
                      <a:pPr algn="ctr">
                        <a:defRPr sz="1200" b="1">
                          <a:solidFill>
                            <a:srgbClr val="000000"/>
                          </a:solidFill>
                        </a:defRPr>
                      </a:pPr>
                      <a:r>
                        <a:t>Accuracy</a:t>
                      </a:r>
                    </a:p>
                  </a:txBody>
                  <a:tcPr/>
                </a:tc>
                <a:tc>
                  <a:txBody>
                    <a:bodyPr/>
                    <a:lstStyle/>
                    <a:p>
                      <a:pPr algn="ctr">
                        <a:defRPr sz="1200" b="1">
                          <a:solidFill>
                            <a:srgbClr val="000000"/>
                          </a:solidFill>
                        </a:defRPr>
                      </a:pPr>
                      <a:r>
                        <a:t>Precision</a:t>
                      </a:r>
                    </a:p>
                  </a:txBody>
                  <a:tcPr/>
                </a:tc>
                <a:tc>
                  <a:txBody>
                    <a:bodyPr/>
                    <a:lstStyle/>
                    <a:p>
                      <a:pPr algn="ctr">
                        <a:defRPr sz="1200" b="1">
                          <a:solidFill>
                            <a:srgbClr val="000000"/>
                          </a:solidFill>
                        </a:defRPr>
                      </a:pPr>
                      <a:r>
                        <a:t>Recall</a:t>
                      </a:r>
                    </a:p>
                  </a:txBody>
                  <a:tcPr/>
                </a:tc>
                <a:tc>
                  <a:txBody>
                    <a:bodyPr/>
                    <a:lstStyle/>
                    <a:p>
                      <a:pPr algn="ctr">
                        <a:defRPr sz="1200" b="1">
                          <a:solidFill>
                            <a:srgbClr val="000000"/>
                          </a:solidFill>
                        </a:defRPr>
                      </a:pPr>
                      <a:r>
                        <a:t>F1</a:t>
                      </a:r>
                    </a:p>
                  </a:txBody>
                  <a:tcPr/>
                </a:tc>
                <a:tc>
                  <a:txBody>
                    <a:bodyPr/>
                    <a:lstStyle/>
                    <a:p>
                      <a:pPr algn="ctr">
                        <a:defRPr sz="1200" b="1">
                          <a:solidFill>
                            <a:srgbClr val="000000"/>
                          </a:solidFill>
                        </a:defRPr>
                      </a:pPr>
                      <a:r>
                        <a:t>Cohen's κ</a:t>
                      </a:r>
                    </a:p>
                  </a:txBody>
                  <a:tcPr/>
                </a:tc>
                <a:extLst>
                  <a:ext uri="{0D108BD9-81ED-4DB2-BD59-A6C34878D82A}">
                    <a16:rowId xmlns:a16="http://schemas.microsoft.com/office/drawing/2014/main" val="10000"/>
                  </a:ext>
                </a:extLst>
              </a:tr>
              <a:tr h="548640">
                <a:tc>
                  <a:txBody>
                    <a:bodyPr/>
                    <a:lstStyle/>
                    <a:p>
                      <a:pPr algn="l">
                        <a:defRPr sz="1100">
                          <a:solidFill>
                            <a:srgbClr val="000000"/>
                          </a:solidFill>
                        </a:defRPr>
                      </a:pPr>
                      <a:r>
                        <a:t>Fold 1</a:t>
                      </a:r>
                    </a:p>
                  </a:txBody>
                  <a:tcPr/>
                </a:tc>
                <a:tc>
                  <a:txBody>
                    <a:bodyPr/>
                    <a:lstStyle/>
                    <a:p>
                      <a:pPr algn="ctr">
                        <a:defRPr sz="1100">
                          <a:solidFill>
                            <a:srgbClr val="000000"/>
                          </a:solidFill>
                        </a:defRPr>
                      </a:pPr>
                      <a:r>
                        <a:t>0.849</a:t>
                      </a:r>
                    </a:p>
                  </a:txBody>
                  <a:tcPr/>
                </a:tc>
                <a:tc>
                  <a:txBody>
                    <a:bodyPr/>
                    <a:lstStyle/>
                    <a:p>
                      <a:pPr algn="ctr">
                        <a:defRPr sz="1100">
                          <a:solidFill>
                            <a:srgbClr val="000000"/>
                          </a:solidFill>
                        </a:defRPr>
                      </a:pPr>
                      <a:r>
                        <a:t>0.454</a:t>
                      </a:r>
                    </a:p>
                  </a:txBody>
                  <a:tcPr/>
                </a:tc>
                <a:tc>
                  <a:txBody>
                    <a:bodyPr/>
                    <a:lstStyle/>
                    <a:p>
                      <a:pPr algn="ctr">
                        <a:defRPr sz="1100">
                          <a:solidFill>
                            <a:srgbClr val="000000"/>
                          </a:solidFill>
                        </a:defRPr>
                      </a:pPr>
                      <a:r>
                        <a:t>0.335</a:t>
                      </a:r>
                    </a:p>
                  </a:txBody>
                  <a:tcPr/>
                </a:tc>
                <a:tc>
                  <a:txBody>
                    <a:bodyPr/>
                    <a:lstStyle/>
                    <a:p>
                      <a:pPr algn="ctr">
                        <a:defRPr sz="1100">
                          <a:solidFill>
                            <a:srgbClr val="000000"/>
                          </a:solidFill>
                        </a:defRPr>
                      </a:pPr>
                      <a:r>
                        <a:t>0.385</a:t>
                      </a:r>
                    </a:p>
                  </a:txBody>
                  <a:tcPr/>
                </a:tc>
                <a:tc>
                  <a:txBody>
                    <a:bodyPr/>
                    <a:lstStyle/>
                    <a:p>
                      <a:pPr algn="ctr">
                        <a:defRPr sz="1100">
                          <a:solidFill>
                            <a:srgbClr val="000000"/>
                          </a:solidFill>
                        </a:defRPr>
                      </a:pPr>
                      <a:r>
                        <a:t>0.301</a:t>
                      </a:r>
                    </a:p>
                  </a:txBody>
                  <a:tcPr/>
                </a:tc>
                <a:extLst>
                  <a:ext uri="{0D108BD9-81ED-4DB2-BD59-A6C34878D82A}">
                    <a16:rowId xmlns:a16="http://schemas.microsoft.com/office/drawing/2014/main" val="10001"/>
                  </a:ext>
                </a:extLst>
              </a:tr>
              <a:tr h="548640">
                <a:tc>
                  <a:txBody>
                    <a:bodyPr/>
                    <a:lstStyle/>
                    <a:p>
                      <a:pPr algn="l">
                        <a:defRPr sz="1100">
                          <a:solidFill>
                            <a:srgbClr val="000000"/>
                          </a:solidFill>
                        </a:defRPr>
                      </a:pPr>
                      <a:r>
                        <a:t>Fold 2</a:t>
                      </a:r>
                    </a:p>
                  </a:txBody>
                  <a:tcPr/>
                </a:tc>
                <a:tc>
                  <a:txBody>
                    <a:bodyPr/>
                    <a:lstStyle/>
                    <a:p>
                      <a:pPr algn="ctr">
                        <a:defRPr sz="1100">
                          <a:solidFill>
                            <a:srgbClr val="000000"/>
                          </a:solidFill>
                        </a:defRPr>
                      </a:pPr>
                      <a:r>
                        <a:t>0.902</a:t>
                      </a:r>
                    </a:p>
                  </a:txBody>
                  <a:tcPr/>
                </a:tc>
                <a:tc>
                  <a:txBody>
                    <a:bodyPr/>
                    <a:lstStyle/>
                    <a:p>
                      <a:pPr algn="ctr">
                        <a:defRPr sz="1100">
                          <a:solidFill>
                            <a:srgbClr val="000000"/>
                          </a:solidFill>
                        </a:defRPr>
                      </a:pPr>
                      <a:r>
                        <a:t>0.859</a:t>
                      </a:r>
                    </a:p>
                  </a:txBody>
                  <a:tcPr/>
                </a:tc>
                <a:tc>
                  <a:txBody>
                    <a:bodyPr/>
                    <a:lstStyle/>
                    <a:p>
                      <a:pPr algn="ctr">
                        <a:defRPr sz="1100">
                          <a:solidFill>
                            <a:srgbClr val="000000"/>
                          </a:solidFill>
                        </a:defRPr>
                      </a:pPr>
                      <a:r>
                        <a:t>0.168</a:t>
                      </a:r>
                    </a:p>
                  </a:txBody>
                  <a:tcPr/>
                </a:tc>
                <a:tc>
                  <a:txBody>
                    <a:bodyPr/>
                    <a:lstStyle/>
                    <a:p>
                      <a:pPr algn="ctr">
                        <a:defRPr sz="1100">
                          <a:solidFill>
                            <a:srgbClr val="000000"/>
                          </a:solidFill>
                        </a:defRPr>
                      </a:pPr>
                      <a:r>
                        <a:t>0.281</a:t>
                      </a:r>
                    </a:p>
                  </a:txBody>
                  <a:tcPr/>
                </a:tc>
                <a:tc>
                  <a:txBody>
                    <a:bodyPr/>
                    <a:lstStyle/>
                    <a:p>
                      <a:pPr algn="ctr">
                        <a:defRPr sz="1100">
                          <a:solidFill>
                            <a:srgbClr val="000000"/>
                          </a:solidFill>
                        </a:defRPr>
                      </a:pPr>
                      <a:r>
                        <a:t>0.253</a:t>
                      </a:r>
                    </a:p>
                  </a:txBody>
                  <a:tcPr/>
                </a:tc>
                <a:extLst>
                  <a:ext uri="{0D108BD9-81ED-4DB2-BD59-A6C34878D82A}">
                    <a16:rowId xmlns:a16="http://schemas.microsoft.com/office/drawing/2014/main" val="10002"/>
                  </a:ext>
                </a:extLst>
              </a:tr>
              <a:tr h="548640">
                <a:tc>
                  <a:txBody>
                    <a:bodyPr/>
                    <a:lstStyle/>
                    <a:p>
                      <a:pPr algn="l">
                        <a:defRPr sz="1100">
                          <a:solidFill>
                            <a:srgbClr val="000000"/>
                          </a:solidFill>
                        </a:defRPr>
                      </a:pPr>
                      <a:r>
                        <a:t>Fold 3</a:t>
                      </a:r>
                    </a:p>
                  </a:txBody>
                  <a:tcPr/>
                </a:tc>
                <a:tc>
                  <a:txBody>
                    <a:bodyPr/>
                    <a:lstStyle/>
                    <a:p>
                      <a:pPr algn="ctr">
                        <a:defRPr sz="1100">
                          <a:solidFill>
                            <a:srgbClr val="000000"/>
                          </a:solidFill>
                        </a:defRPr>
                      </a:pPr>
                      <a:r>
                        <a:t>0.834</a:t>
                      </a:r>
                    </a:p>
                  </a:txBody>
                  <a:tcPr/>
                </a:tc>
                <a:tc>
                  <a:txBody>
                    <a:bodyPr/>
                    <a:lstStyle/>
                    <a:p>
                      <a:pPr algn="ctr">
                        <a:defRPr sz="1100">
                          <a:solidFill>
                            <a:srgbClr val="000000"/>
                          </a:solidFill>
                        </a:defRPr>
                      </a:pPr>
                      <a:r>
                        <a:t>0.599</a:t>
                      </a:r>
                    </a:p>
                  </a:txBody>
                  <a:tcPr/>
                </a:tc>
                <a:tc>
                  <a:txBody>
                    <a:bodyPr/>
                    <a:lstStyle/>
                    <a:p>
                      <a:pPr algn="ctr">
                        <a:defRPr sz="1100">
                          <a:solidFill>
                            <a:srgbClr val="000000"/>
                          </a:solidFill>
                        </a:defRPr>
                      </a:pPr>
                      <a:r>
                        <a:t>0.361</a:t>
                      </a:r>
                    </a:p>
                  </a:txBody>
                  <a:tcPr/>
                </a:tc>
                <a:tc>
                  <a:txBody>
                    <a:bodyPr/>
                    <a:lstStyle/>
                    <a:p>
                      <a:pPr algn="ctr">
                        <a:defRPr sz="1100">
                          <a:solidFill>
                            <a:srgbClr val="000000"/>
                          </a:solidFill>
                        </a:defRPr>
                      </a:pPr>
                      <a:r>
                        <a:t>0.451</a:t>
                      </a:r>
                    </a:p>
                  </a:txBody>
                  <a:tcPr/>
                </a:tc>
                <a:tc>
                  <a:txBody>
                    <a:bodyPr/>
                    <a:lstStyle/>
                    <a:p>
                      <a:pPr algn="ctr">
                        <a:defRPr sz="1100">
                          <a:solidFill>
                            <a:srgbClr val="000000"/>
                          </a:solidFill>
                        </a:defRPr>
                      </a:pPr>
                      <a:r>
                        <a:t>0.360</a:t>
                      </a:r>
                    </a:p>
                  </a:txBody>
                  <a:tcPr/>
                </a:tc>
                <a:extLst>
                  <a:ext uri="{0D108BD9-81ED-4DB2-BD59-A6C34878D82A}">
                    <a16:rowId xmlns:a16="http://schemas.microsoft.com/office/drawing/2014/main" val="10003"/>
                  </a:ext>
                </a:extLst>
              </a:tr>
              <a:tr h="548640">
                <a:tc>
                  <a:txBody>
                    <a:bodyPr/>
                    <a:lstStyle/>
                    <a:p>
                      <a:pPr algn="l">
                        <a:defRPr sz="1100">
                          <a:solidFill>
                            <a:srgbClr val="000000"/>
                          </a:solidFill>
                        </a:defRPr>
                      </a:pPr>
                      <a:r>
                        <a:t>Fold 4</a:t>
                      </a:r>
                    </a:p>
                  </a:txBody>
                  <a:tcPr/>
                </a:tc>
                <a:tc>
                  <a:txBody>
                    <a:bodyPr/>
                    <a:lstStyle/>
                    <a:p>
                      <a:pPr algn="ctr">
                        <a:defRPr sz="1100">
                          <a:solidFill>
                            <a:srgbClr val="000000"/>
                          </a:solidFill>
                        </a:defRPr>
                      </a:pPr>
                      <a:r>
                        <a:t>0.854</a:t>
                      </a:r>
                    </a:p>
                  </a:txBody>
                  <a:tcPr/>
                </a:tc>
                <a:tc>
                  <a:txBody>
                    <a:bodyPr/>
                    <a:lstStyle/>
                    <a:p>
                      <a:pPr algn="ctr">
                        <a:defRPr sz="1100">
                          <a:solidFill>
                            <a:srgbClr val="000000"/>
                          </a:solidFill>
                        </a:defRPr>
                      </a:pPr>
                      <a:r>
                        <a:t>0.698</a:t>
                      </a:r>
                    </a:p>
                  </a:txBody>
                  <a:tcPr/>
                </a:tc>
                <a:tc>
                  <a:txBody>
                    <a:bodyPr/>
                    <a:lstStyle/>
                    <a:p>
                      <a:pPr algn="ctr">
                        <a:defRPr sz="1100">
                          <a:solidFill>
                            <a:srgbClr val="000000"/>
                          </a:solidFill>
                        </a:defRPr>
                      </a:pPr>
                      <a:r>
                        <a:t>0.356</a:t>
                      </a:r>
                    </a:p>
                  </a:txBody>
                  <a:tcPr/>
                </a:tc>
                <a:tc>
                  <a:txBody>
                    <a:bodyPr/>
                    <a:lstStyle/>
                    <a:p>
                      <a:pPr algn="ctr">
                        <a:defRPr sz="1100">
                          <a:solidFill>
                            <a:srgbClr val="000000"/>
                          </a:solidFill>
                        </a:defRPr>
                      </a:pPr>
                      <a:r>
                        <a:t>0.471</a:t>
                      </a:r>
                    </a:p>
                  </a:txBody>
                  <a:tcPr/>
                </a:tc>
                <a:tc>
                  <a:txBody>
                    <a:bodyPr/>
                    <a:lstStyle/>
                    <a:p>
                      <a:pPr algn="ctr">
                        <a:defRPr sz="1100">
                          <a:solidFill>
                            <a:srgbClr val="000000"/>
                          </a:solidFill>
                        </a:defRPr>
                      </a:pPr>
                      <a:r>
                        <a:t>0.397</a:t>
                      </a:r>
                    </a:p>
                  </a:txBody>
                  <a:tcPr/>
                </a:tc>
                <a:extLst>
                  <a:ext uri="{0D108BD9-81ED-4DB2-BD59-A6C34878D82A}">
                    <a16:rowId xmlns:a16="http://schemas.microsoft.com/office/drawing/2014/main" val="10004"/>
                  </a:ext>
                </a:extLst>
              </a:tr>
              <a:tr h="610925">
                <a:tc>
                  <a:txBody>
                    <a:bodyPr/>
                    <a:lstStyle/>
                    <a:p>
                      <a:pPr algn="l">
                        <a:defRPr sz="1100">
                          <a:solidFill>
                            <a:srgbClr val="000000"/>
                          </a:solidFill>
                        </a:defRPr>
                      </a:pPr>
                      <a:r>
                        <a:t>Fold 5</a:t>
                      </a:r>
                    </a:p>
                  </a:txBody>
                  <a:tcPr/>
                </a:tc>
                <a:tc>
                  <a:txBody>
                    <a:bodyPr/>
                    <a:lstStyle/>
                    <a:p>
                      <a:pPr algn="ctr">
                        <a:defRPr sz="1100">
                          <a:solidFill>
                            <a:srgbClr val="000000"/>
                          </a:solidFill>
                        </a:defRPr>
                      </a:pPr>
                      <a:r>
                        <a:t>0.814</a:t>
                      </a:r>
                    </a:p>
                  </a:txBody>
                  <a:tcPr/>
                </a:tc>
                <a:tc>
                  <a:txBody>
                    <a:bodyPr/>
                    <a:lstStyle/>
                    <a:p>
                      <a:pPr algn="ctr">
                        <a:defRPr sz="1100">
                          <a:solidFill>
                            <a:srgbClr val="000000"/>
                          </a:solidFill>
                        </a:defRPr>
                      </a:pPr>
                      <a:r>
                        <a:t>0.339</a:t>
                      </a:r>
                    </a:p>
                  </a:txBody>
                  <a:tcPr/>
                </a:tc>
                <a:tc>
                  <a:txBody>
                    <a:bodyPr/>
                    <a:lstStyle/>
                    <a:p>
                      <a:pPr algn="ctr">
                        <a:defRPr sz="1100">
                          <a:solidFill>
                            <a:srgbClr val="000000"/>
                          </a:solidFill>
                        </a:defRPr>
                      </a:pPr>
                      <a:r>
                        <a:t>0.079</a:t>
                      </a:r>
                    </a:p>
                  </a:txBody>
                  <a:tcPr/>
                </a:tc>
                <a:tc>
                  <a:txBody>
                    <a:bodyPr/>
                    <a:lstStyle/>
                    <a:p>
                      <a:pPr algn="ctr">
                        <a:defRPr sz="1100">
                          <a:solidFill>
                            <a:srgbClr val="000000"/>
                          </a:solidFill>
                        </a:defRPr>
                      </a:pPr>
                      <a:r>
                        <a:t>0.129</a:t>
                      </a:r>
                    </a:p>
                  </a:txBody>
                  <a:tcPr/>
                </a:tc>
                <a:tc>
                  <a:txBody>
                    <a:bodyPr/>
                    <a:lstStyle/>
                    <a:p>
                      <a:pPr algn="ctr">
                        <a:defRPr sz="1100">
                          <a:solidFill>
                            <a:srgbClr val="000000"/>
                          </a:solidFill>
                        </a:defRPr>
                      </a:pPr>
                      <a:r>
                        <a:t>0.067</a:t>
                      </a:r>
                    </a:p>
                  </a:txBody>
                  <a:tcPr/>
                </a:tc>
                <a:extLst>
                  <a:ext uri="{0D108BD9-81ED-4DB2-BD59-A6C34878D82A}">
                    <a16:rowId xmlns:a16="http://schemas.microsoft.com/office/drawing/2014/main" val="10005"/>
                  </a:ext>
                </a:extLst>
              </a:tr>
              <a:tr h="548640">
                <a:tc>
                  <a:txBody>
                    <a:bodyPr/>
                    <a:lstStyle/>
                    <a:p>
                      <a:pPr algn="l">
                        <a:defRPr sz="1100">
                          <a:solidFill>
                            <a:srgbClr val="000000"/>
                          </a:solidFill>
                        </a:defRPr>
                      </a:pPr>
                      <a:r>
                        <a:t>Mean ± Std</a:t>
                      </a:r>
                    </a:p>
                  </a:txBody>
                  <a:tcPr/>
                </a:tc>
                <a:tc>
                  <a:txBody>
                    <a:bodyPr/>
                    <a:lstStyle/>
                    <a:p>
                      <a:pPr algn="ctr">
                        <a:defRPr sz="1100">
                          <a:solidFill>
                            <a:srgbClr val="000000"/>
                          </a:solidFill>
                        </a:defRPr>
                      </a:pPr>
                      <a:r>
                        <a:rPr dirty="0"/>
                        <a:t>0.850 ± 0.033</a:t>
                      </a:r>
                    </a:p>
                  </a:txBody>
                  <a:tcPr/>
                </a:tc>
                <a:tc>
                  <a:txBody>
                    <a:bodyPr/>
                    <a:lstStyle/>
                    <a:p>
                      <a:pPr algn="ctr">
                        <a:defRPr sz="1100">
                          <a:solidFill>
                            <a:srgbClr val="000000"/>
                          </a:solidFill>
                        </a:defRPr>
                      </a:pPr>
                      <a:r>
                        <a:rPr dirty="0"/>
                        <a:t>0.590 ± 0.204</a:t>
                      </a:r>
                    </a:p>
                  </a:txBody>
                  <a:tcPr/>
                </a:tc>
                <a:tc>
                  <a:txBody>
                    <a:bodyPr/>
                    <a:lstStyle/>
                    <a:p>
                      <a:pPr algn="ctr">
                        <a:defRPr sz="1100">
                          <a:solidFill>
                            <a:srgbClr val="000000"/>
                          </a:solidFill>
                        </a:defRPr>
                      </a:pPr>
                      <a:r>
                        <a:rPr dirty="0"/>
                        <a:t>0.260 ± 0.129</a:t>
                      </a:r>
                    </a:p>
                  </a:txBody>
                  <a:tcPr/>
                </a:tc>
                <a:tc>
                  <a:txBody>
                    <a:bodyPr/>
                    <a:lstStyle/>
                    <a:p>
                      <a:pPr algn="ctr">
                        <a:defRPr sz="1100">
                          <a:solidFill>
                            <a:srgbClr val="000000"/>
                          </a:solidFill>
                        </a:defRPr>
                      </a:pPr>
                      <a:r>
                        <a:rPr dirty="0"/>
                        <a:t>0.343 ± 0.141</a:t>
                      </a:r>
                    </a:p>
                  </a:txBody>
                  <a:tcPr/>
                </a:tc>
                <a:tc>
                  <a:txBody>
                    <a:bodyPr/>
                    <a:lstStyle/>
                    <a:p>
                      <a:pPr algn="ctr">
                        <a:defRPr sz="1100">
                          <a:solidFill>
                            <a:srgbClr val="000000"/>
                          </a:solidFill>
                        </a:defRPr>
                      </a:pPr>
                      <a:r>
                        <a:rPr dirty="0"/>
                        <a:t>0.276 ± 0.129</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82880"/>
            <a:ext cx="8229600" cy="548640"/>
          </a:xfrm>
          <a:prstGeom prst="rect">
            <a:avLst/>
          </a:prstGeom>
          <a:noFill/>
        </p:spPr>
        <p:txBody>
          <a:bodyPr wrap="none">
            <a:spAutoFit/>
          </a:bodyPr>
          <a:lstStyle/>
          <a:p>
            <a:pPr algn="l">
              <a:defRPr sz="2000" b="1"/>
            </a:pPr>
            <a:r>
              <a:t>DenseNet-201  |  Paper setup + Preproc</a:t>
            </a:r>
          </a:p>
        </p:txBody>
      </p:sp>
      <p:graphicFrame>
        <p:nvGraphicFramePr>
          <p:cNvPr id="3" name="Table 2"/>
          <p:cNvGraphicFramePr>
            <a:graphicFrameLocks noGrp="1"/>
          </p:cNvGraphicFramePr>
          <p:nvPr/>
        </p:nvGraphicFramePr>
        <p:xfrm>
          <a:off x="365760" y="1005840"/>
          <a:ext cx="8229600" cy="38404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48640">
                <a:tc>
                  <a:txBody>
                    <a:bodyPr/>
                    <a:lstStyle/>
                    <a:p>
                      <a:pPr algn="ctr">
                        <a:defRPr sz="1200" b="1">
                          <a:solidFill>
                            <a:srgbClr val="000000"/>
                          </a:solidFill>
                        </a:defRPr>
                      </a:pPr>
                      <a:r>
                        <a:t>Fold</a:t>
                      </a:r>
                    </a:p>
                  </a:txBody>
                  <a:tcPr/>
                </a:tc>
                <a:tc>
                  <a:txBody>
                    <a:bodyPr/>
                    <a:lstStyle/>
                    <a:p>
                      <a:pPr algn="ctr">
                        <a:defRPr sz="1200" b="1">
                          <a:solidFill>
                            <a:srgbClr val="000000"/>
                          </a:solidFill>
                        </a:defRPr>
                      </a:pPr>
                      <a:r>
                        <a:t>Accuracy</a:t>
                      </a:r>
                    </a:p>
                  </a:txBody>
                  <a:tcPr/>
                </a:tc>
                <a:tc>
                  <a:txBody>
                    <a:bodyPr/>
                    <a:lstStyle/>
                    <a:p>
                      <a:pPr algn="ctr">
                        <a:defRPr sz="1200" b="1">
                          <a:solidFill>
                            <a:srgbClr val="000000"/>
                          </a:solidFill>
                        </a:defRPr>
                      </a:pPr>
                      <a:r>
                        <a:t>Precision</a:t>
                      </a:r>
                    </a:p>
                  </a:txBody>
                  <a:tcPr/>
                </a:tc>
                <a:tc>
                  <a:txBody>
                    <a:bodyPr/>
                    <a:lstStyle/>
                    <a:p>
                      <a:pPr algn="ctr">
                        <a:defRPr sz="1200" b="1">
                          <a:solidFill>
                            <a:srgbClr val="000000"/>
                          </a:solidFill>
                        </a:defRPr>
                      </a:pPr>
                      <a:r>
                        <a:t>Recall</a:t>
                      </a:r>
                    </a:p>
                  </a:txBody>
                  <a:tcPr/>
                </a:tc>
                <a:tc>
                  <a:txBody>
                    <a:bodyPr/>
                    <a:lstStyle/>
                    <a:p>
                      <a:pPr algn="ctr">
                        <a:defRPr sz="1200" b="1">
                          <a:solidFill>
                            <a:srgbClr val="000000"/>
                          </a:solidFill>
                        </a:defRPr>
                      </a:pPr>
                      <a:r>
                        <a:t>F1</a:t>
                      </a:r>
                    </a:p>
                  </a:txBody>
                  <a:tcPr/>
                </a:tc>
                <a:tc>
                  <a:txBody>
                    <a:bodyPr/>
                    <a:lstStyle/>
                    <a:p>
                      <a:pPr algn="ctr">
                        <a:defRPr sz="1200" b="1">
                          <a:solidFill>
                            <a:srgbClr val="000000"/>
                          </a:solidFill>
                        </a:defRPr>
                      </a:pPr>
                      <a:r>
                        <a:t>Cohen's κ</a:t>
                      </a:r>
                    </a:p>
                  </a:txBody>
                  <a:tcPr/>
                </a:tc>
                <a:extLst>
                  <a:ext uri="{0D108BD9-81ED-4DB2-BD59-A6C34878D82A}">
                    <a16:rowId xmlns:a16="http://schemas.microsoft.com/office/drawing/2014/main" val="10000"/>
                  </a:ext>
                </a:extLst>
              </a:tr>
              <a:tr h="548640">
                <a:tc>
                  <a:txBody>
                    <a:bodyPr/>
                    <a:lstStyle/>
                    <a:p>
                      <a:pPr algn="l">
                        <a:defRPr sz="1100">
                          <a:solidFill>
                            <a:srgbClr val="000000"/>
                          </a:solidFill>
                        </a:defRPr>
                      </a:pPr>
                      <a:r>
                        <a:t>Fold 1</a:t>
                      </a:r>
                    </a:p>
                  </a:txBody>
                  <a:tcPr/>
                </a:tc>
                <a:tc>
                  <a:txBody>
                    <a:bodyPr/>
                    <a:lstStyle/>
                    <a:p>
                      <a:pPr algn="ctr">
                        <a:defRPr sz="1100">
                          <a:solidFill>
                            <a:srgbClr val="000000"/>
                          </a:solidFill>
                        </a:defRPr>
                      </a:pPr>
                      <a:r>
                        <a:t>0.999</a:t>
                      </a:r>
                    </a:p>
                  </a:txBody>
                  <a:tcPr/>
                </a:tc>
                <a:tc>
                  <a:txBody>
                    <a:bodyPr/>
                    <a:lstStyle/>
                    <a:p>
                      <a:pPr algn="ctr">
                        <a:defRPr sz="1100">
                          <a:solidFill>
                            <a:srgbClr val="000000"/>
                          </a:solidFill>
                        </a:defRPr>
                      </a:pPr>
                      <a:r>
                        <a:t>1.000</a:t>
                      </a:r>
                    </a:p>
                  </a:txBody>
                  <a:tcPr/>
                </a:tc>
                <a:tc>
                  <a:txBody>
                    <a:bodyPr/>
                    <a:lstStyle/>
                    <a:p>
                      <a:pPr algn="ctr">
                        <a:defRPr sz="1100">
                          <a:solidFill>
                            <a:srgbClr val="000000"/>
                          </a:solidFill>
                        </a:defRPr>
                      </a:pPr>
                      <a:r>
                        <a:t>0.998</a:t>
                      </a:r>
                    </a:p>
                  </a:txBody>
                  <a:tcPr/>
                </a:tc>
                <a:tc>
                  <a:txBody>
                    <a:bodyPr/>
                    <a:lstStyle/>
                    <a:p>
                      <a:pPr algn="ctr">
                        <a:defRPr sz="1100">
                          <a:solidFill>
                            <a:srgbClr val="000000"/>
                          </a:solidFill>
                        </a:defRPr>
                      </a:pPr>
                      <a:r>
                        <a:t>0.999</a:t>
                      </a:r>
                    </a:p>
                  </a:txBody>
                  <a:tcPr/>
                </a:tc>
                <a:tc>
                  <a:txBody>
                    <a:bodyPr/>
                    <a:lstStyle/>
                    <a:p>
                      <a:pPr algn="ctr">
                        <a:defRPr sz="1100">
                          <a:solidFill>
                            <a:srgbClr val="000000"/>
                          </a:solidFill>
                        </a:defRPr>
                      </a:pPr>
                      <a:r>
                        <a:t>0.999</a:t>
                      </a:r>
                    </a:p>
                  </a:txBody>
                  <a:tcPr/>
                </a:tc>
                <a:extLst>
                  <a:ext uri="{0D108BD9-81ED-4DB2-BD59-A6C34878D82A}">
                    <a16:rowId xmlns:a16="http://schemas.microsoft.com/office/drawing/2014/main" val="10001"/>
                  </a:ext>
                </a:extLst>
              </a:tr>
              <a:tr h="548640">
                <a:tc>
                  <a:txBody>
                    <a:bodyPr/>
                    <a:lstStyle/>
                    <a:p>
                      <a:pPr algn="l">
                        <a:defRPr sz="1100">
                          <a:solidFill>
                            <a:srgbClr val="000000"/>
                          </a:solidFill>
                        </a:defRPr>
                      </a:pPr>
                      <a:r>
                        <a:t>Fold 2</a:t>
                      </a:r>
                    </a:p>
                  </a:txBody>
                  <a:tcPr/>
                </a:tc>
                <a:tc>
                  <a:txBody>
                    <a:bodyPr/>
                    <a:lstStyle/>
                    <a:p>
                      <a:pPr algn="ctr">
                        <a:defRPr sz="1100">
                          <a:solidFill>
                            <a:srgbClr val="000000"/>
                          </a:solidFill>
                        </a:defRPr>
                      </a:pPr>
                      <a:r>
                        <a:t>0.998</a:t>
                      </a:r>
                    </a:p>
                  </a:txBody>
                  <a:tcPr/>
                </a:tc>
                <a:tc>
                  <a:txBody>
                    <a:bodyPr/>
                    <a:lstStyle/>
                    <a:p>
                      <a:pPr algn="ctr">
                        <a:defRPr sz="1100">
                          <a:solidFill>
                            <a:srgbClr val="000000"/>
                          </a:solidFill>
                        </a:defRPr>
                      </a:pPr>
                      <a:r>
                        <a:t>0.992</a:t>
                      </a:r>
                    </a:p>
                  </a:txBody>
                  <a:tcPr/>
                </a:tc>
                <a:tc>
                  <a:txBody>
                    <a:bodyPr/>
                    <a:lstStyle/>
                    <a:p>
                      <a:pPr algn="ctr">
                        <a:defRPr sz="1100">
                          <a:solidFill>
                            <a:srgbClr val="000000"/>
                          </a:solidFill>
                        </a:defRPr>
                      </a:pPr>
                      <a:r>
                        <a:t>1.000</a:t>
                      </a:r>
                    </a:p>
                  </a:txBody>
                  <a:tcPr/>
                </a:tc>
                <a:tc>
                  <a:txBody>
                    <a:bodyPr/>
                    <a:lstStyle/>
                    <a:p>
                      <a:pPr algn="ctr">
                        <a:defRPr sz="1100">
                          <a:solidFill>
                            <a:srgbClr val="000000"/>
                          </a:solidFill>
                        </a:defRPr>
                      </a:pPr>
                      <a:r>
                        <a:t>0.996</a:t>
                      </a:r>
                    </a:p>
                  </a:txBody>
                  <a:tcPr/>
                </a:tc>
                <a:tc>
                  <a:txBody>
                    <a:bodyPr/>
                    <a:lstStyle/>
                    <a:p>
                      <a:pPr algn="ctr">
                        <a:defRPr sz="1100">
                          <a:solidFill>
                            <a:srgbClr val="000000"/>
                          </a:solidFill>
                        </a:defRPr>
                      </a:pPr>
                      <a:r>
                        <a:t>0.995</a:t>
                      </a:r>
                    </a:p>
                  </a:txBody>
                  <a:tcPr/>
                </a:tc>
                <a:extLst>
                  <a:ext uri="{0D108BD9-81ED-4DB2-BD59-A6C34878D82A}">
                    <a16:rowId xmlns:a16="http://schemas.microsoft.com/office/drawing/2014/main" val="10002"/>
                  </a:ext>
                </a:extLst>
              </a:tr>
              <a:tr h="548640">
                <a:tc>
                  <a:txBody>
                    <a:bodyPr/>
                    <a:lstStyle/>
                    <a:p>
                      <a:pPr algn="l">
                        <a:defRPr sz="1100">
                          <a:solidFill>
                            <a:srgbClr val="000000"/>
                          </a:solidFill>
                        </a:defRPr>
                      </a:pPr>
                      <a:r>
                        <a:t>Fold 3</a:t>
                      </a:r>
                    </a:p>
                  </a:txBody>
                  <a:tcPr/>
                </a:tc>
                <a:tc>
                  <a:txBody>
                    <a:bodyPr/>
                    <a:lstStyle/>
                    <a:p>
                      <a:pPr algn="ctr">
                        <a:defRPr sz="1100">
                          <a:solidFill>
                            <a:srgbClr val="000000"/>
                          </a:solidFill>
                        </a:defRPr>
                      </a:pPr>
                      <a:r>
                        <a:t>0.996</a:t>
                      </a:r>
                    </a:p>
                  </a:txBody>
                  <a:tcPr/>
                </a:tc>
                <a:tc>
                  <a:txBody>
                    <a:bodyPr/>
                    <a:lstStyle/>
                    <a:p>
                      <a:pPr algn="ctr">
                        <a:defRPr sz="1100">
                          <a:solidFill>
                            <a:srgbClr val="000000"/>
                          </a:solidFill>
                        </a:defRPr>
                      </a:pPr>
                      <a:r>
                        <a:t>0.988</a:t>
                      </a:r>
                    </a:p>
                  </a:txBody>
                  <a:tcPr/>
                </a:tc>
                <a:tc>
                  <a:txBody>
                    <a:bodyPr/>
                    <a:lstStyle/>
                    <a:p>
                      <a:pPr algn="ctr">
                        <a:defRPr sz="1100">
                          <a:solidFill>
                            <a:srgbClr val="000000"/>
                          </a:solidFill>
                        </a:defRPr>
                      </a:pPr>
                      <a:r>
                        <a:t>1.000</a:t>
                      </a:r>
                    </a:p>
                  </a:txBody>
                  <a:tcPr/>
                </a:tc>
                <a:tc>
                  <a:txBody>
                    <a:bodyPr/>
                    <a:lstStyle/>
                    <a:p>
                      <a:pPr algn="ctr">
                        <a:defRPr sz="1100">
                          <a:solidFill>
                            <a:srgbClr val="000000"/>
                          </a:solidFill>
                        </a:defRPr>
                      </a:pPr>
                      <a:r>
                        <a:t>0.994</a:t>
                      </a:r>
                    </a:p>
                  </a:txBody>
                  <a:tcPr/>
                </a:tc>
                <a:tc>
                  <a:txBody>
                    <a:bodyPr/>
                    <a:lstStyle/>
                    <a:p>
                      <a:pPr algn="ctr">
                        <a:defRPr sz="1100">
                          <a:solidFill>
                            <a:srgbClr val="000000"/>
                          </a:solidFill>
                        </a:defRPr>
                      </a:pPr>
                      <a:r>
                        <a:t>0.991</a:t>
                      </a:r>
                    </a:p>
                  </a:txBody>
                  <a:tcPr/>
                </a:tc>
                <a:extLst>
                  <a:ext uri="{0D108BD9-81ED-4DB2-BD59-A6C34878D82A}">
                    <a16:rowId xmlns:a16="http://schemas.microsoft.com/office/drawing/2014/main" val="10003"/>
                  </a:ext>
                </a:extLst>
              </a:tr>
              <a:tr h="548640">
                <a:tc>
                  <a:txBody>
                    <a:bodyPr/>
                    <a:lstStyle/>
                    <a:p>
                      <a:pPr algn="l">
                        <a:defRPr sz="1100">
                          <a:solidFill>
                            <a:srgbClr val="000000"/>
                          </a:solidFill>
                        </a:defRPr>
                      </a:pPr>
                      <a:r>
                        <a:t>Fold 4</a:t>
                      </a:r>
                    </a:p>
                  </a:txBody>
                  <a:tcPr/>
                </a:tc>
                <a:tc>
                  <a:txBody>
                    <a:bodyPr/>
                    <a:lstStyle/>
                    <a:p>
                      <a:pPr algn="ctr">
                        <a:defRPr sz="1100">
                          <a:solidFill>
                            <a:srgbClr val="000000"/>
                          </a:solidFill>
                        </a:defRPr>
                      </a:pPr>
                      <a:r>
                        <a:t>0.993</a:t>
                      </a:r>
                    </a:p>
                  </a:txBody>
                  <a:tcPr/>
                </a:tc>
                <a:tc>
                  <a:txBody>
                    <a:bodyPr/>
                    <a:lstStyle/>
                    <a:p>
                      <a:pPr algn="ctr">
                        <a:defRPr sz="1100">
                          <a:solidFill>
                            <a:srgbClr val="000000"/>
                          </a:solidFill>
                        </a:defRPr>
                      </a:pPr>
                      <a:r>
                        <a:t>0.992</a:t>
                      </a:r>
                    </a:p>
                  </a:txBody>
                  <a:tcPr/>
                </a:tc>
                <a:tc>
                  <a:txBody>
                    <a:bodyPr/>
                    <a:lstStyle/>
                    <a:p>
                      <a:pPr algn="ctr">
                        <a:defRPr sz="1100">
                          <a:solidFill>
                            <a:srgbClr val="000000"/>
                          </a:solidFill>
                        </a:defRPr>
                      </a:pPr>
                      <a:r>
                        <a:t>0.986</a:t>
                      </a:r>
                    </a:p>
                  </a:txBody>
                  <a:tcPr/>
                </a:tc>
                <a:tc>
                  <a:txBody>
                    <a:bodyPr/>
                    <a:lstStyle/>
                    <a:p>
                      <a:pPr algn="ctr">
                        <a:defRPr sz="1100">
                          <a:solidFill>
                            <a:srgbClr val="000000"/>
                          </a:solidFill>
                        </a:defRPr>
                      </a:pPr>
                      <a:r>
                        <a:t>0.989</a:t>
                      </a:r>
                    </a:p>
                  </a:txBody>
                  <a:tcPr/>
                </a:tc>
                <a:tc>
                  <a:txBody>
                    <a:bodyPr/>
                    <a:lstStyle/>
                    <a:p>
                      <a:pPr algn="ctr">
                        <a:defRPr sz="1100">
                          <a:solidFill>
                            <a:srgbClr val="000000"/>
                          </a:solidFill>
                        </a:defRPr>
                      </a:pPr>
                      <a:r>
                        <a:t>0.984</a:t>
                      </a:r>
                    </a:p>
                  </a:txBody>
                  <a:tcPr/>
                </a:tc>
                <a:extLst>
                  <a:ext uri="{0D108BD9-81ED-4DB2-BD59-A6C34878D82A}">
                    <a16:rowId xmlns:a16="http://schemas.microsoft.com/office/drawing/2014/main" val="10004"/>
                  </a:ext>
                </a:extLst>
              </a:tr>
              <a:tr h="548640">
                <a:tc>
                  <a:txBody>
                    <a:bodyPr/>
                    <a:lstStyle/>
                    <a:p>
                      <a:pPr algn="l">
                        <a:defRPr sz="1100">
                          <a:solidFill>
                            <a:srgbClr val="000000"/>
                          </a:solidFill>
                        </a:defRPr>
                      </a:pPr>
                      <a:r>
                        <a:t>Fold 5</a:t>
                      </a:r>
                    </a:p>
                  </a:txBody>
                  <a:tcPr/>
                </a:tc>
                <a:tc>
                  <a:txBody>
                    <a:bodyPr/>
                    <a:lstStyle/>
                    <a:p>
                      <a:pPr algn="ctr">
                        <a:defRPr sz="1100">
                          <a:solidFill>
                            <a:srgbClr val="000000"/>
                          </a:solidFill>
                        </a:defRPr>
                      </a:pPr>
                      <a:r>
                        <a:t>0.921</a:t>
                      </a:r>
                    </a:p>
                  </a:txBody>
                  <a:tcPr/>
                </a:tc>
                <a:tc>
                  <a:txBody>
                    <a:bodyPr/>
                    <a:lstStyle/>
                    <a:p>
                      <a:pPr algn="ctr">
                        <a:defRPr sz="1100">
                          <a:solidFill>
                            <a:srgbClr val="000000"/>
                          </a:solidFill>
                        </a:defRPr>
                      </a:pPr>
                      <a:r>
                        <a:t>1.000</a:t>
                      </a:r>
                    </a:p>
                  </a:txBody>
                  <a:tcPr/>
                </a:tc>
                <a:tc>
                  <a:txBody>
                    <a:bodyPr/>
                    <a:lstStyle/>
                    <a:p>
                      <a:pPr algn="ctr">
                        <a:defRPr sz="1100">
                          <a:solidFill>
                            <a:srgbClr val="000000"/>
                          </a:solidFill>
                        </a:defRPr>
                      </a:pPr>
                      <a:r>
                        <a:t>0.751</a:t>
                      </a:r>
                    </a:p>
                  </a:txBody>
                  <a:tcPr/>
                </a:tc>
                <a:tc>
                  <a:txBody>
                    <a:bodyPr/>
                    <a:lstStyle/>
                    <a:p>
                      <a:pPr algn="ctr">
                        <a:defRPr sz="1100">
                          <a:solidFill>
                            <a:srgbClr val="000000"/>
                          </a:solidFill>
                        </a:defRPr>
                      </a:pPr>
                      <a:r>
                        <a:t>0.858</a:t>
                      </a:r>
                    </a:p>
                  </a:txBody>
                  <a:tcPr/>
                </a:tc>
                <a:tc>
                  <a:txBody>
                    <a:bodyPr/>
                    <a:lstStyle/>
                    <a:p>
                      <a:pPr algn="ctr">
                        <a:defRPr sz="1100">
                          <a:solidFill>
                            <a:srgbClr val="000000"/>
                          </a:solidFill>
                        </a:defRPr>
                      </a:pPr>
                      <a:r>
                        <a:t>0.805</a:t>
                      </a:r>
                    </a:p>
                  </a:txBody>
                  <a:tcPr/>
                </a:tc>
                <a:extLst>
                  <a:ext uri="{0D108BD9-81ED-4DB2-BD59-A6C34878D82A}">
                    <a16:rowId xmlns:a16="http://schemas.microsoft.com/office/drawing/2014/main" val="10005"/>
                  </a:ext>
                </a:extLst>
              </a:tr>
              <a:tr h="548640">
                <a:tc>
                  <a:txBody>
                    <a:bodyPr/>
                    <a:lstStyle/>
                    <a:p>
                      <a:pPr algn="l">
                        <a:defRPr sz="1100">
                          <a:solidFill>
                            <a:srgbClr val="000000"/>
                          </a:solidFill>
                        </a:defRPr>
                      </a:pPr>
                      <a:r>
                        <a:t>Mean ± Std</a:t>
                      </a:r>
                    </a:p>
                  </a:txBody>
                  <a:tcPr/>
                </a:tc>
                <a:tc>
                  <a:txBody>
                    <a:bodyPr/>
                    <a:lstStyle/>
                    <a:p>
                      <a:pPr algn="ctr">
                        <a:defRPr sz="1100">
                          <a:solidFill>
                            <a:srgbClr val="000000"/>
                          </a:solidFill>
                        </a:defRPr>
                      </a:pPr>
                      <a:r>
                        <a:rPr dirty="0"/>
                        <a:t>0.982 ± 0.034</a:t>
                      </a:r>
                    </a:p>
                  </a:txBody>
                  <a:tcPr/>
                </a:tc>
                <a:tc>
                  <a:txBody>
                    <a:bodyPr/>
                    <a:lstStyle/>
                    <a:p>
                      <a:pPr algn="ctr">
                        <a:defRPr sz="1100">
                          <a:solidFill>
                            <a:srgbClr val="000000"/>
                          </a:solidFill>
                        </a:defRPr>
                      </a:pPr>
                      <a:r>
                        <a:t>0.995 ± 0.005</a:t>
                      </a:r>
                    </a:p>
                  </a:txBody>
                  <a:tcPr/>
                </a:tc>
                <a:tc>
                  <a:txBody>
                    <a:bodyPr/>
                    <a:lstStyle/>
                    <a:p>
                      <a:pPr algn="ctr">
                        <a:defRPr sz="1100">
                          <a:solidFill>
                            <a:srgbClr val="000000"/>
                          </a:solidFill>
                        </a:defRPr>
                      </a:pPr>
                      <a:r>
                        <a:t>0.947 ± 0.110</a:t>
                      </a:r>
                    </a:p>
                  </a:txBody>
                  <a:tcPr/>
                </a:tc>
                <a:tc>
                  <a:txBody>
                    <a:bodyPr/>
                    <a:lstStyle/>
                    <a:p>
                      <a:pPr algn="ctr">
                        <a:defRPr sz="1100">
                          <a:solidFill>
                            <a:srgbClr val="000000"/>
                          </a:solidFill>
                        </a:defRPr>
                      </a:pPr>
                      <a:r>
                        <a:rPr dirty="0"/>
                        <a:t>0.967 ± 0.061</a:t>
                      </a:r>
                    </a:p>
                  </a:txBody>
                  <a:tcPr/>
                </a:tc>
                <a:tc>
                  <a:txBody>
                    <a:bodyPr/>
                    <a:lstStyle/>
                    <a:p>
                      <a:pPr algn="ctr">
                        <a:defRPr sz="1100">
                          <a:solidFill>
                            <a:srgbClr val="000000"/>
                          </a:solidFill>
                        </a:defRPr>
                      </a:pPr>
                      <a:r>
                        <a:rPr dirty="0"/>
                        <a:t>0.955 ± 0.084</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82880"/>
            <a:ext cx="8229600" cy="548640"/>
          </a:xfrm>
          <a:prstGeom prst="rect">
            <a:avLst/>
          </a:prstGeom>
          <a:noFill/>
        </p:spPr>
        <p:txBody>
          <a:bodyPr wrap="none">
            <a:spAutoFit/>
          </a:bodyPr>
          <a:lstStyle/>
          <a:p>
            <a:pPr algn="l">
              <a:defRPr sz="2000" b="1"/>
            </a:pPr>
            <a:r>
              <a:rPr dirty="0"/>
              <a:t>DenseNet-201  |  Correct setup + </a:t>
            </a:r>
            <a:r>
              <a:rPr dirty="0" err="1"/>
              <a:t>Preproc</a:t>
            </a:r>
            <a:endParaRPr dirty="0"/>
          </a:p>
        </p:txBody>
      </p:sp>
      <p:graphicFrame>
        <p:nvGraphicFramePr>
          <p:cNvPr id="3" name="Table 2"/>
          <p:cNvGraphicFramePr>
            <a:graphicFrameLocks noGrp="1"/>
          </p:cNvGraphicFramePr>
          <p:nvPr/>
        </p:nvGraphicFramePr>
        <p:xfrm>
          <a:off x="365760" y="1005840"/>
          <a:ext cx="8229600" cy="38404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48640">
                <a:tc>
                  <a:txBody>
                    <a:bodyPr/>
                    <a:lstStyle/>
                    <a:p>
                      <a:pPr algn="ctr">
                        <a:defRPr sz="1200" b="1">
                          <a:solidFill>
                            <a:srgbClr val="000000"/>
                          </a:solidFill>
                        </a:defRPr>
                      </a:pPr>
                      <a:r>
                        <a:t>Fold</a:t>
                      </a:r>
                    </a:p>
                  </a:txBody>
                  <a:tcPr/>
                </a:tc>
                <a:tc>
                  <a:txBody>
                    <a:bodyPr/>
                    <a:lstStyle/>
                    <a:p>
                      <a:pPr algn="ctr">
                        <a:defRPr sz="1200" b="1">
                          <a:solidFill>
                            <a:srgbClr val="000000"/>
                          </a:solidFill>
                        </a:defRPr>
                      </a:pPr>
                      <a:r>
                        <a:t>Accuracy</a:t>
                      </a:r>
                    </a:p>
                  </a:txBody>
                  <a:tcPr/>
                </a:tc>
                <a:tc>
                  <a:txBody>
                    <a:bodyPr/>
                    <a:lstStyle/>
                    <a:p>
                      <a:pPr algn="ctr">
                        <a:defRPr sz="1200" b="1">
                          <a:solidFill>
                            <a:srgbClr val="000000"/>
                          </a:solidFill>
                        </a:defRPr>
                      </a:pPr>
                      <a:r>
                        <a:t>Precision</a:t>
                      </a:r>
                    </a:p>
                  </a:txBody>
                  <a:tcPr/>
                </a:tc>
                <a:tc>
                  <a:txBody>
                    <a:bodyPr/>
                    <a:lstStyle/>
                    <a:p>
                      <a:pPr algn="ctr">
                        <a:defRPr sz="1200" b="1">
                          <a:solidFill>
                            <a:srgbClr val="000000"/>
                          </a:solidFill>
                        </a:defRPr>
                      </a:pPr>
                      <a:r>
                        <a:t>Recall</a:t>
                      </a:r>
                    </a:p>
                  </a:txBody>
                  <a:tcPr/>
                </a:tc>
                <a:tc>
                  <a:txBody>
                    <a:bodyPr/>
                    <a:lstStyle/>
                    <a:p>
                      <a:pPr algn="ctr">
                        <a:defRPr sz="1200" b="1">
                          <a:solidFill>
                            <a:srgbClr val="000000"/>
                          </a:solidFill>
                        </a:defRPr>
                      </a:pPr>
                      <a:r>
                        <a:t>F1</a:t>
                      </a:r>
                    </a:p>
                  </a:txBody>
                  <a:tcPr/>
                </a:tc>
                <a:tc>
                  <a:txBody>
                    <a:bodyPr/>
                    <a:lstStyle/>
                    <a:p>
                      <a:pPr algn="ctr">
                        <a:defRPr sz="1200" b="1">
                          <a:solidFill>
                            <a:srgbClr val="000000"/>
                          </a:solidFill>
                        </a:defRPr>
                      </a:pPr>
                      <a:r>
                        <a:t>Cohen's κ</a:t>
                      </a:r>
                    </a:p>
                  </a:txBody>
                  <a:tcPr/>
                </a:tc>
                <a:extLst>
                  <a:ext uri="{0D108BD9-81ED-4DB2-BD59-A6C34878D82A}">
                    <a16:rowId xmlns:a16="http://schemas.microsoft.com/office/drawing/2014/main" val="10000"/>
                  </a:ext>
                </a:extLst>
              </a:tr>
              <a:tr h="548640">
                <a:tc>
                  <a:txBody>
                    <a:bodyPr/>
                    <a:lstStyle/>
                    <a:p>
                      <a:pPr algn="l">
                        <a:defRPr sz="1100">
                          <a:solidFill>
                            <a:srgbClr val="000000"/>
                          </a:solidFill>
                        </a:defRPr>
                      </a:pPr>
                      <a:r>
                        <a:t>Fold 1</a:t>
                      </a:r>
                    </a:p>
                  </a:txBody>
                  <a:tcPr/>
                </a:tc>
                <a:tc>
                  <a:txBody>
                    <a:bodyPr/>
                    <a:lstStyle/>
                    <a:p>
                      <a:pPr algn="ctr">
                        <a:defRPr sz="1100">
                          <a:solidFill>
                            <a:srgbClr val="000000"/>
                          </a:solidFill>
                        </a:defRPr>
                      </a:pPr>
                      <a:r>
                        <a:t>0.925</a:t>
                      </a:r>
                    </a:p>
                  </a:txBody>
                  <a:tcPr/>
                </a:tc>
                <a:tc>
                  <a:txBody>
                    <a:bodyPr/>
                    <a:lstStyle/>
                    <a:p>
                      <a:pPr algn="ctr">
                        <a:defRPr sz="1100">
                          <a:solidFill>
                            <a:srgbClr val="000000"/>
                          </a:solidFill>
                        </a:defRPr>
                      </a:pPr>
                      <a:r>
                        <a:t>0.726</a:t>
                      </a:r>
                    </a:p>
                  </a:txBody>
                  <a:tcPr/>
                </a:tc>
                <a:tc>
                  <a:txBody>
                    <a:bodyPr/>
                    <a:lstStyle/>
                    <a:p>
                      <a:pPr algn="ctr">
                        <a:defRPr sz="1100">
                          <a:solidFill>
                            <a:srgbClr val="000000"/>
                          </a:solidFill>
                        </a:defRPr>
                      </a:pPr>
                      <a:r>
                        <a:t>0.754</a:t>
                      </a:r>
                    </a:p>
                  </a:txBody>
                  <a:tcPr/>
                </a:tc>
                <a:tc>
                  <a:txBody>
                    <a:bodyPr/>
                    <a:lstStyle/>
                    <a:p>
                      <a:pPr algn="ctr">
                        <a:defRPr sz="1100">
                          <a:solidFill>
                            <a:srgbClr val="000000"/>
                          </a:solidFill>
                        </a:defRPr>
                      </a:pPr>
                      <a:r>
                        <a:t>0.740</a:t>
                      </a:r>
                    </a:p>
                  </a:txBody>
                  <a:tcPr/>
                </a:tc>
                <a:tc>
                  <a:txBody>
                    <a:bodyPr/>
                    <a:lstStyle/>
                    <a:p>
                      <a:pPr algn="ctr">
                        <a:defRPr sz="1100">
                          <a:solidFill>
                            <a:srgbClr val="000000"/>
                          </a:solidFill>
                        </a:defRPr>
                      </a:pPr>
                      <a:r>
                        <a:t>0.696</a:t>
                      </a:r>
                    </a:p>
                  </a:txBody>
                  <a:tcPr/>
                </a:tc>
                <a:extLst>
                  <a:ext uri="{0D108BD9-81ED-4DB2-BD59-A6C34878D82A}">
                    <a16:rowId xmlns:a16="http://schemas.microsoft.com/office/drawing/2014/main" val="10001"/>
                  </a:ext>
                </a:extLst>
              </a:tr>
              <a:tr h="548640">
                <a:tc>
                  <a:txBody>
                    <a:bodyPr/>
                    <a:lstStyle/>
                    <a:p>
                      <a:pPr algn="l">
                        <a:defRPr sz="1100">
                          <a:solidFill>
                            <a:srgbClr val="000000"/>
                          </a:solidFill>
                        </a:defRPr>
                      </a:pPr>
                      <a:r>
                        <a:t>Fold 2</a:t>
                      </a:r>
                    </a:p>
                  </a:txBody>
                  <a:tcPr/>
                </a:tc>
                <a:tc>
                  <a:txBody>
                    <a:bodyPr/>
                    <a:lstStyle/>
                    <a:p>
                      <a:pPr algn="ctr">
                        <a:defRPr sz="1100">
                          <a:solidFill>
                            <a:srgbClr val="000000"/>
                          </a:solidFill>
                        </a:defRPr>
                      </a:pPr>
                      <a:r>
                        <a:t>0.959</a:t>
                      </a:r>
                    </a:p>
                  </a:txBody>
                  <a:tcPr/>
                </a:tc>
                <a:tc>
                  <a:txBody>
                    <a:bodyPr/>
                    <a:lstStyle/>
                    <a:p>
                      <a:pPr algn="ctr">
                        <a:defRPr sz="1100">
                          <a:solidFill>
                            <a:srgbClr val="000000"/>
                          </a:solidFill>
                        </a:defRPr>
                      </a:pPr>
                      <a:r>
                        <a:t>0.807</a:t>
                      </a:r>
                    </a:p>
                  </a:txBody>
                  <a:tcPr/>
                </a:tc>
                <a:tc>
                  <a:txBody>
                    <a:bodyPr/>
                    <a:lstStyle/>
                    <a:p>
                      <a:pPr algn="ctr">
                        <a:defRPr sz="1100">
                          <a:solidFill>
                            <a:srgbClr val="000000"/>
                          </a:solidFill>
                        </a:defRPr>
                      </a:pPr>
                      <a:r>
                        <a:t>0.844</a:t>
                      </a:r>
                    </a:p>
                  </a:txBody>
                  <a:tcPr/>
                </a:tc>
                <a:tc>
                  <a:txBody>
                    <a:bodyPr/>
                    <a:lstStyle/>
                    <a:p>
                      <a:pPr algn="ctr">
                        <a:defRPr sz="1100">
                          <a:solidFill>
                            <a:srgbClr val="000000"/>
                          </a:solidFill>
                        </a:defRPr>
                      </a:pPr>
                      <a:r>
                        <a:t>0.825</a:t>
                      </a:r>
                    </a:p>
                  </a:txBody>
                  <a:tcPr/>
                </a:tc>
                <a:tc>
                  <a:txBody>
                    <a:bodyPr/>
                    <a:lstStyle/>
                    <a:p>
                      <a:pPr algn="ctr">
                        <a:defRPr sz="1100">
                          <a:solidFill>
                            <a:srgbClr val="000000"/>
                          </a:solidFill>
                        </a:defRPr>
                      </a:pPr>
                      <a:r>
                        <a:t>0.802</a:t>
                      </a:r>
                    </a:p>
                  </a:txBody>
                  <a:tcPr/>
                </a:tc>
                <a:extLst>
                  <a:ext uri="{0D108BD9-81ED-4DB2-BD59-A6C34878D82A}">
                    <a16:rowId xmlns:a16="http://schemas.microsoft.com/office/drawing/2014/main" val="10002"/>
                  </a:ext>
                </a:extLst>
              </a:tr>
              <a:tr h="548640">
                <a:tc>
                  <a:txBody>
                    <a:bodyPr/>
                    <a:lstStyle/>
                    <a:p>
                      <a:pPr algn="l">
                        <a:defRPr sz="1100">
                          <a:solidFill>
                            <a:srgbClr val="000000"/>
                          </a:solidFill>
                        </a:defRPr>
                      </a:pPr>
                      <a:r>
                        <a:t>Fold 3</a:t>
                      </a:r>
                    </a:p>
                  </a:txBody>
                  <a:tcPr/>
                </a:tc>
                <a:tc>
                  <a:txBody>
                    <a:bodyPr/>
                    <a:lstStyle/>
                    <a:p>
                      <a:pPr algn="ctr">
                        <a:defRPr sz="1100">
                          <a:solidFill>
                            <a:srgbClr val="000000"/>
                          </a:solidFill>
                        </a:defRPr>
                      </a:pPr>
                      <a:r>
                        <a:t>0.933</a:t>
                      </a:r>
                    </a:p>
                  </a:txBody>
                  <a:tcPr/>
                </a:tc>
                <a:tc>
                  <a:txBody>
                    <a:bodyPr/>
                    <a:lstStyle/>
                    <a:p>
                      <a:pPr algn="ctr">
                        <a:defRPr sz="1100">
                          <a:solidFill>
                            <a:srgbClr val="000000"/>
                          </a:solidFill>
                        </a:defRPr>
                      </a:pPr>
                      <a:r>
                        <a:t>0.833</a:t>
                      </a:r>
                    </a:p>
                  </a:txBody>
                  <a:tcPr/>
                </a:tc>
                <a:tc>
                  <a:txBody>
                    <a:bodyPr/>
                    <a:lstStyle/>
                    <a:p>
                      <a:pPr algn="ctr">
                        <a:defRPr sz="1100">
                          <a:solidFill>
                            <a:srgbClr val="000000"/>
                          </a:solidFill>
                        </a:defRPr>
                      </a:pPr>
                      <a:r>
                        <a:t>0.809</a:t>
                      </a:r>
                    </a:p>
                  </a:txBody>
                  <a:tcPr/>
                </a:tc>
                <a:tc>
                  <a:txBody>
                    <a:bodyPr/>
                    <a:lstStyle/>
                    <a:p>
                      <a:pPr algn="ctr">
                        <a:defRPr sz="1100">
                          <a:solidFill>
                            <a:srgbClr val="000000"/>
                          </a:solidFill>
                        </a:defRPr>
                      </a:pPr>
                      <a:r>
                        <a:t>0.821</a:t>
                      </a:r>
                    </a:p>
                  </a:txBody>
                  <a:tcPr/>
                </a:tc>
                <a:tc>
                  <a:txBody>
                    <a:bodyPr/>
                    <a:lstStyle/>
                    <a:p>
                      <a:pPr algn="ctr">
                        <a:defRPr sz="1100">
                          <a:solidFill>
                            <a:srgbClr val="000000"/>
                          </a:solidFill>
                        </a:defRPr>
                      </a:pPr>
                      <a:r>
                        <a:t>0.780</a:t>
                      </a:r>
                    </a:p>
                  </a:txBody>
                  <a:tcPr/>
                </a:tc>
                <a:extLst>
                  <a:ext uri="{0D108BD9-81ED-4DB2-BD59-A6C34878D82A}">
                    <a16:rowId xmlns:a16="http://schemas.microsoft.com/office/drawing/2014/main" val="10003"/>
                  </a:ext>
                </a:extLst>
              </a:tr>
              <a:tr h="548640">
                <a:tc>
                  <a:txBody>
                    <a:bodyPr/>
                    <a:lstStyle/>
                    <a:p>
                      <a:pPr algn="l">
                        <a:defRPr sz="1100">
                          <a:solidFill>
                            <a:srgbClr val="000000"/>
                          </a:solidFill>
                        </a:defRPr>
                      </a:pPr>
                      <a:r>
                        <a:t>Fold 4</a:t>
                      </a:r>
                    </a:p>
                  </a:txBody>
                  <a:tcPr/>
                </a:tc>
                <a:tc>
                  <a:txBody>
                    <a:bodyPr/>
                    <a:lstStyle/>
                    <a:p>
                      <a:pPr algn="ctr">
                        <a:defRPr sz="1100">
                          <a:solidFill>
                            <a:srgbClr val="000000"/>
                          </a:solidFill>
                        </a:defRPr>
                      </a:pPr>
                      <a:r>
                        <a:t>0.905</a:t>
                      </a:r>
                    </a:p>
                  </a:txBody>
                  <a:tcPr/>
                </a:tc>
                <a:tc>
                  <a:txBody>
                    <a:bodyPr/>
                    <a:lstStyle/>
                    <a:p>
                      <a:pPr algn="ctr">
                        <a:defRPr sz="1100">
                          <a:solidFill>
                            <a:srgbClr val="000000"/>
                          </a:solidFill>
                        </a:defRPr>
                      </a:pPr>
                      <a:r>
                        <a:t>0.816</a:t>
                      </a:r>
                    </a:p>
                  </a:txBody>
                  <a:tcPr/>
                </a:tc>
                <a:tc>
                  <a:txBody>
                    <a:bodyPr/>
                    <a:lstStyle/>
                    <a:p>
                      <a:pPr algn="ctr">
                        <a:defRPr sz="1100">
                          <a:solidFill>
                            <a:srgbClr val="000000"/>
                          </a:solidFill>
                        </a:defRPr>
                      </a:pPr>
                      <a:r>
                        <a:t>0.619</a:t>
                      </a:r>
                    </a:p>
                  </a:txBody>
                  <a:tcPr/>
                </a:tc>
                <a:tc>
                  <a:txBody>
                    <a:bodyPr/>
                    <a:lstStyle/>
                    <a:p>
                      <a:pPr algn="ctr">
                        <a:defRPr sz="1100">
                          <a:solidFill>
                            <a:srgbClr val="000000"/>
                          </a:solidFill>
                        </a:defRPr>
                      </a:pPr>
                      <a:r>
                        <a:t>0.704</a:t>
                      </a:r>
                    </a:p>
                  </a:txBody>
                  <a:tcPr/>
                </a:tc>
                <a:tc>
                  <a:txBody>
                    <a:bodyPr/>
                    <a:lstStyle/>
                    <a:p>
                      <a:pPr algn="ctr">
                        <a:defRPr sz="1100">
                          <a:solidFill>
                            <a:srgbClr val="000000"/>
                          </a:solidFill>
                        </a:defRPr>
                      </a:pPr>
                      <a:r>
                        <a:t>0.649</a:t>
                      </a:r>
                    </a:p>
                  </a:txBody>
                  <a:tcPr/>
                </a:tc>
                <a:extLst>
                  <a:ext uri="{0D108BD9-81ED-4DB2-BD59-A6C34878D82A}">
                    <a16:rowId xmlns:a16="http://schemas.microsoft.com/office/drawing/2014/main" val="10004"/>
                  </a:ext>
                </a:extLst>
              </a:tr>
              <a:tr h="548640">
                <a:tc>
                  <a:txBody>
                    <a:bodyPr/>
                    <a:lstStyle/>
                    <a:p>
                      <a:pPr algn="l">
                        <a:defRPr sz="1100">
                          <a:solidFill>
                            <a:srgbClr val="000000"/>
                          </a:solidFill>
                        </a:defRPr>
                      </a:pPr>
                      <a:r>
                        <a:t>Fold 5</a:t>
                      </a:r>
                    </a:p>
                  </a:txBody>
                  <a:tcPr/>
                </a:tc>
                <a:tc>
                  <a:txBody>
                    <a:bodyPr/>
                    <a:lstStyle/>
                    <a:p>
                      <a:pPr algn="ctr">
                        <a:defRPr sz="1100">
                          <a:solidFill>
                            <a:srgbClr val="000000"/>
                          </a:solidFill>
                        </a:defRPr>
                      </a:pPr>
                      <a:r>
                        <a:t>0.871</a:t>
                      </a:r>
                    </a:p>
                  </a:txBody>
                  <a:tcPr/>
                </a:tc>
                <a:tc>
                  <a:txBody>
                    <a:bodyPr/>
                    <a:lstStyle/>
                    <a:p>
                      <a:pPr algn="ctr">
                        <a:defRPr sz="1100">
                          <a:solidFill>
                            <a:srgbClr val="000000"/>
                          </a:solidFill>
                        </a:defRPr>
                      </a:pPr>
                      <a:r>
                        <a:t>0.642</a:t>
                      </a:r>
                    </a:p>
                  </a:txBody>
                  <a:tcPr/>
                </a:tc>
                <a:tc>
                  <a:txBody>
                    <a:bodyPr/>
                    <a:lstStyle/>
                    <a:p>
                      <a:pPr algn="ctr">
                        <a:defRPr sz="1100">
                          <a:solidFill>
                            <a:srgbClr val="000000"/>
                          </a:solidFill>
                        </a:defRPr>
                      </a:pPr>
                      <a:r>
                        <a:t>0.573</a:t>
                      </a:r>
                    </a:p>
                  </a:txBody>
                  <a:tcPr/>
                </a:tc>
                <a:tc>
                  <a:txBody>
                    <a:bodyPr/>
                    <a:lstStyle/>
                    <a:p>
                      <a:pPr algn="ctr">
                        <a:defRPr sz="1100">
                          <a:solidFill>
                            <a:srgbClr val="000000"/>
                          </a:solidFill>
                        </a:defRPr>
                      </a:pPr>
                      <a:r>
                        <a:t>0.606</a:t>
                      </a:r>
                    </a:p>
                  </a:txBody>
                  <a:tcPr/>
                </a:tc>
                <a:tc>
                  <a:txBody>
                    <a:bodyPr/>
                    <a:lstStyle/>
                    <a:p>
                      <a:pPr algn="ctr">
                        <a:defRPr sz="1100">
                          <a:solidFill>
                            <a:srgbClr val="000000"/>
                          </a:solidFill>
                        </a:defRPr>
                      </a:pPr>
                      <a:r>
                        <a:t>0.529</a:t>
                      </a:r>
                    </a:p>
                  </a:txBody>
                  <a:tcPr/>
                </a:tc>
                <a:extLst>
                  <a:ext uri="{0D108BD9-81ED-4DB2-BD59-A6C34878D82A}">
                    <a16:rowId xmlns:a16="http://schemas.microsoft.com/office/drawing/2014/main" val="10005"/>
                  </a:ext>
                </a:extLst>
              </a:tr>
              <a:tr h="548640">
                <a:tc>
                  <a:txBody>
                    <a:bodyPr/>
                    <a:lstStyle/>
                    <a:p>
                      <a:pPr algn="l">
                        <a:defRPr sz="1100">
                          <a:solidFill>
                            <a:srgbClr val="000000"/>
                          </a:solidFill>
                        </a:defRPr>
                      </a:pPr>
                      <a:r>
                        <a:t>Mean ± Std</a:t>
                      </a:r>
                    </a:p>
                  </a:txBody>
                  <a:tcPr/>
                </a:tc>
                <a:tc>
                  <a:txBody>
                    <a:bodyPr/>
                    <a:lstStyle/>
                    <a:p>
                      <a:pPr algn="ctr">
                        <a:defRPr sz="1100">
                          <a:solidFill>
                            <a:srgbClr val="000000"/>
                          </a:solidFill>
                        </a:defRPr>
                      </a:pPr>
                      <a:r>
                        <a:rPr dirty="0"/>
                        <a:t>0.919 ± 0.033</a:t>
                      </a:r>
                    </a:p>
                  </a:txBody>
                  <a:tcPr/>
                </a:tc>
                <a:tc>
                  <a:txBody>
                    <a:bodyPr/>
                    <a:lstStyle/>
                    <a:p>
                      <a:pPr algn="ctr">
                        <a:defRPr sz="1100">
                          <a:solidFill>
                            <a:srgbClr val="000000"/>
                          </a:solidFill>
                        </a:defRPr>
                      </a:pPr>
                      <a:r>
                        <a:rPr dirty="0"/>
                        <a:t>0.765 ± 0.080</a:t>
                      </a:r>
                    </a:p>
                  </a:txBody>
                  <a:tcPr/>
                </a:tc>
                <a:tc>
                  <a:txBody>
                    <a:bodyPr/>
                    <a:lstStyle/>
                    <a:p>
                      <a:pPr algn="ctr">
                        <a:defRPr sz="1100">
                          <a:solidFill>
                            <a:srgbClr val="000000"/>
                          </a:solidFill>
                        </a:defRPr>
                      </a:pPr>
                      <a:r>
                        <a:rPr dirty="0"/>
                        <a:t>0.720 ± 0.118</a:t>
                      </a:r>
                    </a:p>
                  </a:txBody>
                  <a:tcPr/>
                </a:tc>
                <a:tc>
                  <a:txBody>
                    <a:bodyPr/>
                    <a:lstStyle/>
                    <a:p>
                      <a:pPr algn="ctr">
                        <a:defRPr sz="1100">
                          <a:solidFill>
                            <a:srgbClr val="000000"/>
                          </a:solidFill>
                        </a:defRPr>
                      </a:pPr>
                      <a:r>
                        <a:rPr dirty="0"/>
                        <a:t>0.739 ± 0.091</a:t>
                      </a:r>
                    </a:p>
                  </a:txBody>
                  <a:tcPr/>
                </a:tc>
                <a:tc>
                  <a:txBody>
                    <a:bodyPr/>
                    <a:lstStyle/>
                    <a:p>
                      <a:pPr algn="ctr">
                        <a:defRPr sz="1100">
                          <a:solidFill>
                            <a:srgbClr val="000000"/>
                          </a:solidFill>
                        </a:defRPr>
                      </a:pPr>
                      <a:r>
                        <a:rPr dirty="0"/>
                        <a:t>0.691 ± 0.110</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82880"/>
            <a:ext cx="8229600" cy="548640"/>
          </a:xfrm>
          <a:prstGeom prst="rect">
            <a:avLst/>
          </a:prstGeom>
          <a:noFill/>
        </p:spPr>
        <p:txBody>
          <a:bodyPr wrap="none">
            <a:spAutoFit/>
          </a:bodyPr>
          <a:lstStyle/>
          <a:p>
            <a:pPr algn="l">
              <a:defRPr sz="2000" b="1"/>
            </a:pPr>
            <a:r>
              <a:rPr dirty="0"/>
              <a:t>DenseNet-201  |  Paper setup + Pre-split </a:t>
            </a:r>
            <a:r>
              <a:rPr dirty="0" err="1"/>
              <a:t>Preproc</a:t>
            </a:r>
            <a:r>
              <a:rPr dirty="0"/>
              <a:t>(Guha et al.)</a:t>
            </a:r>
          </a:p>
        </p:txBody>
      </p:sp>
      <p:graphicFrame>
        <p:nvGraphicFramePr>
          <p:cNvPr id="3" name="Table 2"/>
          <p:cNvGraphicFramePr>
            <a:graphicFrameLocks noGrp="1"/>
          </p:cNvGraphicFramePr>
          <p:nvPr/>
        </p:nvGraphicFramePr>
        <p:xfrm>
          <a:off x="365760" y="1005840"/>
          <a:ext cx="8229600" cy="38404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48640">
                <a:tc>
                  <a:txBody>
                    <a:bodyPr/>
                    <a:lstStyle/>
                    <a:p>
                      <a:pPr algn="ctr">
                        <a:defRPr sz="1200" b="1">
                          <a:solidFill>
                            <a:srgbClr val="000000"/>
                          </a:solidFill>
                        </a:defRPr>
                      </a:pPr>
                      <a:r>
                        <a:t>Fold</a:t>
                      </a:r>
                    </a:p>
                  </a:txBody>
                  <a:tcPr/>
                </a:tc>
                <a:tc>
                  <a:txBody>
                    <a:bodyPr/>
                    <a:lstStyle/>
                    <a:p>
                      <a:pPr algn="ctr">
                        <a:defRPr sz="1200" b="1">
                          <a:solidFill>
                            <a:srgbClr val="000000"/>
                          </a:solidFill>
                        </a:defRPr>
                      </a:pPr>
                      <a:r>
                        <a:t>Accuracy</a:t>
                      </a:r>
                    </a:p>
                  </a:txBody>
                  <a:tcPr/>
                </a:tc>
                <a:tc>
                  <a:txBody>
                    <a:bodyPr/>
                    <a:lstStyle/>
                    <a:p>
                      <a:pPr algn="ctr">
                        <a:defRPr sz="1200" b="1">
                          <a:solidFill>
                            <a:srgbClr val="000000"/>
                          </a:solidFill>
                        </a:defRPr>
                      </a:pPr>
                      <a:r>
                        <a:t>Precision</a:t>
                      </a:r>
                    </a:p>
                  </a:txBody>
                  <a:tcPr/>
                </a:tc>
                <a:tc>
                  <a:txBody>
                    <a:bodyPr/>
                    <a:lstStyle/>
                    <a:p>
                      <a:pPr algn="ctr">
                        <a:defRPr sz="1200" b="1">
                          <a:solidFill>
                            <a:srgbClr val="000000"/>
                          </a:solidFill>
                        </a:defRPr>
                      </a:pPr>
                      <a:r>
                        <a:t>Recall</a:t>
                      </a:r>
                    </a:p>
                  </a:txBody>
                  <a:tcPr/>
                </a:tc>
                <a:tc>
                  <a:txBody>
                    <a:bodyPr/>
                    <a:lstStyle/>
                    <a:p>
                      <a:pPr algn="ctr">
                        <a:defRPr sz="1200" b="1">
                          <a:solidFill>
                            <a:srgbClr val="000000"/>
                          </a:solidFill>
                        </a:defRPr>
                      </a:pPr>
                      <a:r>
                        <a:t>F1</a:t>
                      </a:r>
                    </a:p>
                  </a:txBody>
                  <a:tcPr/>
                </a:tc>
                <a:tc>
                  <a:txBody>
                    <a:bodyPr/>
                    <a:lstStyle/>
                    <a:p>
                      <a:pPr algn="ctr">
                        <a:defRPr sz="1200" b="1">
                          <a:solidFill>
                            <a:srgbClr val="000000"/>
                          </a:solidFill>
                        </a:defRPr>
                      </a:pPr>
                      <a:r>
                        <a:t>Cohen's κ</a:t>
                      </a:r>
                    </a:p>
                  </a:txBody>
                  <a:tcPr/>
                </a:tc>
                <a:extLst>
                  <a:ext uri="{0D108BD9-81ED-4DB2-BD59-A6C34878D82A}">
                    <a16:rowId xmlns:a16="http://schemas.microsoft.com/office/drawing/2014/main" val="10000"/>
                  </a:ext>
                </a:extLst>
              </a:tr>
              <a:tr h="548640">
                <a:tc>
                  <a:txBody>
                    <a:bodyPr/>
                    <a:lstStyle/>
                    <a:p>
                      <a:pPr algn="l">
                        <a:defRPr sz="1100">
                          <a:solidFill>
                            <a:srgbClr val="000000"/>
                          </a:solidFill>
                        </a:defRPr>
                      </a:pPr>
                      <a:r>
                        <a:t>Fold 1</a:t>
                      </a:r>
                    </a:p>
                  </a:txBody>
                  <a:tcPr/>
                </a:tc>
                <a:tc>
                  <a:txBody>
                    <a:bodyPr/>
                    <a:lstStyle/>
                    <a:p>
                      <a:pPr algn="ctr">
                        <a:defRPr sz="1100">
                          <a:solidFill>
                            <a:srgbClr val="000000"/>
                          </a:solidFill>
                        </a:defRPr>
                      </a:pPr>
                      <a:r>
                        <a:t>0.997</a:t>
                      </a:r>
                    </a:p>
                  </a:txBody>
                  <a:tcPr/>
                </a:tc>
                <a:tc>
                  <a:txBody>
                    <a:bodyPr/>
                    <a:lstStyle/>
                    <a:p>
                      <a:pPr algn="ctr">
                        <a:defRPr sz="1100">
                          <a:solidFill>
                            <a:srgbClr val="000000"/>
                          </a:solidFill>
                        </a:defRPr>
                      </a:pPr>
                      <a:r>
                        <a:t>0.997</a:t>
                      </a:r>
                    </a:p>
                  </a:txBody>
                  <a:tcPr/>
                </a:tc>
                <a:tc>
                  <a:txBody>
                    <a:bodyPr/>
                    <a:lstStyle/>
                    <a:p>
                      <a:pPr algn="ctr">
                        <a:defRPr sz="1100">
                          <a:solidFill>
                            <a:srgbClr val="000000"/>
                          </a:solidFill>
                        </a:defRPr>
                      </a:pPr>
                      <a:r>
                        <a:t>0.998</a:t>
                      </a:r>
                    </a:p>
                  </a:txBody>
                  <a:tcPr/>
                </a:tc>
                <a:tc>
                  <a:txBody>
                    <a:bodyPr/>
                    <a:lstStyle/>
                    <a:p>
                      <a:pPr algn="ctr">
                        <a:defRPr sz="1100">
                          <a:solidFill>
                            <a:srgbClr val="000000"/>
                          </a:solidFill>
                        </a:defRPr>
                      </a:pPr>
                      <a:r>
                        <a:t>0.997</a:t>
                      </a:r>
                    </a:p>
                  </a:txBody>
                  <a:tcPr/>
                </a:tc>
                <a:tc>
                  <a:txBody>
                    <a:bodyPr/>
                    <a:lstStyle/>
                    <a:p>
                      <a:pPr algn="ctr">
                        <a:defRPr sz="1100">
                          <a:solidFill>
                            <a:srgbClr val="000000"/>
                          </a:solidFill>
                        </a:defRPr>
                      </a:pPr>
                      <a:r>
                        <a:t>0.995</a:t>
                      </a:r>
                    </a:p>
                  </a:txBody>
                  <a:tcPr/>
                </a:tc>
                <a:extLst>
                  <a:ext uri="{0D108BD9-81ED-4DB2-BD59-A6C34878D82A}">
                    <a16:rowId xmlns:a16="http://schemas.microsoft.com/office/drawing/2014/main" val="10001"/>
                  </a:ext>
                </a:extLst>
              </a:tr>
              <a:tr h="548640">
                <a:tc>
                  <a:txBody>
                    <a:bodyPr/>
                    <a:lstStyle/>
                    <a:p>
                      <a:pPr algn="l">
                        <a:defRPr sz="1100">
                          <a:solidFill>
                            <a:srgbClr val="000000"/>
                          </a:solidFill>
                        </a:defRPr>
                      </a:pPr>
                      <a:r>
                        <a:t>Fold 2</a:t>
                      </a:r>
                    </a:p>
                  </a:txBody>
                  <a:tcPr/>
                </a:tc>
                <a:tc>
                  <a:txBody>
                    <a:bodyPr/>
                    <a:lstStyle/>
                    <a:p>
                      <a:pPr algn="ctr">
                        <a:defRPr sz="1100">
                          <a:solidFill>
                            <a:srgbClr val="000000"/>
                          </a:solidFill>
                        </a:defRPr>
                      </a:pPr>
                      <a:r>
                        <a:t>0.999</a:t>
                      </a:r>
                    </a:p>
                  </a:txBody>
                  <a:tcPr/>
                </a:tc>
                <a:tc>
                  <a:txBody>
                    <a:bodyPr/>
                    <a:lstStyle/>
                    <a:p>
                      <a:pPr algn="ctr">
                        <a:defRPr sz="1100">
                          <a:solidFill>
                            <a:srgbClr val="000000"/>
                          </a:solidFill>
                        </a:defRPr>
                      </a:pPr>
                      <a:r>
                        <a:t>0.997</a:t>
                      </a:r>
                    </a:p>
                  </a:txBody>
                  <a:tcPr/>
                </a:tc>
                <a:tc>
                  <a:txBody>
                    <a:bodyPr/>
                    <a:lstStyle/>
                    <a:p>
                      <a:pPr algn="ctr">
                        <a:defRPr sz="1100">
                          <a:solidFill>
                            <a:srgbClr val="000000"/>
                          </a:solidFill>
                        </a:defRPr>
                      </a:pPr>
                      <a:r>
                        <a:t>1.000</a:t>
                      </a:r>
                    </a:p>
                  </a:txBody>
                  <a:tcPr/>
                </a:tc>
                <a:tc>
                  <a:txBody>
                    <a:bodyPr/>
                    <a:lstStyle/>
                    <a:p>
                      <a:pPr algn="ctr">
                        <a:defRPr sz="1100">
                          <a:solidFill>
                            <a:srgbClr val="000000"/>
                          </a:solidFill>
                        </a:defRPr>
                      </a:pPr>
                      <a:r>
                        <a:t>0.999</a:t>
                      </a:r>
                    </a:p>
                  </a:txBody>
                  <a:tcPr/>
                </a:tc>
                <a:tc>
                  <a:txBody>
                    <a:bodyPr/>
                    <a:lstStyle/>
                    <a:p>
                      <a:pPr algn="ctr">
                        <a:defRPr sz="1100">
                          <a:solidFill>
                            <a:srgbClr val="000000"/>
                          </a:solidFill>
                        </a:defRPr>
                      </a:pPr>
                      <a:r>
                        <a:t>0.998</a:t>
                      </a:r>
                    </a:p>
                  </a:txBody>
                  <a:tcPr/>
                </a:tc>
                <a:extLst>
                  <a:ext uri="{0D108BD9-81ED-4DB2-BD59-A6C34878D82A}">
                    <a16:rowId xmlns:a16="http://schemas.microsoft.com/office/drawing/2014/main" val="10002"/>
                  </a:ext>
                </a:extLst>
              </a:tr>
              <a:tr h="548640">
                <a:tc>
                  <a:txBody>
                    <a:bodyPr/>
                    <a:lstStyle/>
                    <a:p>
                      <a:pPr algn="l">
                        <a:defRPr sz="1100">
                          <a:solidFill>
                            <a:srgbClr val="000000"/>
                          </a:solidFill>
                        </a:defRPr>
                      </a:pPr>
                      <a:r>
                        <a:t>Fold 3</a:t>
                      </a:r>
                    </a:p>
                  </a:txBody>
                  <a:tcPr/>
                </a:tc>
                <a:tc>
                  <a:txBody>
                    <a:bodyPr/>
                    <a:lstStyle/>
                    <a:p>
                      <a:pPr algn="ctr">
                        <a:defRPr sz="1100">
                          <a:solidFill>
                            <a:srgbClr val="000000"/>
                          </a:solidFill>
                        </a:defRPr>
                      </a:pPr>
                      <a:r>
                        <a:t>0.931</a:t>
                      </a:r>
                    </a:p>
                  </a:txBody>
                  <a:tcPr/>
                </a:tc>
                <a:tc>
                  <a:txBody>
                    <a:bodyPr/>
                    <a:lstStyle/>
                    <a:p>
                      <a:pPr algn="ctr">
                        <a:defRPr sz="1100">
                          <a:solidFill>
                            <a:srgbClr val="000000"/>
                          </a:solidFill>
                        </a:defRPr>
                      </a:pPr>
                      <a:r>
                        <a:t>0.884</a:t>
                      </a:r>
                    </a:p>
                  </a:txBody>
                  <a:tcPr/>
                </a:tc>
                <a:tc>
                  <a:txBody>
                    <a:bodyPr/>
                    <a:lstStyle/>
                    <a:p>
                      <a:pPr algn="ctr">
                        <a:defRPr sz="1100">
                          <a:solidFill>
                            <a:srgbClr val="000000"/>
                          </a:solidFill>
                        </a:defRPr>
                      </a:pPr>
                      <a:r>
                        <a:t>1.000</a:t>
                      </a:r>
                    </a:p>
                  </a:txBody>
                  <a:tcPr/>
                </a:tc>
                <a:tc>
                  <a:txBody>
                    <a:bodyPr/>
                    <a:lstStyle/>
                    <a:p>
                      <a:pPr algn="ctr">
                        <a:defRPr sz="1100">
                          <a:solidFill>
                            <a:srgbClr val="000000"/>
                          </a:solidFill>
                        </a:defRPr>
                      </a:pPr>
                      <a:r>
                        <a:t>0.939</a:t>
                      </a:r>
                    </a:p>
                  </a:txBody>
                  <a:tcPr/>
                </a:tc>
                <a:tc>
                  <a:txBody>
                    <a:bodyPr/>
                    <a:lstStyle/>
                    <a:p>
                      <a:pPr algn="ctr">
                        <a:defRPr sz="1100">
                          <a:solidFill>
                            <a:srgbClr val="000000"/>
                          </a:solidFill>
                        </a:defRPr>
                      </a:pPr>
                      <a:r>
                        <a:t>0.861</a:t>
                      </a:r>
                    </a:p>
                  </a:txBody>
                  <a:tcPr/>
                </a:tc>
                <a:extLst>
                  <a:ext uri="{0D108BD9-81ED-4DB2-BD59-A6C34878D82A}">
                    <a16:rowId xmlns:a16="http://schemas.microsoft.com/office/drawing/2014/main" val="10003"/>
                  </a:ext>
                </a:extLst>
              </a:tr>
              <a:tr h="548640">
                <a:tc>
                  <a:txBody>
                    <a:bodyPr/>
                    <a:lstStyle/>
                    <a:p>
                      <a:pPr algn="l">
                        <a:defRPr sz="1100">
                          <a:solidFill>
                            <a:srgbClr val="000000"/>
                          </a:solidFill>
                        </a:defRPr>
                      </a:pPr>
                      <a:r>
                        <a:t>Fold 4</a:t>
                      </a:r>
                    </a:p>
                  </a:txBody>
                  <a:tcPr/>
                </a:tc>
                <a:tc>
                  <a:txBody>
                    <a:bodyPr/>
                    <a:lstStyle/>
                    <a:p>
                      <a:pPr algn="ctr">
                        <a:defRPr sz="1100">
                          <a:solidFill>
                            <a:srgbClr val="000000"/>
                          </a:solidFill>
                        </a:defRPr>
                      </a:pPr>
                      <a:r>
                        <a:t>0.991</a:t>
                      </a:r>
                    </a:p>
                  </a:txBody>
                  <a:tcPr/>
                </a:tc>
                <a:tc>
                  <a:txBody>
                    <a:bodyPr/>
                    <a:lstStyle/>
                    <a:p>
                      <a:pPr algn="ctr">
                        <a:defRPr sz="1100">
                          <a:solidFill>
                            <a:srgbClr val="000000"/>
                          </a:solidFill>
                        </a:defRPr>
                      </a:pPr>
                      <a:r>
                        <a:t>0.993</a:t>
                      </a:r>
                    </a:p>
                  </a:txBody>
                  <a:tcPr/>
                </a:tc>
                <a:tc>
                  <a:txBody>
                    <a:bodyPr/>
                    <a:lstStyle/>
                    <a:p>
                      <a:pPr algn="ctr">
                        <a:defRPr sz="1100">
                          <a:solidFill>
                            <a:srgbClr val="000000"/>
                          </a:solidFill>
                        </a:defRPr>
                      </a:pPr>
                      <a:r>
                        <a:t>0.990</a:t>
                      </a:r>
                    </a:p>
                  </a:txBody>
                  <a:tcPr/>
                </a:tc>
                <a:tc>
                  <a:txBody>
                    <a:bodyPr/>
                    <a:lstStyle/>
                    <a:p>
                      <a:pPr algn="ctr">
                        <a:defRPr sz="1100">
                          <a:solidFill>
                            <a:srgbClr val="000000"/>
                          </a:solidFill>
                        </a:defRPr>
                      </a:pPr>
                      <a:r>
                        <a:t>0.992</a:t>
                      </a:r>
                    </a:p>
                  </a:txBody>
                  <a:tcPr/>
                </a:tc>
                <a:tc>
                  <a:txBody>
                    <a:bodyPr/>
                    <a:lstStyle/>
                    <a:p>
                      <a:pPr algn="ctr">
                        <a:defRPr sz="1100">
                          <a:solidFill>
                            <a:srgbClr val="000000"/>
                          </a:solidFill>
                        </a:defRPr>
                      </a:pPr>
                      <a:r>
                        <a:t>0.983</a:t>
                      </a:r>
                    </a:p>
                  </a:txBody>
                  <a:tcPr/>
                </a:tc>
                <a:extLst>
                  <a:ext uri="{0D108BD9-81ED-4DB2-BD59-A6C34878D82A}">
                    <a16:rowId xmlns:a16="http://schemas.microsoft.com/office/drawing/2014/main" val="10004"/>
                  </a:ext>
                </a:extLst>
              </a:tr>
              <a:tr h="548640">
                <a:tc>
                  <a:txBody>
                    <a:bodyPr/>
                    <a:lstStyle/>
                    <a:p>
                      <a:pPr algn="l">
                        <a:defRPr sz="1100">
                          <a:solidFill>
                            <a:srgbClr val="000000"/>
                          </a:solidFill>
                        </a:defRPr>
                      </a:pPr>
                      <a:r>
                        <a:t>Fold 5</a:t>
                      </a:r>
                    </a:p>
                  </a:txBody>
                  <a:tcPr/>
                </a:tc>
                <a:tc>
                  <a:txBody>
                    <a:bodyPr/>
                    <a:lstStyle/>
                    <a:p>
                      <a:pPr algn="ctr">
                        <a:defRPr sz="1100">
                          <a:solidFill>
                            <a:srgbClr val="000000"/>
                          </a:solidFill>
                        </a:defRPr>
                      </a:pPr>
                      <a:r>
                        <a:t>0.867</a:t>
                      </a:r>
                    </a:p>
                  </a:txBody>
                  <a:tcPr/>
                </a:tc>
                <a:tc>
                  <a:txBody>
                    <a:bodyPr/>
                    <a:lstStyle/>
                    <a:p>
                      <a:pPr algn="ctr">
                        <a:defRPr sz="1100">
                          <a:solidFill>
                            <a:srgbClr val="000000"/>
                          </a:solidFill>
                        </a:defRPr>
                      </a:pPr>
                      <a:r>
                        <a:t>1.000</a:t>
                      </a:r>
                    </a:p>
                  </a:txBody>
                  <a:tcPr/>
                </a:tc>
                <a:tc>
                  <a:txBody>
                    <a:bodyPr/>
                    <a:lstStyle/>
                    <a:p>
                      <a:pPr algn="ctr">
                        <a:defRPr sz="1100">
                          <a:solidFill>
                            <a:srgbClr val="000000"/>
                          </a:solidFill>
                        </a:defRPr>
                      </a:pPr>
                      <a:r>
                        <a:t>0.746</a:t>
                      </a:r>
                    </a:p>
                  </a:txBody>
                  <a:tcPr/>
                </a:tc>
                <a:tc>
                  <a:txBody>
                    <a:bodyPr/>
                    <a:lstStyle/>
                    <a:p>
                      <a:pPr algn="ctr">
                        <a:defRPr sz="1100">
                          <a:solidFill>
                            <a:srgbClr val="000000"/>
                          </a:solidFill>
                        </a:defRPr>
                      </a:pPr>
                      <a:r>
                        <a:t>0.855</a:t>
                      </a:r>
                    </a:p>
                  </a:txBody>
                  <a:tcPr/>
                </a:tc>
                <a:tc>
                  <a:txBody>
                    <a:bodyPr/>
                    <a:lstStyle/>
                    <a:p>
                      <a:pPr algn="ctr">
                        <a:defRPr sz="1100">
                          <a:solidFill>
                            <a:srgbClr val="000000"/>
                          </a:solidFill>
                        </a:defRPr>
                      </a:pPr>
                      <a:r>
                        <a:t>0.736</a:t>
                      </a:r>
                    </a:p>
                  </a:txBody>
                  <a:tcPr/>
                </a:tc>
                <a:extLst>
                  <a:ext uri="{0D108BD9-81ED-4DB2-BD59-A6C34878D82A}">
                    <a16:rowId xmlns:a16="http://schemas.microsoft.com/office/drawing/2014/main" val="10005"/>
                  </a:ext>
                </a:extLst>
              </a:tr>
              <a:tr h="548640">
                <a:tc>
                  <a:txBody>
                    <a:bodyPr/>
                    <a:lstStyle/>
                    <a:p>
                      <a:pPr algn="l">
                        <a:defRPr sz="1100">
                          <a:solidFill>
                            <a:srgbClr val="000000"/>
                          </a:solidFill>
                        </a:defRPr>
                      </a:pPr>
                      <a:r>
                        <a:t>Mean ± Std</a:t>
                      </a:r>
                    </a:p>
                  </a:txBody>
                  <a:tcPr/>
                </a:tc>
                <a:tc>
                  <a:txBody>
                    <a:bodyPr/>
                    <a:lstStyle/>
                    <a:p>
                      <a:pPr algn="ctr">
                        <a:defRPr sz="1100">
                          <a:solidFill>
                            <a:srgbClr val="000000"/>
                          </a:solidFill>
                        </a:defRPr>
                      </a:pPr>
                      <a:r>
                        <a:rPr dirty="0"/>
                        <a:t>0.957 ± 0.058</a:t>
                      </a:r>
                    </a:p>
                  </a:txBody>
                  <a:tcPr/>
                </a:tc>
                <a:tc>
                  <a:txBody>
                    <a:bodyPr/>
                    <a:lstStyle/>
                    <a:p>
                      <a:pPr algn="ctr">
                        <a:defRPr sz="1100">
                          <a:solidFill>
                            <a:srgbClr val="000000"/>
                          </a:solidFill>
                        </a:defRPr>
                      </a:pPr>
                      <a:r>
                        <a:rPr dirty="0"/>
                        <a:t>0.974 ± 0.050</a:t>
                      </a:r>
                    </a:p>
                  </a:txBody>
                  <a:tcPr/>
                </a:tc>
                <a:tc>
                  <a:txBody>
                    <a:bodyPr/>
                    <a:lstStyle/>
                    <a:p>
                      <a:pPr algn="ctr">
                        <a:defRPr sz="1100">
                          <a:solidFill>
                            <a:srgbClr val="000000"/>
                          </a:solidFill>
                        </a:defRPr>
                      </a:pPr>
                      <a:r>
                        <a:rPr dirty="0"/>
                        <a:t>0.947 ± 0.112</a:t>
                      </a:r>
                    </a:p>
                  </a:txBody>
                  <a:tcPr/>
                </a:tc>
                <a:tc>
                  <a:txBody>
                    <a:bodyPr/>
                    <a:lstStyle/>
                    <a:p>
                      <a:pPr algn="ctr">
                        <a:defRPr sz="1100">
                          <a:solidFill>
                            <a:srgbClr val="000000"/>
                          </a:solidFill>
                        </a:defRPr>
                      </a:pPr>
                      <a:r>
                        <a:rPr dirty="0"/>
                        <a:t>0.956 ± 0.062</a:t>
                      </a:r>
                    </a:p>
                  </a:txBody>
                  <a:tcPr/>
                </a:tc>
                <a:tc>
                  <a:txBody>
                    <a:bodyPr/>
                    <a:lstStyle/>
                    <a:p>
                      <a:pPr algn="ctr">
                        <a:defRPr sz="1100">
                          <a:solidFill>
                            <a:srgbClr val="000000"/>
                          </a:solidFill>
                        </a:defRPr>
                      </a:pPr>
                      <a:r>
                        <a:rPr dirty="0"/>
                        <a:t>0.915 ± 0.115</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82880"/>
            <a:ext cx="8229600" cy="548640"/>
          </a:xfrm>
          <a:prstGeom prst="rect">
            <a:avLst/>
          </a:prstGeom>
          <a:noFill/>
        </p:spPr>
        <p:txBody>
          <a:bodyPr wrap="none">
            <a:spAutoFit/>
          </a:bodyPr>
          <a:lstStyle/>
          <a:p>
            <a:pPr algn="l">
              <a:defRPr sz="2000" b="1"/>
            </a:pPr>
            <a:r>
              <a:t>DenseNet-201  |  Correct setup + Pre-split Preproc</a:t>
            </a:r>
          </a:p>
        </p:txBody>
      </p:sp>
      <p:graphicFrame>
        <p:nvGraphicFramePr>
          <p:cNvPr id="3" name="Table 2"/>
          <p:cNvGraphicFramePr>
            <a:graphicFrameLocks noGrp="1"/>
          </p:cNvGraphicFramePr>
          <p:nvPr/>
        </p:nvGraphicFramePr>
        <p:xfrm>
          <a:off x="365760" y="1005840"/>
          <a:ext cx="8229600" cy="38404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48640">
                <a:tc>
                  <a:txBody>
                    <a:bodyPr/>
                    <a:lstStyle/>
                    <a:p>
                      <a:pPr algn="ctr">
                        <a:defRPr sz="1200" b="1">
                          <a:solidFill>
                            <a:srgbClr val="000000"/>
                          </a:solidFill>
                        </a:defRPr>
                      </a:pPr>
                      <a:r>
                        <a:t>Fold</a:t>
                      </a:r>
                    </a:p>
                  </a:txBody>
                  <a:tcPr/>
                </a:tc>
                <a:tc>
                  <a:txBody>
                    <a:bodyPr/>
                    <a:lstStyle/>
                    <a:p>
                      <a:pPr algn="ctr">
                        <a:defRPr sz="1200" b="1">
                          <a:solidFill>
                            <a:srgbClr val="000000"/>
                          </a:solidFill>
                        </a:defRPr>
                      </a:pPr>
                      <a:r>
                        <a:t>Accuracy</a:t>
                      </a:r>
                    </a:p>
                  </a:txBody>
                  <a:tcPr/>
                </a:tc>
                <a:tc>
                  <a:txBody>
                    <a:bodyPr/>
                    <a:lstStyle/>
                    <a:p>
                      <a:pPr algn="ctr">
                        <a:defRPr sz="1200" b="1">
                          <a:solidFill>
                            <a:srgbClr val="000000"/>
                          </a:solidFill>
                        </a:defRPr>
                      </a:pPr>
                      <a:r>
                        <a:t>Precision</a:t>
                      </a:r>
                    </a:p>
                  </a:txBody>
                  <a:tcPr/>
                </a:tc>
                <a:tc>
                  <a:txBody>
                    <a:bodyPr/>
                    <a:lstStyle/>
                    <a:p>
                      <a:pPr algn="ctr">
                        <a:defRPr sz="1200" b="1">
                          <a:solidFill>
                            <a:srgbClr val="000000"/>
                          </a:solidFill>
                        </a:defRPr>
                      </a:pPr>
                      <a:r>
                        <a:t>Recall</a:t>
                      </a:r>
                    </a:p>
                  </a:txBody>
                  <a:tcPr/>
                </a:tc>
                <a:tc>
                  <a:txBody>
                    <a:bodyPr/>
                    <a:lstStyle/>
                    <a:p>
                      <a:pPr algn="ctr">
                        <a:defRPr sz="1200" b="1">
                          <a:solidFill>
                            <a:srgbClr val="000000"/>
                          </a:solidFill>
                        </a:defRPr>
                      </a:pPr>
                      <a:r>
                        <a:t>F1</a:t>
                      </a:r>
                    </a:p>
                  </a:txBody>
                  <a:tcPr/>
                </a:tc>
                <a:tc>
                  <a:txBody>
                    <a:bodyPr/>
                    <a:lstStyle/>
                    <a:p>
                      <a:pPr algn="ctr">
                        <a:defRPr sz="1200" b="1">
                          <a:solidFill>
                            <a:srgbClr val="000000"/>
                          </a:solidFill>
                        </a:defRPr>
                      </a:pPr>
                      <a:r>
                        <a:t>Cohen's κ</a:t>
                      </a:r>
                    </a:p>
                  </a:txBody>
                  <a:tcPr/>
                </a:tc>
                <a:extLst>
                  <a:ext uri="{0D108BD9-81ED-4DB2-BD59-A6C34878D82A}">
                    <a16:rowId xmlns:a16="http://schemas.microsoft.com/office/drawing/2014/main" val="10000"/>
                  </a:ext>
                </a:extLst>
              </a:tr>
              <a:tr h="548640">
                <a:tc>
                  <a:txBody>
                    <a:bodyPr/>
                    <a:lstStyle/>
                    <a:p>
                      <a:pPr algn="l">
                        <a:defRPr sz="1100">
                          <a:solidFill>
                            <a:srgbClr val="000000"/>
                          </a:solidFill>
                        </a:defRPr>
                      </a:pPr>
                      <a:r>
                        <a:t>Fold 1</a:t>
                      </a:r>
                    </a:p>
                  </a:txBody>
                  <a:tcPr/>
                </a:tc>
                <a:tc>
                  <a:txBody>
                    <a:bodyPr/>
                    <a:lstStyle/>
                    <a:p>
                      <a:pPr algn="ctr">
                        <a:defRPr sz="1100">
                          <a:solidFill>
                            <a:srgbClr val="000000"/>
                          </a:solidFill>
                        </a:defRPr>
                      </a:pPr>
                      <a:r>
                        <a:t>0.938</a:t>
                      </a:r>
                    </a:p>
                  </a:txBody>
                  <a:tcPr/>
                </a:tc>
                <a:tc>
                  <a:txBody>
                    <a:bodyPr/>
                    <a:lstStyle/>
                    <a:p>
                      <a:pPr algn="ctr">
                        <a:defRPr sz="1100">
                          <a:solidFill>
                            <a:srgbClr val="000000"/>
                          </a:solidFill>
                        </a:defRPr>
                      </a:pPr>
                      <a:r>
                        <a:t>0.911</a:t>
                      </a:r>
                    </a:p>
                  </a:txBody>
                  <a:tcPr/>
                </a:tc>
                <a:tc>
                  <a:txBody>
                    <a:bodyPr/>
                    <a:lstStyle/>
                    <a:p>
                      <a:pPr algn="ctr">
                        <a:defRPr sz="1100">
                          <a:solidFill>
                            <a:srgbClr val="000000"/>
                          </a:solidFill>
                        </a:defRPr>
                      </a:pPr>
                      <a:r>
                        <a:t>0.961</a:t>
                      </a:r>
                    </a:p>
                  </a:txBody>
                  <a:tcPr/>
                </a:tc>
                <a:tc>
                  <a:txBody>
                    <a:bodyPr/>
                    <a:lstStyle/>
                    <a:p>
                      <a:pPr algn="ctr">
                        <a:defRPr sz="1100">
                          <a:solidFill>
                            <a:srgbClr val="000000"/>
                          </a:solidFill>
                        </a:defRPr>
                      </a:pPr>
                      <a:r>
                        <a:t>0.936</a:t>
                      </a:r>
                    </a:p>
                  </a:txBody>
                  <a:tcPr/>
                </a:tc>
                <a:tc>
                  <a:txBody>
                    <a:bodyPr/>
                    <a:lstStyle/>
                    <a:p>
                      <a:pPr algn="ctr">
                        <a:defRPr sz="1100">
                          <a:solidFill>
                            <a:srgbClr val="000000"/>
                          </a:solidFill>
                        </a:defRPr>
                      </a:pPr>
                      <a:r>
                        <a:t>0.876</a:t>
                      </a:r>
                    </a:p>
                  </a:txBody>
                  <a:tcPr/>
                </a:tc>
                <a:extLst>
                  <a:ext uri="{0D108BD9-81ED-4DB2-BD59-A6C34878D82A}">
                    <a16:rowId xmlns:a16="http://schemas.microsoft.com/office/drawing/2014/main" val="10001"/>
                  </a:ext>
                </a:extLst>
              </a:tr>
              <a:tr h="548640">
                <a:tc>
                  <a:txBody>
                    <a:bodyPr/>
                    <a:lstStyle/>
                    <a:p>
                      <a:pPr algn="l">
                        <a:defRPr sz="1100">
                          <a:solidFill>
                            <a:srgbClr val="000000"/>
                          </a:solidFill>
                        </a:defRPr>
                      </a:pPr>
                      <a:r>
                        <a:t>Fold 2</a:t>
                      </a:r>
                    </a:p>
                  </a:txBody>
                  <a:tcPr/>
                </a:tc>
                <a:tc>
                  <a:txBody>
                    <a:bodyPr/>
                    <a:lstStyle/>
                    <a:p>
                      <a:pPr algn="ctr">
                        <a:defRPr sz="1100">
                          <a:solidFill>
                            <a:srgbClr val="000000"/>
                          </a:solidFill>
                        </a:defRPr>
                      </a:pPr>
                      <a:r>
                        <a:t>0.933</a:t>
                      </a:r>
                    </a:p>
                  </a:txBody>
                  <a:tcPr/>
                </a:tc>
                <a:tc>
                  <a:txBody>
                    <a:bodyPr/>
                    <a:lstStyle/>
                    <a:p>
                      <a:pPr algn="ctr">
                        <a:defRPr sz="1100">
                          <a:solidFill>
                            <a:srgbClr val="000000"/>
                          </a:solidFill>
                        </a:defRPr>
                      </a:pPr>
                      <a:r>
                        <a:t>0.928</a:t>
                      </a:r>
                    </a:p>
                  </a:txBody>
                  <a:tcPr/>
                </a:tc>
                <a:tc>
                  <a:txBody>
                    <a:bodyPr/>
                    <a:lstStyle/>
                    <a:p>
                      <a:pPr algn="ctr">
                        <a:defRPr sz="1100">
                          <a:solidFill>
                            <a:srgbClr val="000000"/>
                          </a:solidFill>
                        </a:defRPr>
                      </a:pPr>
                      <a:r>
                        <a:t>0.905</a:t>
                      </a:r>
                    </a:p>
                  </a:txBody>
                  <a:tcPr/>
                </a:tc>
                <a:tc>
                  <a:txBody>
                    <a:bodyPr/>
                    <a:lstStyle/>
                    <a:p>
                      <a:pPr algn="ctr">
                        <a:defRPr sz="1100">
                          <a:solidFill>
                            <a:srgbClr val="000000"/>
                          </a:solidFill>
                        </a:defRPr>
                      </a:pPr>
                      <a:r>
                        <a:t>0.916</a:t>
                      </a:r>
                    </a:p>
                  </a:txBody>
                  <a:tcPr/>
                </a:tc>
                <a:tc>
                  <a:txBody>
                    <a:bodyPr/>
                    <a:lstStyle/>
                    <a:p>
                      <a:pPr algn="ctr">
                        <a:defRPr sz="1100">
                          <a:solidFill>
                            <a:srgbClr val="000000"/>
                          </a:solidFill>
                        </a:defRPr>
                      </a:pPr>
                      <a:r>
                        <a:t>0.860</a:t>
                      </a:r>
                    </a:p>
                  </a:txBody>
                  <a:tcPr/>
                </a:tc>
                <a:extLst>
                  <a:ext uri="{0D108BD9-81ED-4DB2-BD59-A6C34878D82A}">
                    <a16:rowId xmlns:a16="http://schemas.microsoft.com/office/drawing/2014/main" val="10002"/>
                  </a:ext>
                </a:extLst>
              </a:tr>
              <a:tr h="548640">
                <a:tc>
                  <a:txBody>
                    <a:bodyPr/>
                    <a:lstStyle/>
                    <a:p>
                      <a:pPr algn="l">
                        <a:defRPr sz="1100">
                          <a:solidFill>
                            <a:srgbClr val="000000"/>
                          </a:solidFill>
                        </a:defRPr>
                      </a:pPr>
                      <a:r>
                        <a:t>Fold 3</a:t>
                      </a:r>
                    </a:p>
                  </a:txBody>
                  <a:tcPr/>
                </a:tc>
                <a:tc>
                  <a:txBody>
                    <a:bodyPr/>
                    <a:lstStyle/>
                    <a:p>
                      <a:pPr algn="ctr">
                        <a:defRPr sz="1100">
                          <a:solidFill>
                            <a:srgbClr val="000000"/>
                          </a:solidFill>
                        </a:defRPr>
                      </a:pPr>
                      <a:r>
                        <a:t>0.967</a:t>
                      </a:r>
                    </a:p>
                  </a:txBody>
                  <a:tcPr/>
                </a:tc>
                <a:tc>
                  <a:txBody>
                    <a:bodyPr/>
                    <a:lstStyle/>
                    <a:p>
                      <a:pPr algn="ctr">
                        <a:defRPr sz="1100">
                          <a:solidFill>
                            <a:srgbClr val="000000"/>
                          </a:solidFill>
                        </a:defRPr>
                      </a:pPr>
                      <a:r>
                        <a:t>0.946</a:t>
                      </a:r>
                    </a:p>
                  </a:txBody>
                  <a:tcPr/>
                </a:tc>
                <a:tc>
                  <a:txBody>
                    <a:bodyPr/>
                    <a:lstStyle/>
                    <a:p>
                      <a:pPr algn="ctr">
                        <a:defRPr sz="1100">
                          <a:solidFill>
                            <a:srgbClr val="000000"/>
                          </a:solidFill>
                        </a:defRPr>
                      </a:pPr>
                      <a:r>
                        <a:t>0.998</a:t>
                      </a:r>
                    </a:p>
                  </a:txBody>
                  <a:tcPr/>
                </a:tc>
                <a:tc>
                  <a:txBody>
                    <a:bodyPr/>
                    <a:lstStyle/>
                    <a:p>
                      <a:pPr algn="ctr">
                        <a:defRPr sz="1100">
                          <a:solidFill>
                            <a:srgbClr val="000000"/>
                          </a:solidFill>
                        </a:defRPr>
                      </a:pPr>
                      <a:r>
                        <a:t>0.971</a:t>
                      </a:r>
                    </a:p>
                  </a:txBody>
                  <a:tcPr/>
                </a:tc>
                <a:tc>
                  <a:txBody>
                    <a:bodyPr/>
                    <a:lstStyle/>
                    <a:p>
                      <a:pPr algn="ctr">
                        <a:defRPr sz="1100">
                          <a:solidFill>
                            <a:srgbClr val="000000"/>
                          </a:solidFill>
                        </a:defRPr>
                      </a:pPr>
                      <a:r>
                        <a:t>0.933</a:t>
                      </a:r>
                    </a:p>
                  </a:txBody>
                  <a:tcPr/>
                </a:tc>
                <a:extLst>
                  <a:ext uri="{0D108BD9-81ED-4DB2-BD59-A6C34878D82A}">
                    <a16:rowId xmlns:a16="http://schemas.microsoft.com/office/drawing/2014/main" val="10003"/>
                  </a:ext>
                </a:extLst>
              </a:tr>
              <a:tr h="548640">
                <a:tc>
                  <a:txBody>
                    <a:bodyPr/>
                    <a:lstStyle/>
                    <a:p>
                      <a:pPr algn="l">
                        <a:defRPr sz="1100">
                          <a:solidFill>
                            <a:srgbClr val="000000"/>
                          </a:solidFill>
                        </a:defRPr>
                      </a:pPr>
                      <a:r>
                        <a:t>Fold 4</a:t>
                      </a:r>
                    </a:p>
                  </a:txBody>
                  <a:tcPr/>
                </a:tc>
                <a:tc>
                  <a:txBody>
                    <a:bodyPr/>
                    <a:lstStyle/>
                    <a:p>
                      <a:pPr algn="ctr">
                        <a:defRPr sz="1100">
                          <a:solidFill>
                            <a:srgbClr val="000000"/>
                          </a:solidFill>
                        </a:defRPr>
                      </a:pPr>
                      <a:r>
                        <a:t>0.904</a:t>
                      </a:r>
                    </a:p>
                  </a:txBody>
                  <a:tcPr/>
                </a:tc>
                <a:tc>
                  <a:txBody>
                    <a:bodyPr/>
                    <a:lstStyle/>
                    <a:p>
                      <a:pPr algn="ctr">
                        <a:defRPr sz="1100">
                          <a:solidFill>
                            <a:srgbClr val="000000"/>
                          </a:solidFill>
                        </a:defRPr>
                      </a:pPr>
                      <a:r>
                        <a:t>0.933</a:t>
                      </a:r>
                    </a:p>
                  </a:txBody>
                  <a:tcPr/>
                </a:tc>
                <a:tc>
                  <a:txBody>
                    <a:bodyPr/>
                    <a:lstStyle/>
                    <a:p>
                      <a:pPr algn="ctr">
                        <a:defRPr sz="1100">
                          <a:solidFill>
                            <a:srgbClr val="000000"/>
                          </a:solidFill>
                        </a:defRPr>
                      </a:pPr>
                      <a:r>
                        <a:t>0.889</a:t>
                      </a:r>
                    </a:p>
                  </a:txBody>
                  <a:tcPr/>
                </a:tc>
                <a:tc>
                  <a:txBody>
                    <a:bodyPr/>
                    <a:lstStyle/>
                    <a:p>
                      <a:pPr algn="ctr">
                        <a:defRPr sz="1100">
                          <a:solidFill>
                            <a:srgbClr val="000000"/>
                          </a:solidFill>
                        </a:defRPr>
                      </a:pPr>
                      <a:r>
                        <a:t>0.910</a:t>
                      </a:r>
                    </a:p>
                  </a:txBody>
                  <a:tcPr/>
                </a:tc>
                <a:tc>
                  <a:txBody>
                    <a:bodyPr/>
                    <a:lstStyle/>
                    <a:p>
                      <a:pPr algn="ctr">
                        <a:defRPr sz="1100">
                          <a:solidFill>
                            <a:srgbClr val="000000"/>
                          </a:solidFill>
                        </a:defRPr>
                      </a:pPr>
                      <a:r>
                        <a:t>0.806</a:t>
                      </a:r>
                    </a:p>
                  </a:txBody>
                  <a:tcPr/>
                </a:tc>
                <a:extLst>
                  <a:ext uri="{0D108BD9-81ED-4DB2-BD59-A6C34878D82A}">
                    <a16:rowId xmlns:a16="http://schemas.microsoft.com/office/drawing/2014/main" val="10004"/>
                  </a:ext>
                </a:extLst>
              </a:tr>
              <a:tr h="548640">
                <a:tc>
                  <a:txBody>
                    <a:bodyPr/>
                    <a:lstStyle/>
                    <a:p>
                      <a:pPr algn="l">
                        <a:defRPr sz="1100">
                          <a:solidFill>
                            <a:srgbClr val="000000"/>
                          </a:solidFill>
                        </a:defRPr>
                      </a:pPr>
                      <a:r>
                        <a:t>Fold 5</a:t>
                      </a:r>
                    </a:p>
                  </a:txBody>
                  <a:tcPr/>
                </a:tc>
                <a:tc>
                  <a:txBody>
                    <a:bodyPr/>
                    <a:lstStyle/>
                    <a:p>
                      <a:pPr algn="ctr">
                        <a:defRPr sz="1100">
                          <a:solidFill>
                            <a:srgbClr val="000000"/>
                          </a:solidFill>
                        </a:defRPr>
                      </a:pPr>
                      <a:r>
                        <a:t>0.753</a:t>
                      </a:r>
                    </a:p>
                  </a:txBody>
                  <a:tcPr/>
                </a:tc>
                <a:tc>
                  <a:txBody>
                    <a:bodyPr/>
                    <a:lstStyle/>
                    <a:p>
                      <a:pPr algn="ctr">
                        <a:defRPr sz="1100">
                          <a:solidFill>
                            <a:srgbClr val="000000"/>
                          </a:solidFill>
                        </a:defRPr>
                      </a:pPr>
                      <a:r>
                        <a:t>0.893</a:t>
                      </a:r>
                    </a:p>
                  </a:txBody>
                  <a:tcPr/>
                </a:tc>
                <a:tc>
                  <a:txBody>
                    <a:bodyPr/>
                    <a:lstStyle/>
                    <a:p>
                      <a:pPr algn="ctr">
                        <a:defRPr sz="1100">
                          <a:solidFill>
                            <a:srgbClr val="000000"/>
                          </a:solidFill>
                        </a:defRPr>
                      </a:pPr>
                      <a:r>
                        <a:t>0.579</a:t>
                      </a:r>
                    </a:p>
                  </a:txBody>
                  <a:tcPr/>
                </a:tc>
                <a:tc>
                  <a:txBody>
                    <a:bodyPr/>
                    <a:lstStyle/>
                    <a:p>
                      <a:pPr algn="ctr">
                        <a:defRPr sz="1100">
                          <a:solidFill>
                            <a:srgbClr val="000000"/>
                          </a:solidFill>
                        </a:defRPr>
                      </a:pPr>
                      <a:r>
                        <a:t>0.703</a:t>
                      </a:r>
                    </a:p>
                  </a:txBody>
                  <a:tcPr/>
                </a:tc>
                <a:tc>
                  <a:txBody>
                    <a:bodyPr/>
                    <a:lstStyle/>
                    <a:p>
                      <a:pPr algn="ctr">
                        <a:defRPr sz="1100">
                          <a:solidFill>
                            <a:srgbClr val="000000"/>
                          </a:solidFill>
                        </a:defRPr>
                      </a:pPr>
                      <a:r>
                        <a:t>0.507</a:t>
                      </a:r>
                    </a:p>
                  </a:txBody>
                  <a:tcPr/>
                </a:tc>
                <a:extLst>
                  <a:ext uri="{0D108BD9-81ED-4DB2-BD59-A6C34878D82A}">
                    <a16:rowId xmlns:a16="http://schemas.microsoft.com/office/drawing/2014/main" val="10005"/>
                  </a:ext>
                </a:extLst>
              </a:tr>
              <a:tr h="548640">
                <a:tc>
                  <a:txBody>
                    <a:bodyPr/>
                    <a:lstStyle/>
                    <a:p>
                      <a:pPr algn="l">
                        <a:defRPr sz="1100">
                          <a:solidFill>
                            <a:srgbClr val="000000"/>
                          </a:solidFill>
                        </a:defRPr>
                      </a:pPr>
                      <a:r>
                        <a:t>Mean ± Std</a:t>
                      </a:r>
                    </a:p>
                  </a:txBody>
                  <a:tcPr/>
                </a:tc>
                <a:tc>
                  <a:txBody>
                    <a:bodyPr/>
                    <a:lstStyle/>
                    <a:p>
                      <a:pPr algn="ctr">
                        <a:defRPr sz="1100">
                          <a:solidFill>
                            <a:srgbClr val="000000"/>
                          </a:solidFill>
                        </a:defRPr>
                      </a:pPr>
                      <a:r>
                        <a:rPr dirty="0"/>
                        <a:t>0.899 ± 0.085</a:t>
                      </a:r>
                    </a:p>
                  </a:txBody>
                  <a:tcPr/>
                </a:tc>
                <a:tc>
                  <a:txBody>
                    <a:bodyPr/>
                    <a:lstStyle/>
                    <a:p>
                      <a:pPr algn="ctr">
                        <a:defRPr sz="1100">
                          <a:solidFill>
                            <a:srgbClr val="000000"/>
                          </a:solidFill>
                        </a:defRPr>
                      </a:pPr>
                      <a:r>
                        <a:rPr dirty="0"/>
                        <a:t>0.922 ± 0.020</a:t>
                      </a:r>
                    </a:p>
                  </a:txBody>
                  <a:tcPr/>
                </a:tc>
                <a:tc>
                  <a:txBody>
                    <a:bodyPr/>
                    <a:lstStyle/>
                    <a:p>
                      <a:pPr algn="ctr">
                        <a:defRPr sz="1100">
                          <a:solidFill>
                            <a:srgbClr val="000000"/>
                          </a:solidFill>
                        </a:defRPr>
                      </a:pPr>
                      <a:r>
                        <a:rPr dirty="0"/>
                        <a:t>0.867 ± 0.166</a:t>
                      </a:r>
                    </a:p>
                  </a:txBody>
                  <a:tcPr/>
                </a:tc>
                <a:tc>
                  <a:txBody>
                    <a:bodyPr/>
                    <a:lstStyle/>
                    <a:p>
                      <a:pPr algn="ctr">
                        <a:defRPr sz="1100">
                          <a:solidFill>
                            <a:srgbClr val="000000"/>
                          </a:solidFill>
                        </a:defRPr>
                      </a:pPr>
                      <a:r>
                        <a:rPr dirty="0"/>
                        <a:t>0.887 ± 0.106</a:t>
                      </a:r>
                    </a:p>
                  </a:txBody>
                  <a:tcPr/>
                </a:tc>
                <a:tc>
                  <a:txBody>
                    <a:bodyPr/>
                    <a:lstStyle/>
                    <a:p>
                      <a:pPr algn="ctr">
                        <a:defRPr sz="1100">
                          <a:solidFill>
                            <a:srgbClr val="000000"/>
                          </a:solidFill>
                        </a:defRPr>
                      </a:pPr>
                      <a:r>
                        <a:rPr dirty="0"/>
                        <a:t>0.797 ± 0.168</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Brugerdefineret design">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øbenhavns Universitet">
      <a:majorFont>
        <a:latin typeface="Microsoft New Tai Lue"/>
        <a:ea typeface=""/>
        <a:cs typeface=""/>
      </a:majorFont>
      <a:minorFont>
        <a:latin typeface="Microsoft New Tai Lue"/>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a:solidFill>
            <a:schemeClr val="accent1"/>
          </a:solidFill>
        </a:ln>
      </a:spPr>
      <a:bodyPr wrap="square" rtlCol="0" anchor="ctr">
        <a:noAutofit/>
      </a:bodyPr>
      <a:lstStyle>
        <a:defPPr algn="l">
          <a:defRPr sz="2400" dirty="0" err="1" smtClean="0">
            <a:solidFill>
              <a:schemeClr val="bg1"/>
            </a:solidFill>
          </a:defRPr>
        </a:defPPr>
      </a:lstStyle>
    </a:spDef>
    <a:txDef>
      <a:spPr/>
      <a:bodyPr vert="horz" wrap="square" lIns="0" tIns="0" rIns="0" bIns="0" rtlCol="0" anchor="t" anchorCtr="0">
        <a:spAutoFit/>
      </a:bodyPr>
      <a:lstStyle>
        <a:defPPr marL="0" marR="0" indent="0" algn="l" defTabSz="914400" rtl="0" eaLnBrk="1" fontAlgn="auto" latinLnBrk="0" hangingPunct="1">
          <a:lnSpc>
            <a:spcPct val="100000"/>
          </a:lnSpc>
          <a:spcBef>
            <a:spcPct val="0"/>
          </a:spcBef>
          <a:spcAft>
            <a:spcPts val="0"/>
          </a:spcAft>
          <a:buClrTx/>
          <a:buSzTx/>
          <a:buFontTx/>
          <a:buNone/>
          <a:tabLst/>
          <a:defRPr sz="2400" b="0" dirty="0" smtClean="0">
            <a:solidFill>
              <a:schemeClr val="tx1"/>
            </a:solidFill>
            <a:latin typeface="+mn-lt"/>
          </a:defRPr>
        </a:defPPr>
      </a:lstStyle>
    </a:txDef>
  </a:objectDefaults>
  <a:extraClrSchemeLst/>
  <a:extLst>
    <a:ext uri="{05A4C25C-085E-4340-85A3-A5531E510DB2}">
      <thm15:themeFamily xmlns:thm15="http://schemas.microsoft.com/office/thememl/2012/main" name="16x9_ENG_full.potx" id="{D0D36B92-5B0A-4532-81C4-17DEF59CC1CE}" vid="{DAA9B640-9269-43B6-8C37-C6A215F85199}"/>
    </a:ext>
  </a:extLst>
</a:theme>
</file>

<file path=ppt/theme/theme2.xml><?xml version="1.0" encoding="utf-8"?>
<a:theme xmlns:a="http://schemas.openxmlformats.org/drawingml/2006/main" name="Office Theme">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U 2023">
      <a:majorFont>
        <a:latin typeface="Microsoft New Tai Lue"/>
        <a:ea typeface=""/>
        <a:cs typeface=""/>
      </a:majorFont>
      <a:minorFont>
        <a:latin typeface="Microsoft New Tai Lu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U 2023">
      <a:majorFont>
        <a:latin typeface="Microsoft New Tai Lue"/>
        <a:ea typeface=""/>
        <a:cs typeface=""/>
      </a:majorFont>
      <a:minorFont>
        <a:latin typeface="Microsoft New Tai Lue"/>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Brugerdefineret design</Template>
  <TotalTime>6928</TotalTime>
  <Words>3717</Words>
  <Application>Microsoft Macintosh PowerPoint</Application>
  <PresentationFormat>Widescreen</PresentationFormat>
  <Paragraphs>913</Paragraphs>
  <Slides>23</Slides>
  <Notes>8</Notes>
  <HiddenSlides>0</HiddenSlides>
  <MMClips>0</MMClips>
  <ScaleCrop>false</ScaleCrop>
  <HeadingPairs>
    <vt:vector size="6" baseType="variant">
      <vt:variant>
        <vt:lpstr>Benyttede skrifttyper</vt:lpstr>
      </vt:variant>
      <vt:variant>
        <vt:i4>3</vt:i4>
      </vt:variant>
      <vt:variant>
        <vt:lpstr>Tema</vt:lpstr>
      </vt:variant>
      <vt:variant>
        <vt:i4>1</vt:i4>
      </vt:variant>
      <vt:variant>
        <vt:lpstr>Slidetitler</vt:lpstr>
      </vt:variant>
      <vt:variant>
        <vt:i4>23</vt:i4>
      </vt:variant>
    </vt:vector>
  </HeadingPairs>
  <TitlesOfParts>
    <vt:vector size="27" baseType="lpstr">
      <vt:lpstr>Arial</vt:lpstr>
      <vt:lpstr>Microsoft New Tai Lue</vt:lpstr>
      <vt:lpstr>Wingdings</vt:lpstr>
      <vt:lpstr>Brugerdefineret design</vt:lpstr>
      <vt:lpstr>Investigating Methods for Polymicrogyria Classification</vt:lpstr>
      <vt:lpstr>Polymicrogyria (PMG)</vt:lpstr>
      <vt:lpstr>What did Guha et al. do?</vt:lpstr>
      <vt:lpstr>Three Methodological Errors in Guha et al.</vt:lpstr>
      <vt:lpstr>Replication — What We Did</vt:lpstr>
      <vt:lpstr>PowerPoint-præsentation</vt:lpstr>
      <vt:lpstr>PowerPoint-præsentation</vt:lpstr>
      <vt:lpstr>Ablation study</vt:lpstr>
      <vt:lpstr>Conclusion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Holger Max Fløe Lyng</dc:creator>
  <cp:lastModifiedBy>Holger Max Fløe Lyng</cp:lastModifiedBy>
  <cp:revision>31</cp:revision>
  <dcterms:created xsi:type="dcterms:W3CDTF">2026-05-16T10:26:54Z</dcterms:created>
  <dcterms:modified xsi:type="dcterms:W3CDTF">2026-06-09T09:37:39Z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www.omnidocs.com</vt:lpwstr>
  </property>
</Properties>
</file>
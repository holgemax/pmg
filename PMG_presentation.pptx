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2"/>
  </p:sldMasterIdLst>
  <p:notesMasterIdLst>
    <p:notesMasterId r:id="rId24"/>
  </p:notesMasterIdLst>
  <p:handoutMasterIdLst>
    <p:handoutMasterId r:id="rId25"/>
  </p:handoutMasterIdLst>
  <p:sldIdLst>
    <p:sldId id="256" r:id="rId13"/>
    <p:sldId id="260" r:id="rId14"/>
    <p:sldId id="257" r:id="rId15"/>
    <p:sldId id="261" r:id="rId16"/>
    <p:sldId id="262" r:id="rId17"/>
    <p:sldId id="267" r:id="rId18"/>
    <p:sldId id="268" r:id="rId19"/>
    <p:sldId id="266" r:id="rId20"/>
    <p:sldId id="263" r:id="rId21"/>
    <p:sldId id="265" r:id="rId22"/>
    <p:sldId id="264" r:id="rId23"/>
  </p:sldIdLst>
  <p:sldSz cx="12190413" cy="6858000"/>
  <p:notesSz cx="6858000" cy="9144000"/>
  <p:custDataLst>
    <p:tags r:id="rId26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48"/>
    <a:srgbClr val="1FD082"/>
    <a:srgbClr val="2F3EEA"/>
    <a:srgbClr val="FFFFFF"/>
    <a:srgbClr val="990000"/>
    <a:srgbClr val="000000"/>
    <a:srgbClr val="FFCC00"/>
    <a:srgbClr val="FF6600"/>
    <a:srgbClr val="FF0000"/>
    <a:srgbClr val="FF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22" autoAdjust="0"/>
    <p:restoredTop sz="94795" autoAdjust="0"/>
  </p:normalViewPr>
  <p:slideViewPr>
    <p:cSldViewPr showGuides="1">
      <p:cViewPr varScale="1">
        <p:scale>
          <a:sx n="116" d="100"/>
          <a:sy n="116" d="100"/>
        </p:scale>
        <p:origin x="208" y="28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‹nr.›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156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/>
              <a:t>Klik for at redigere titeltypografien i masteren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noProof="0"/>
              <a:t>Klik for at redigere undertiteltypografien i masteren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ED6B-849D-A5D2-D1F0-06706D23B24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Klik for at redigere titeltypografien i masteren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noProof="0"/>
              <a:t>Klik for at redigere undertiteltypografien i masteren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19C4E-D6B8-50A2-A635-868FF289F99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4120-CAD7-4F92-7378-98D88CD0BD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12B94-0222-C98A-FFE9-2FEFA873449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8907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E35DC-D232-9C90-9C31-AA00AE5CF93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0B2F1-B091-E656-C4DE-C556B5DA13D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654E4-A51C-0D45-3654-72479798316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A591-5B6F-3582-D42E-64EB81D7B2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43F2E-763E-6678-3468-8C45A82F1A9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717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717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3EA872-A674-449B-A120-B97244F8E91D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kern="1200" dirty="0"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Technical University of Denmark</a:t>
            </a:r>
            <a:endParaRPr lang="da-DK" sz="7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C6FF03-B8A1-16DC-2053-E21EDEFDF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8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772F9-F0FC-4258-943A-483E60A3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649DB-2BAE-4024-4999-3BD515E1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sz="6000" dirty="0" err="1"/>
              <a:t>Investigating</a:t>
            </a:r>
            <a:r>
              <a:rPr lang="da-DK" sz="6000" dirty="0"/>
              <a:t> Methods for </a:t>
            </a:r>
            <a:r>
              <a:rPr lang="da-DK" sz="6000" dirty="0" err="1"/>
              <a:t>Polymicrogyria</a:t>
            </a:r>
            <a:r>
              <a:rPr lang="da-DK" sz="6000" dirty="0"/>
              <a:t> </a:t>
            </a:r>
            <a:r>
              <a:rPr lang="da-DK" sz="6000" dirty="0" err="1"/>
              <a:t>Classification</a:t>
            </a:r>
            <a:br>
              <a:rPr lang="da-DK" dirty="0"/>
            </a:b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replication of Guha et al. </a:t>
            </a:r>
          </a:p>
          <a:p>
            <a:r>
              <a:rPr lang="en-GB" dirty="0"/>
              <a:t>“</a:t>
            </a:r>
            <a:r>
              <a:rPr lang="da-DK" dirty="0"/>
              <a:t>Automated </a:t>
            </a:r>
            <a:r>
              <a:rPr lang="da-DK" dirty="0" err="1"/>
              <a:t>detection</a:t>
            </a:r>
            <a:r>
              <a:rPr lang="da-DK" dirty="0"/>
              <a:t> of </a:t>
            </a:r>
            <a:r>
              <a:rPr lang="da-DK" dirty="0" err="1"/>
              <a:t>polymicrogyria</a:t>
            </a:r>
            <a:r>
              <a:rPr lang="da-DK" dirty="0"/>
              <a:t> in </a:t>
            </a:r>
            <a:r>
              <a:rPr lang="da-DK" dirty="0" err="1"/>
              <a:t>pediatric</a:t>
            </a:r>
            <a:r>
              <a:rPr lang="da-DK" dirty="0"/>
              <a:t> patients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deep</a:t>
            </a:r>
            <a:r>
              <a:rPr lang="da-DK" dirty="0"/>
              <a:t> learning”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2F34B-B5F3-6431-7E4B-333B64803D0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8AAE4E-9615-E709-0DC4-8561E142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did Guha et al. do?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08859F-507F-8FD4-F4A0-EAD29BC4F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Dataset: PPMR — 23 PMG patients, each with 3 matched controls → 15,056 JPEG slices</a:t>
            </a:r>
          </a:p>
          <a:p>
            <a:pPr lvl="1"/>
            <a:r>
              <a:rPr lang="en-GB" dirty="0"/>
              <a:t>PMG slices carry radiologist labels: 1 = PMG-positive, 2 = PMG-negative, 3 = uncertain</a:t>
            </a:r>
          </a:p>
          <a:p>
            <a:r>
              <a:rPr lang="en-GB" dirty="0"/>
              <a:t>Preprocessing pipeline</a:t>
            </a:r>
          </a:p>
          <a:p>
            <a:pPr lvl="1"/>
            <a:r>
              <a:rPr lang="en-GB" dirty="0"/>
              <a:t>RGB → grayscale → min-max normalisation → CLAHE → bilateral filter → Canny edge detection</a:t>
            </a:r>
          </a:p>
          <a:p>
            <a:r>
              <a:rPr lang="en-GB" dirty="0"/>
              <a:t>Models evaluated: ResNet-50, ResNet-101, VGG-16, DenseNet-201, MobileNetV2</a:t>
            </a:r>
          </a:p>
          <a:p>
            <a:pPr lvl="1"/>
            <a:r>
              <a:rPr lang="en-GB" dirty="0"/>
              <a:t>ImageNet-pretrained; final layer replaced with binary PMG vs. HC classifier</a:t>
            </a:r>
          </a:p>
          <a:p>
            <a:r>
              <a:rPr lang="en-GB" dirty="0"/>
              <a:t>5-fold cross-validation, 60 / 20 / 20 train / val / test split</a:t>
            </a:r>
          </a:p>
          <a:p>
            <a:pPr lvl="1"/>
            <a:r>
              <a:rPr lang="en-GB" dirty="0"/>
              <a:t>Best result: DenseNet-201, accuracy 0.980 ± 0.037; ResNet-101 F1 = 0.97</a:t>
            </a:r>
          </a:p>
        </p:txBody>
      </p:sp>
      <p:sp>
        <p:nvSpPr>
          <p:cNvPr id="10" name="FLD_Presentation Title"/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56CFB91-3FB1-FC51-F32E-2ACDCFA109C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0A6653DE-7343-3CE2-A072-F2401E33A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352" y="3979117"/>
            <a:ext cx="9873915" cy="238674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C3490-489C-81F9-16FF-E47E0ACF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Methodological Errors in Guha et al.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D092E55-D37E-528F-AF4F-ABF76E535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 — Label noise</a:t>
            </a:r>
          </a:p>
          <a:p>
            <a:pPr lvl="1"/>
            <a:r>
              <a:rPr lang="da-DK" dirty="0"/>
              <a:t>~51 % of PMG-patient slices </a:t>
            </a:r>
            <a:r>
              <a:rPr lang="da-DK" dirty="0" err="1"/>
              <a:t>are</a:t>
            </a:r>
            <a:r>
              <a:rPr lang="da-DK" dirty="0"/>
              <a:t> label=2 (no </a:t>
            </a:r>
            <a:r>
              <a:rPr lang="da-DK" dirty="0" err="1"/>
              <a:t>pathology</a:t>
            </a:r>
            <a:r>
              <a:rPr lang="da-DK" dirty="0"/>
              <a:t>) or label=3 (</a:t>
            </a:r>
            <a:r>
              <a:rPr lang="da-DK" dirty="0" err="1"/>
              <a:t>uncertain</a:t>
            </a:r>
            <a:r>
              <a:rPr lang="da-DK" dirty="0"/>
              <a:t>)</a:t>
            </a:r>
          </a:p>
          <a:p>
            <a:pPr lvl="1"/>
            <a:r>
              <a:rPr lang="da-DK" dirty="0" err="1"/>
              <a:t>All were treated as positive examples → classifier trained on mislabelled data</a:t>
            </a:r>
          </a:p>
          <a:p>
            <a:r>
              <a:rPr lang="da-DK" dirty="0"/>
              <a:t>2 — Resolution confound</a:t>
            </a:r>
          </a:p>
          <a:p>
            <a:pPr lvl="1"/>
            <a:r>
              <a:rPr lang="da-DK" dirty="0" err="1"/>
              <a:t>PMG images exported from PACS at median 1508×1727 px; controls at 260–512 px</a:t>
            </a:r>
          </a:p>
          <a:p>
            <a:pPr lvl="1"/>
            <a:r>
              <a:rPr lang="da-DK" dirty="0" err="1"/>
              <a:t>Class-correlated pixel density provides a trivial, texture-based shortcut signal</a:t>
            </a:r>
          </a:p>
          <a:p>
            <a:pPr lvl="1"/>
            <a:r>
              <a:rPr lang="da-DK" dirty="0" err="1"/>
              <a:t>Fixed-kernel CLAHE and bilateral filter act differently across resolutions, amplifying the gap</a:t>
            </a:r>
          </a:p>
          <a:p>
            <a:r>
              <a:rPr lang="da-DK" dirty="0"/>
              <a:t>3 — Data leakage via pre-split downsampling</a:t>
            </a:r>
          </a:p>
          <a:p>
            <a:pPr lvl="1"/>
            <a:r>
              <a:rPr lang="da-DK" dirty="0" err="1"/>
              <a:t>10,539 control slices globally downsampled to 4,517 before the train/val/test split</a:t>
            </a:r>
          </a:p>
          <a:p>
            <a:pPr lvl="1"/>
            <a:r>
              <a:rPr lang="da-DK" dirty="0" err="1"/>
              <a:t>Discarded slices effectively seen across splits → information leakage into evaluation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5CA4354-64FC-1D90-0D45-99896AA753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9A3A504-DCF6-A192-6D14-374A7B341E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F89D82D1-556C-FAB2-B691-37504D0B7B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36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F2E85-C6F0-D2DE-B5DF-46E61C0F6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3D1015B8-08C0-A023-52A4-E28F329B8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836053" y="692696"/>
            <a:ext cx="10715967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812328D-58CE-3299-886B-BD5A0751CB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A35F702-670E-1CEE-476D-9379088EC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665976F0-D031-F002-0F7F-67BC208228B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216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— What We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Re-implemented the full Guha et al.</a:t>
            </a:r>
            <a:r>
              <a:rPr lang="da-DK" dirty="0"/>
              <a:t> pipeline</a:t>
            </a:r>
            <a:endParaRPr dirty="0"/>
          </a:p>
          <a:p>
            <a:r>
              <a:rPr dirty="0"/>
              <a:t>Two experimental conditions compared side by side:</a:t>
            </a:r>
          </a:p>
          <a:p>
            <a:pPr lvl="1"/>
            <a:r>
              <a:rPr dirty="0"/>
              <a:t>Paper setup: all PMG-patient slices as positives; global pre-split </a:t>
            </a:r>
            <a:r>
              <a:rPr dirty="0" err="1"/>
              <a:t>downsampling</a:t>
            </a:r>
            <a:r>
              <a:rPr dirty="0"/>
              <a:t>; slice-level splits</a:t>
            </a:r>
          </a:p>
          <a:p>
            <a:pPr lvl="1"/>
            <a:r>
              <a:rPr dirty="0"/>
              <a:t>Corrected setup: label=1 only (n = 2,255 slices); patient-level 5-fold CV; weighted cross-entropy</a:t>
            </a:r>
          </a:p>
          <a:p>
            <a:r>
              <a:rPr dirty="0"/>
              <a:t>5-fold cross-validation at patient level — 23 PMG + 69 controls, fixed seed</a:t>
            </a:r>
          </a:p>
          <a:p>
            <a:r>
              <a:rPr dirty="0"/>
              <a:t>Models: ResNet-101 and DenseNet-201 </a:t>
            </a:r>
            <a:endParaRPr lang="da-DK" dirty="0"/>
          </a:p>
          <a:p>
            <a:pPr lvl="1"/>
            <a:r>
              <a:rPr lang="da-DK" dirty="0"/>
              <a:t>20 </a:t>
            </a:r>
            <a:r>
              <a:rPr lang="da-DK" dirty="0" err="1"/>
              <a:t>epochs</a:t>
            </a:r>
            <a:endParaRPr lang="da-DK" dirty="0"/>
          </a:p>
          <a:p>
            <a:pPr lvl="1"/>
            <a:r>
              <a:rPr lang="da-DK" dirty="0" err="1"/>
              <a:t>Fixed</a:t>
            </a:r>
            <a:r>
              <a:rPr lang="da-DK" dirty="0"/>
              <a:t> backbone</a:t>
            </a:r>
          </a:p>
          <a:p>
            <a:pPr lvl="1"/>
            <a:r>
              <a:rPr lang="da-DK" dirty="0" err="1"/>
              <a:t>Trained</a:t>
            </a:r>
            <a:r>
              <a:rPr lang="da-DK" dirty="0"/>
              <a:t> head </a:t>
            </a:r>
            <a:r>
              <a:rPr lang="da-DK" dirty="0" err="1"/>
              <a:t>only</a:t>
            </a:r>
            <a:endParaRPr lang="da-D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Paper Setup vs. Corrected Setup</a:t>
            </a:r>
          </a:p>
        </p:txBody>
      </p:sp>
      <p:pic>
        <p:nvPicPr>
          <p:cNvPr id="3" name="Picture 2" descr="crossval_DenseNet201__Paper_setup_per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27176"/>
            <a:ext cx="5752306" cy="1603648"/>
          </a:xfrm>
          <a:prstGeom prst="rect">
            <a:avLst/>
          </a:prstGeom>
        </p:spPr>
      </p:pic>
      <p:pic>
        <p:nvPicPr>
          <p:cNvPr id="4" name="Picture 3" descr="crossval_DenseNet201__Correct_setup_per_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6" y="2627176"/>
            <a:ext cx="5752306" cy="17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30710" y="2092440"/>
            <a:ext cx="575230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/>
              <a:t>Paper setup (DenseNet-201)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5326" y="2113107"/>
            <a:ext cx="575230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Corrected setup (DenseNet-201)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3B7E217-0CB4-4D25-28AA-18595965B1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1DAA0A8-57E8-D53B-06D4-D009FB716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C453E38D-CD25-CF02-6AE6-0C8E0D0CC17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38635AD-AD24-516D-703C-87E9AE001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33" r="-5597" b="46725"/>
          <a:stretch>
            <a:fillRect/>
          </a:stretch>
        </p:blipFill>
        <p:spPr>
          <a:xfrm>
            <a:off x="251140" y="942950"/>
            <a:ext cx="5590800" cy="534232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25E226C-FCD3-80B5-6AFA-7C3221671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60" t="5209" r="-1" b="46647"/>
          <a:stretch>
            <a:fillRect/>
          </a:stretch>
        </p:blipFill>
        <p:spPr>
          <a:xfrm>
            <a:off x="6095206" y="942950"/>
            <a:ext cx="5847735" cy="53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32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274F3-B140-91DC-5438-09ADA9CEC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EE586091-DB0F-9951-CE1B-F6572EDEC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8138" y="0"/>
            <a:ext cx="9312275" cy="4192241"/>
          </a:xfrm>
        </p:spPr>
      </p:pic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C1B4476C-5FA1-4B8C-70A6-B68E9D744C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3621737-118B-FF9B-1A92-CB8082596F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B7D87411-AC93-3CD2-58C7-14F28F1EAD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071CAEF-1084-2794-5403-5B6A0C49A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818138"/>
            <a:ext cx="7772400" cy="272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4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58E278-2B31-3582-6625-F6DADA364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57D06F1-5088-CA55-1FAB-9F61ED06BE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pic>
        <p:nvPicPr>
          <p:cNvPr id="9" name="Pladsholder til indhold 8">
            <a:extLst>
              <a:ext uri="{FF2B5EF4-FFF2-40B4-BE49-F238E27FC236}">
                <a16:creationId xmlns:a16="http://schemas.microsoft.com/office/drawing/2014/main" id="{74A7F753-8471-FA97-CD52-6C064EAA6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935" y="4365739"/>
            <a:ext cx="9312275" cy="217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A0B8AC4-4276-4DD3-533C-E9013EDD7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42022571-2D9C-B1BC-ECEA-60A2B0E44CF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33C2D2F-8B9D-34F4-35D2-27A32D428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6" y="260648"/>
            <a:ext cx="6095206" cy="436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36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99817-69B9-F613-E670-83665333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A926C1A-FA00-7E9E-AB13-D89881657C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28796F8-5704-69FC-17C7-3C97B37F8D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21D9C665-973A-5141-E2CC-3AE824C6CF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E9999F35-97E0-4381-78C9-B9A7D3660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712" y="1706563"/>
            <a:ext cx="7610500" cy="454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02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9525" cap="flat" cmpd="sng" algn="ctr">
          <a:solidFill>
            <a:schemeClr val="accent4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Navy blue-ENG.potx" id="{668BD327-20A8-48ED-87F5-2F6C6AB02F26}" vid="{327BD4A3-DAE5-445E-A4D0-C61A37F78C3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FormConfiguration><![CDATA[{"formFields":[],"formDataEntries":[]}]]></TemplafySlideFormConfiguratio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ADA1FD2B40FDA458284BB6FCA763489" ma:contentTypeVersion="5" ma:contentTypeDescription="Opprett et nytt dokument." ma:contentTypeScope="" ma:versionID="fd13edf5101e3b5e1dee61cb844bc2d6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e626b0b9908ce5fda91bb59bc65d097a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TemplateConfiguration><![CDATA[{"elementsMetadata":[],"transformationConfigurations":[{"language":"{{DocumentLanguage}}","disableUpdates":false,"type":"proofingLanguage"}],"templateName":"DTU Template 16_9 - Navy blue","templateDescription":"","enableDocumentContentUpdater":true,"version":"1.2"}]]></Templafy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elementsMetadata":[],"documentContentValidatorConfiguration":{"enableDocumentContentValidator":false,"documentContentValidatorVersion":0},"slideId":"636957681584817741","enableDocumentContentUpdater":true,"version":"1.2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11.xml><?xml version="1.0" encoding="utf-8"?>
<TemplafySlideTemplateConfiguration><![CDATA[{"elementsMetadata":[],"documentContentValidatorConfiguration":{"enableDocumentContentValidator":false,"documentContentValidatorVersion":0},"slideId":"636957681585013765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BC3085B0-9751-4C0A-ACD6-ABA2085AAC3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FEA1E6D-AEEC-41D9-9E9A-45BA2EAE1656}">
  <ds:schemaRefs/>
</ds:datastoreItem>
</file>

<file path=customXml/itemProps3.xml><?xml version="1.0" encoding="utf-8"?>
<ds:datastoreItem xmlns:ds="http://schemas.openxmlformats.org/officeDocument/2006/customXml" ds:itemID="{CE7A6185-E15E-44DF-9C90-28D23E18D22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567431C-C3AB-4AF6-AD6E-548C5676A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1334258C-C3E7-4029-A615-C886A240FB15}">
  <ds:schemaRefs/>
</ds:datastoreItem>
</file>

<file path=customXml/itemProps6.xml><?xml version="1.0" encoding="utf-8"?>
<ds:datastoreItem xmlns:ds="http://schemas.openxmlformats.org/officeDocument/2006/customXml" ds:itemID="{A5211637-BEE7-4AAE-A4E7-A8EE3F203F81}">
  <ds:schemaRefs/>
</ds:datastoreItem>
</file>

<file path=customXml/itemProps7.xml><?xml version="1.0" encoding="utf-8"?>
<ds:datastoreItem xmlns:ds="http://schemas.openxmlformats.org/officeDocument/2006/customXml" ds:itemID="{A21E89D4-F487-4C26-905C-EE6B6998C9D1}">
  <ds:schemaRefs/>
</ds:datastoreItem>
</file>

<file path=customXml/itemProps8.xml><?xml version="1.0" encoding="utf-8"?>
<ds:datastoreItem xmlns:ds="http://schemas.openxmlformats.org/officeDocument/2006/customXml" ds:itemID="{C6406FEB-B081-4DE3-B790-BA4B3B8258E1}">
  <ds:schemaRefs/>
</ds:datastoreItem>
</file>

<file path=customXml/itemProps9.xml><?xml version="1.0" encoding="utf-8"?>
<ds:datastoreItem xmlns:ds="http://schemas.openxmlformats.org/officeDocument/2006/customXml" ds:itemID="{5B29B696-7354-412C-9B8E-ED20D22F6B23}">
  <ds:schemaRefs/>
</ds:datastoreItem>
</file>

<file path=customXml/itemProps10.xml><?xml version="1.0" encoding="utf-8"?>
<ds:datastoreItem xmlns:ds="http://schemas.openxmlformats.org/officeDocument/2006/customXml" ds:itemID="{68A48CB6-BD0D-4923-9904-A1B6E74851B2}">
  <ds:schemaRefs/>
</ds:datastoreItem>
</file>

<file path=customXml/itemProps11.xml><?xml version="1.0" encoding="utf-8"?>
<ds:datastoreItem xmlns:ds="http://schemas.openxmlformats.org/officeDocument/2006/customXml" ds:itemID="{4D5E1A10-B5E6-482A-9521-846112537EB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255</TotalTime>
  <Words>382</Words>
  <Application>Microsoft Macintosh PowerPoint</Application>
  <PresentationFormat>Brugerdefineret</PresentationFormat>
  <Paragraphs>64</Paragraphs>
  <Slides>11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4" baseType="lpstr">
      <vt:lpstr>Arial</vt:lpstr>
      <vt:lpstr>Verdana</vt:lpstr>
      <vt:lpstr>Blank</vt:lpstr>
      <vt:lpstr>PowerPoint-præsentation</vt:lpstr>
      <vt:lpstr>Investigating Methods for Polymicrogyria Classification </vt:lpstr>
      <vt:lpstr>What did Guha et al. do? </vt:lpstr>
      <vt:lpstr>Three Methodological Errors in Guha et al.</vt:lpstr>
      <vt:lpstr>PowerPoint-præsentation</vt:lpstr>
      <vt:lpstr>Replication — What We Did</vt:lpstr>
      <vt:lpstr>Results: Paper Setup vs. Corrected Setup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Holger Max Fløe Lyng</dc:creator>
  <cp:lastModifiedBy>Holger Max Fløe Lyng</cp:lastModifiedBy>
  <cp:revision>3</cp:revision>
  <dcterms:created xsi:type="dcterms:W3CDTF">2026-05-14T10:00:36Z</dcterms:created>
  <dcterms:modified xsi:type="dcterms:W3CDTF">2026-05-16T10:29:11Z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2019-06-10T12:55:58.1255819Z</vt:lpwstr>
  </property>
  <property fmtid="{D5CDD505-2E9C-101B-9397-08002B2CF9AE}" pid="4" name="ContentTypeId">
    <vt:lpwstr>0x0101009ADA1FD2B40FDA458284BB6FCA763489</vt:lpwstr>
  </property>
</Properties>
</file>